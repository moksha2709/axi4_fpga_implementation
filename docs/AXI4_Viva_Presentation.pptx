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one-sentence summary: we built an AXI4 master and an AXI4 memory in Verilog. The testbench loads an address and four words into input D flip-flops. The master takes them from there, writes them to the slave over the five AXI channels, then reads them back into output D flip-flops. The master and the slave are connected directly. Everything shown comes from the simulation in the project folder, so every number can be reproduced live. The five amber pills are the five AXI channels; we come back to each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small files, and the top level that wires them. The input D flip-flops hold the address and four words the testbench loads. The master is the active side: it takes them from there and starts the AXI transfers when start goes high. The slave is a 4 KiB memory that answers the five channels. The output D flip-flops catch the words that come back. The top level only wires them together; the master and slave are connected directly.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AXI separates a transaction into five independent one-way channels, so a read can proceed while a write waits. A write uses AW for the address, W for the data beats, and B for one response at the end. A read uses AR for the address and R for the data coming back. Notice B and R point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channel uses the same handshake. The sender raises VALID when its data is real. The receiver raises READY when it can take it. The transfer happens in the one clock cycle where both are high. Two rules keep it safe. First, once VALID is up the data must not change until the handshake completes. Second, a sender may not wait for READY before raising VALID, or two sides could wait on each other forever. Our testbench checks both rules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burst is one address followed by many beats. AxLEN says how many beats minus one, so 3 means four beats. WLAST and RLAST mark the final beat so the receiver knows where it ends. WSTRB says which of the four bytes of a word to write; 1111 is the whole word. The ID is a small tag put on the request and copied onto its response. In our design the address simply counts up by 4 for each beat. The example is exactly what the master does: four words starting at address 0x10.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yellow box on the left is the input D flip-flops, loaded by the testbench. The master takes its data from them and starts the transfers when start goes high. The five channels, with the real signal names above each wire, go straight across to the slave: there is no interconnect and nothing in between. On the right the slave has a write engine, a read engine and a 4 KiB memory. Each read beat is stored in the output D flip-flops, the yellow box on the far right. B and R run the other 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master is one small state machine. It sits in S_IDLE until start goes high. S_AW sends the write address. S_W sends the four words, one per beat, taken from the input flip-flops, and raises WLAST on the fourth. S_B waits for the one response. S_AR sends the read address. S_R takes four beats and hands each one to the output flip-flops. S_DONE raises done and waits for start to drop, so the sequence can run again. The master itself holds no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 flip-flops you asked for, one bank at each end. The input bank is five 32-bit registers: an address and four words. The testbench writes one register per clock edge using load, load_sel and load_data. The master reads their outputs directly and does not change them. The output bank is four registers. Each read beat is stored in the register for its position, using rd_valid and rd_idx. pass is done AND all four output registers equal the four input registers. Reset clears both banks.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slave has two state machines because reads and writes use different channels. The write engine takes the address, then raises WREADY and writes each word into memory, using WSTRB to pick bytes. When WLAST arrives it sends one response. The read engine takes the address, then sends the first word, and fetches each next word as the previous one is taken. Every response is OKAY: this slave does no request checking, so an address beyond the 4 KiB simply wraps inside the memory.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sequence, with the real cycle numbers from the simulation. Cycle 0 is the first cycle with start high. The write address is taken at cycle 1: the slave was already ready, so there is no wait. The four data beats are taken at cycles 2, 3, 4 and 5, one every clock, and WLAST is on the fourth. The response is taken at cycle 6. The read address is taken at cycle 7, the four beats arrive at cycles 8 to 11, and done goes high at cycle 12. That is 13 clock cycles from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waveform was recorded from our simulation. Amber dots are handshakes. The master raises AWVALID at cycle 1 and AWREADY is already high, so the address is taken at once. The four data beats are taken at cycles 2, 3, 4 and 5: WREADY stays high, so one beat moves every clock. WLAST is high on the fourth. BVALID comes at cycle 6 and BREADY is already high, so the response is taken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four words read back. The read address is taken at cycle 1 of this window, which is cycle 7 of the whole run. The four beats come back at cycles 2, 3, 4 and 5 of the window, one every clock, with RLAST on the fourth. Then done goes high at cycle 6. Each beat is stored in the output D flip-flops as it arrives, and pass says they equal what was written.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 two things. First the slave on its own: the testbench plays the master and drives each channel by hand, so it can force awkward cases such as data before address, held-off responses, byte strobes, the longest burst of 256 beats, and a reset in the middle of a burst. Second the whole system: the testbench loads the input flip-flops, raises start, and checks that the master finishes, that pass is set, that the output flip-flops and the slave's memory hold the four words, that every response is OKAY with the right ID, and that VALID and the payload hold steady until READY. It also runs a second set of values at another address, and resets mid-sequence.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before you are asked. The burst shape is fixed: the master always writes and reads four words with all bytes enabled. The input flip-flops must not change while a sequence runs, because the master reads them live. Only counting-up bursts, so no FIXED or WRAP and no narrow beats. Every response is OKAY and an out-of-range address wraps. One burst at a time. And the lock, cache, protection and QoS signals are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about two minutes. Open PowerShell in E:\FPGA_Project and run .\run_tests.ps1. It compiles and runs two suites. Point at the two TEST PASSED lines and the check counts, 33 and 43, and the line that says the whole sequence took 13 clock cycles. Then run the top suite with -Wave to open the waveform in GTKWave and show the same shape as the recorded slides: the handshakes, with WREADY high so a beat moves every clock. If the live run fails for any reason, slides 11 and 12 are recorded from this exact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with short answers. Why five channels: address, data and response move independently. Is there an interconnect: no, one master and one slave are wired directly. Where does the data come from: the input D flip-flops, loaded by the testbench. Where does the read data go: the output D flip-flops, one register per beat. How do we know it worked: the master's pass compares them, and the testbench checks the slave's memory. How does the slave know the burst ended: WLAST on writes, a beat count on reads.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33"/>
        </a:solidFill>
        <a:effectLst/>
      </p:bgPr>
    </p:bg>
    <p:spTree>
      <p:nvGrpSpPr>
        <p:cNvPr id="1" name=""/>
        <p:cNvGrpSpPr/>
        <p:nvPr/>
      </p:nvGrpSpPr>
      <p:grpSpPr/>
      <p:sp>
        <p:nvSpPr>
          <p:cNvPr id="2" name="Eyebrow"/>
          <p:cNvSpPr txBox="1"/>
          <p:nvPr/>
        </p:nvSpPr>
        <p:spPr>
          <a:xfrm>
            <a:off x="822960" y="1371600"/>
            <a:ext cx="10058400" cy="365760"/>
          </a:xfrm>
          <a:prstGeom prst="rect">
            <a:avLst/>
          </a:prstGeom>
          <a:noFill/>
        </p:spPr>
        <p:txBody>
          <a:bodyPr wrap="square" lIns="0" rIns="0" tIns="0" bIns="0" anchor="t">
            <a:spAutoFit/>
          </a:bodyPr>
          <a:lstStyle/>
          <a:p>
            <a:pPr algn="l"/>
            <a:r>
              <a:rPr sz="1800" b="1" i="0">
                <a:solidFill>
                  <a:srgbClr val="FFC845"/>
                </a:solidFill>
                <a:latin typeface="Calibri"/>
              </a:rPr>
              <a:t>VIVA DEMONSTRATION</a:t>
            </a:r>
          </a:p>
        </p:txBody>
      </p:sp>
      <p:sp>
        <p:nvSpPr>
          <p:cNvPr id="3" name="Title"/>
          <p:cNvSpPr txBox="1"/>
          <p:nvPr/>
        </p:nvSpPr>
        <p:spPr>
          <a:xfrm>
            <a:off x="822960" y="1874519"/>
            <a:ext cx="10424160" cy="2194560"/>
          </a:xfrm>
          <a:prstGeom prst="rect">
            <a:avLst/>
          </a:prstGeom>
          <a:noFill/>
        </p:spPr>
        <p:txBody>
          <a:bodyPr wrap="square" lIns="0" rIns="0" tIns="0" bIns="0" anchor="t">
            <a:spAutoFit/>
          </a:bodyPr>
          <a:lstStyle/>
          <a:p>
            <a:pPr algn="l"/>
            <a:r>
              <a:rPr sz="6000" b="1" i="0">
                <a:solidFill>
                  <a:srgbClr val="EEF2F8"/>
                </a:solidFill>
                <a:latin typeface="Cambria"/>
              </a:rPr>
              <a:t>AXI4: five channels, a master and a memory</a:t>
            </a:r>
          </a:p>
        </p:txBody>
      </p:sp>
      <p:sp>
        <p:nvSpPr>
          <p:cNvPr id="4" name="TextBox 3"/>
          <p:cNvSpPr txBox="1"/>
          <p:nvPr/>
        </p:nvSpPr>
        <p:spPr>
          <a:xfrm>
            <a:off x="822960" y="3886200"/>
            <a:ext cx="9875520" cy="914400"/>
          </a:xfrm>
          <a:prstGeom prst="rect">
            <a:avLst/>
          </a:prstGeom>
          <a:noFill/>
        </p:spPr>
        <p:txBody>
          <a:bodyPr wrap="square" lIns="0" rIns="0" tIns="0" bIns="0" anchor="t">
            <a:spAutoFit/>
          </a:bodyPr>
          <a:lstStyle/>
          <a:p>
            <a:pPr algn="l"/>
            <a:r>
              <a:rPr sz="2400" b="0" i="0">
                <a:solidFill>
                  <a:srgbClr val="B7C3D6"/>
                </a:solidFill>
                <a:latin typeface="Calibri"/>
              </a:rPr>
              <a:t>Input D flip-flops, master, slave, output D flip-flops: a write and a read, and 76 checks pass in simulation.</a:t>
            </a:r>
          </a:p>
        </p:txBody>
      </p:sp>
      <p:sp>
        <p:nvSpPr>
          <p:cNvPr id="5" name="Rounded Rectangle 4"/>
          <p:cNvSpPr/>
          <p:nvPr/>
        </p:nvSpPr>
        <p:spPr>
          <a:xfrm>
            <a:off x="822960" y="5074920"/>
            <a:ext cx="822960" cy="457200"/>
          </a:xfrm>
          <a:prstGeom prst="roundRect">
            <a:avLst>
              <a:gd name="adj" fmla="val 50000"/>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800" b="1">
                <a:solidFill>
                  <a:srgbClr val="172033"/>
                </a:solidFill>
                <a:latin typeface="Calibri"/>
              </a:rPr>
              <a:t>AW</a:t>
            </a:r>
          </a:p>
        </p:txBody>
      </p:sp>
      <p:sp>
        <p:nvSpPr>
          <p:cNvPr id="6" name="Rounded Rectangle 5"/>
          <p:cNvSpPr/>
          <p:nvPr/>
        </p:nvSpPr>
        <p:spPr>
          <a:xfrm>
            <a:off x="1810512" y="5074920"/>
            <a:ext cx="731520" cy="457200"/>
          </a:xfrm>
          <a:prstGeom prst="roundRect">
            <a:avLst>
              <a:gd name="adj" fmla="val 50000"/>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800" b="1">
                <a:solidFill>
                  <a:srgbClr val="172033"/>
                </a:solidFill>
                <a:latin typeface="Calibri"/>
              </a:rPr>
              <a:t>W</a:t>
            </a:r>
          </a:p>
        </p:txBody>
      </p:sp>
      <p:sp>
        <p:nvSpPr>
          <p:cNvPr id="7" name="Rounded Rectangle 6"/>
          <p:cNvSpPr/>
          <p:nvPr/>
        </p:nvSpPr>
        <p:spPr>
          <a:xfrm>
            <a:off x="2706624" y="5074920"/>
            <a:ext cx="731520" cy="457200"/>
          </a:xfrm>
          <a:prstGeom prst="roundRect">
            <a:avLst>
              <a:gd name="adj" fmla="val 50000"/>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800" b="1">
                <a:solidFill>
                  <a:srgbClr val="172033"/>
                </a:solidFill>
                <a:latin typeface="Calibri"/>
              </a:rPr>
              <a:t>B</a:t>
            </a:r>
          </a:p>
        </p:txBody>
      </p:sp>
      <p:sp>
        <p:nvSpPr>
          <p:cNvPr id="8" name="Rounded Rectangle 7"/>
          <p:cNvSpPr/>
          <p:nvPr/>
        </p:nvSpPr>
        <p:spPr>
          <a:xfrm>
            <a:off x="3602736" y="5074920"/>
            <a:ext cx="822960" cy="457200"/>
          </a:xfrm>
          <a:prstGeom prst="roundRect">
            <a:avLst>
              <a:gd name="adj" fmla="val 50000"/>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800" b="1">
                <a:solidFill>
                  <a:srgbClr val="172033"/>
                </a:solidFill>
                <a:latin typeface="Calibri"/>
              </a:rPr>
              <a:t>AR</a:t>
            </a:r>
          </a:p>
        </p:txBody>
      </p:sp>
      <p:sp>
        <p:nvSpPr>
          <p:cNvPr id="9" name="Rounded Rectangle 8"/>
          <p:cNvSpPr/>
          <p:nvPr/>
        </p:nvSpPr>
        <p:spPr>
          <a:xfrm>
            <a:off x="4590288" y="5074920"/>
            <a:ext cx="731520" cy="457200"/>
          </a:xfrm>
          <a:prstGeom prst="roundRect">
            <a:avLst>
              <a:gd name="adj" fmla="val 50000"/>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800" b="1">
                <a:solidFill>
                  <a:srgbClr val="172033"/>
                </a:solidFill>
                <a:latin typeface="Calibri"/>
              </a:rPr>
              <a:t>R</a:t>
            </a:r>
          </a:p>
        </p:txBody>
      </p:sp>
      <p:sp>
        <p:nvSpPr>
          <p:cNvPr id="10" name="Presenter"/>
          <p:cNvSpPr txBox="1"/>
          <p:nvPr/>
        </p:nvSpPr>
        <p:spPr>
          <a:xfrm>
            <a:off x="822960" y="6126480"/>
            <a:ext cx="10058400" cy="365760"/>
          </a:xfrm>
          <a:prstGeom prst="rect">
            <a:avLst/>
          </a:prstGeom>
          <a:noFill/>
        </p:spPr>
        <p:txBody>
          <a:bodyPr wrap="square" lIns="0" rIns="0" tIns="0" bIns="0" anchor="t">
            <a:spAutoFit/>
          </a:bodyPr>
          <a:lstStyle/>
          <a:p>
            <a:pPr algn="l"/>
            <a:r>
              <a:rPr sz="1600" b="0" i="0">
                <a:solidFill>
                  <a:srgbClr val="B7C3D6"/>
                </a:solidFill>
                <a:latin typeface="Calibri"/>
              </a:rPr>
              <a:t>[Your name]   ·   [Course and institution]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What we built</a:t>
            </a:r>
          </a:p>
        </p:txBody>
      </p:sp>
      <p:sp>
        <p:nvSpPr>
          <p:cNvPr id="3" name="TextBox 2"/>
          <p:cNvSpPr txBox="1"/>
          <p:nvPr/>
        </p:nvSpPr>
        <p:spPr>
          <a:xfrm>
            <a:off x="640080" y="1280160"/>
            <a:ext cx="10881360" cy="457200"/>
          </a:xfrm>
          <a:prstGeom prst="rect">
            <a:avLst/>
          </a:prstGeom>
          <a:noFill/>
        </p:spPr>
        <p:txBody>
          <a:bodyPr wrap="square" lIns="0" rIns="0" tIns="0" bIns="0" anchor="t">
            <a:spAutoFit/>
          </a:bodyPr>
          <a:lstStyle/>
          <a:p>
            <a:pPr algn="l"/>
            <a:r>
              <a:rPr sz="2000" b="0" i="0">
                <a:solidFill>
                  <a:srgbClr val="4F5F74"/>
                </a:solidFill>
                <a:latin typeface="Calibri"/>
              </a:rPr>
              <a:t>Five files, each with one job.</a:t>
            </a:r>
          </a:p>
        </p:txBody>
      </p:sp>
      <p:sp>
        <p:nvSpPr>
          <p:cNvPr id="4" name="Rounded Rectangle 3"/>
          <p:cNvSpPr/>
          <p:nvPr/>
        </p:nvSpPr>
        <p:spPr>
          <a:xfrm>
            <a:off x="640080" y="2011680"/>
            <a:ext cx="2050633" cy="356616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96112" y="2240280"/>
            <a:ext cx="1538569" cy="457200"/>
          </a:xfrm>
          <a:prstGeom prst="rect">
            <a:avLst/>
          </a:prstGeom>
          <a:noFill/>
        </p:spPr>
        <p:txBody>
          <a:bodyPr wrap="square" lIns="0" rIns="0" tIns="0" bIns="0" anchor="t">
            <a:spAutoFit/>
          </a:bodyPr>
          <a:lstStyle/>
          <a:p>
            <a:pPr algn="l"/>
            <a:r>
              <a:rPr sz="2000" b="1" i="0">
                <a:solidFill>
                  <a:srgbClr val="1E2A3B"/>
                </a:solidFill>
                <a:latin typeface="Cambria"/>
              </a:rPr>
              <a:t>Input DFFs</a:t>
            </a:r>
          </a:p>
        </p:txBody>
      </p:sp>
      <p:sp>
        <p:nvSpPr>
          <p:cNvPr id="6" name="TextBox 5"/>
          <p:cNvSpPr txBox="1"/>
          <p:nvPr/>
        </p:nvSpPr>
        <p:spPr>
          <a:xfrm>
            <a:off x="896112" y="2788920"/>
            <a:ext cx="1538569" cy="320040"/>
          </a:xfrm>
          <a:prstGeom prst="rect">
            <a:avLst/>
          </a:prstGeom>
          <a:noFill/>
        </p:spPr>
        <p:txBody>
          <a:bodyPr wrap="square" lIns="0" rIns="0" tIns="0" bIns="0" anchor="t">
            <a:spAutoFit/>
          </a:bodyPr>
          <a:lstStyle/>
          <a:p>
            <a:pPr algn="l"/>
            <a:r>
              <a:rPr sz="1300" b="0" i="0">
                <a:solidFill>
                  <a:srgbClr val="4F5F74"/>
                </a:solidFill>
                <a:latin typeface="Consolas"/>
              </a:rPr>
              <a:t>axi4_in_dff.v</a:t>
            </a:r>
          </a:p>
        </p:txBody>
      </p:sp>
      <p:sp>
        <p:nvSpPr>
          <p:cNvPr id="7" name="TextBox 6"/>
          <p:cNvSpPr txBox="1"/>
          <p:nvPr/>
        </p:nvSpPr>
        <p:spPr>
          <a:xfrm>
            <a:off x="896112" y="3246120"/>
            <a:ext cx="1538569" cy="2148839"/>
          </a:xfrm>
          <a:prstGeom prst="rect">
            <a:avLst/>
          </a:prstGeom>
          <a:noFill/>
        </p:spPr>
        <p:txBody>
          <a:bodyPr wrap="square" lIns="0" rIns="0" tIns="0" bIns="0" anchor="t">
            <a:spAutoFit/>
          </a:bodyPr>
          <a:lstStyle/>
          <a:p>
            <a:pPr algn="l"/>
            <a:r>
              <a:rPr sz="1500" b="0" i="0">
                <a:solidFill>
                  <a:srgbClr val="1E2A3B"/>
                </a:solidFill>
                <a:latin typeface="Calibri"/>
              </a:rPr>
              <a:t>Five registers: an address and four words. The testbench loads them.</a:t>
            </a:r>
          </a:p>
        </p:txBody>
      </p:sp>
      <p:sp>
        <p:nvSpPr>
          <p:cNvPr id="8" name="Rounded Rectangle 7"/>
          <p:cNvSpPr/>
          <p:nvPr/>
        </p:nvSpPr>
        <p:spPr>
          <a:xfrm>
            <a:off x="2855305" y="2011680"/>
            <a:ext cx="2050633" cy="356616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111337" y="2240280"/>
            <a:ext cx="1538569" cy="457200"/>
          </a:xfrm>
          <a:prstGeom prst="rect">
            <a:avLst/>
          </a:prstGeom>
          <a:noFill/>
        </p:spPr>
        <p:txBody>
          <a:bodyPr wrap="square" lIns="0" rIns="0" tIns="0" bIns="0" anchor="t">
            <a:spAutoFit/>
          </a:bodyPr>
          <a:lstStyle/>
          <a:p>
            <a:pPr algn="l"/>
            <a:r>
              <a:rPr sz="2000" b="1" i="0">
                <a:solidFill>
                  <a:srgbClr val="1E2A3B"/>
                </a:solidFill>
                <a:latin typeface="Cambria"/>
              </a:rPr>
              <a:t>Master</a:t>
            </a:r>
          </a:p>
        </p:txBody>
      </p:sp>
      <p:sp>
        <p:nvSpPr>
          <p:cNvPr id="10" name="TextBox 9"/>
          <p:cNvSpPr txBox="1"/>
          <p:nvPr/>
        </p:nvSpPr>
        <p:spPr>
          <a:xfrm>
            <a:off x="3111337" y="2788920"/>
            <a:ext cx="1538569" cy="320040"/>
          </a:xfrm>
          <a:prstGeom prst="rect">
            <a:avLst/>
          </a:prstGeom>
          <a:noFill/>
        </p:spPr>
        <p:txBody>
          <a:bodyPr wrap="square" lIns="0" rIns="0" tIns="0" bIns="0" anchor="t">
            <a:spAutoFit/>
          </a:bodyPr>
          <a:lstStyle/>
          <a:p>
            <a:pPr algn="l"/>
            <a:r>
              <a:rPr sz="1300" b="0" i="0">
                <a:solidFill>
                  <a:srgbClr val="4F5F74"/>
                </a:solidFill>
                <a:latin typeface="Consolas"/>
              </a:rPr>
              <a:t>axi4_master.v</a:t>
            </a:r>
          </a:p>
        </p:txBody>
      </p:sp>
      <p:sp>
        <p:nvSpPr>
          <p:cNvPr id="11" name="TextBox 10"/>
          <p:cNvSpPr txBox="1"/>
          <p:nvPr/>
        </p:nvSpPr>
        <p:spPr>
          <a:xfrm>
            <a:off x="3111337" y="3246120"/>
            <a:ext cx="1538569" cy="2148839"/>
          </a:xfrm>
          <a:prstGeom prst="rect">
            <a:avLst/>
          </a:prstGeom>
          <a:noFill/>
        </p:spPr>
        <p:txBody>
          <a:bodyPr wrap="square" lIns="0" rIns="0" tIns="0" bIns="0" anchor="t">
            <a:spAutoFit/>
          </a:bodyPr>
          <a:lstStyle/>
          <a:p>
            <a:pPr algn="l"/>
            <a:r>
              <a:rPr sz="1500" b="0" i="0">
                <a:solidFill>
                  <a:srgbClr val="1E2A3B"/>
                </a:solidFill>
                <a:latin typeface="Calibri"/>
              </a:rPr>
              <a:t>Takes the data from the input DFFs. Writes it, then reads it back.</a:t>
            </a:r>
          </a:p>
        </p:txBody>
      </p:sp>
      <p:sp>
        <p:nvSpPr>
          <p:cNvPr id="12" name="Rounded Rectangle 11"/>
          <p:cNvSpPr/>
          <p:nvPr/>
        </p:nvSpPr>
        <p:spPr>
          <a:xfrm>
            <a:off x="5070530" y="2011680"/>
            <a:ext cx="2050633" cy="3566160"/>
          </a:xfrm>
          <a:prstGeom prst="roundRect">
            <a:avLst>
              <a:gd name="adj" fmla="val 6000"/>
            </a:avLst>
          </a:prstGeom>
          <a:solidFill>
            <a:srgbClr val="E6D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26562" y="2240280"/>
            <a:ext cx="1538569" cy="457200"/>
          </a:xfrm>
          <a:prstGeom prst="rect">
            <a:avLst/>
          </a:prstGeom>
          <a:noFill/>
        </p:spPr>
        <p:txBody>
          <a:bodyPr wrap="square" lIns="0" rIns="0" tIns="0" bIns="0" anchor="t">
            <a:spAutoFit/>
          </a:bodyPr>
          <a:lstStyle/>
          <a:p>
            <a:pPr algn="l"/>
            <a:r>
              <a:rPr sz="2000" b="1" i="0">
                <a:solidFill>
                  <a:srgbClr val="1E2A3B"/>
                </a:solidFill>
                <a:latin typeface="Cambria"/>
              </a:rPr>
              <a:t>Slave</a:t>
            </a:r>
          </a:p>
        </p:txBody>
      </p:sp>
      <p:sp>
        <p:nvSpPr>
          <p:cNvPr id="14" name="TextBox 13"/>
          <p:cNvSpPr txBox="1"/>
          <p:nvPr/>
        </p:nvSpPr>
        <p:spPr>
          <a:xfrm>
            <a:off x="5326562" y="2788920"/>
            <a:ext cx="1538569" cy="320040"/>
          </a:xfrm>
          <a:prstGeom prst="rect">
            <a:avLst/>
          </a:prstGeom>
          <a:noFill/>
        </p:spPr>
        <p:txBody>
          <a:bodyPr wrap="square" lIns="0" rIns="0" tIns="0" bIns="0" anchor="t">
            <a:spAutoFit/>
          </a:bodyPr>
          <a:lstStyle/>
          <a:p>
            <a:pPr algn="l"/>
            <a:r>
              <a:rPr sz="1300" b="0" i="0">
                <a:solidFill>
                  <a:srgbClr val="4F5F74"/>
                </a:solidFill>
                <a:latin typeface="Consolas"/>
              </a:rPr>
              <a:t>axi4_slave.v</a:t>
            </a:r>
          </a:p>
        </p:txBody>
      </p:sp>
      <p:sp>
        <p:nvSpPr>
          <p:cNvPr id="15" name="TextBox 14"/>
          <p:cNvSpPr txBox="1"/>
          <p:nvPr/>
        </p:nvSpPr>
        <p:spPr>
          <a:xfrm>
            <a:off x="5326562" y="3246120"/>
            <a:ext cx="1538569" cy="2148839"/>
          </a:xfrm>
          <a:prstGeom prst="rect">
            <a:avLst/>
          </a:prstGeom>
          <a:noFill/>
        </p:spPr>
        <p:txBody>
          <a:bodyPr wrap="square" lIns="0" rIns="0" tIns="0" bIns="0" anchor="t">
            <a:spAutoFit/>
          </a:bodyPr>
          <a:lstStyle/>
          <a:p>
            <a:pPr algn="l"/>
            <a:r>
              <a:rPr sz="1500" b="0" i="0">
                <a:solidFill>
                  <a:srgbClr val="1E2A3B"/>
                </a:solidFill>
                <a:latin typeface="Calibri"/>
              </a:rPr>
              <a:t>A 4 KiB memory. Answers bursts of up to 256 beats.</a:t>
            </a:r>
          </a:p>
        </p:txBody>
      </p:sp>
      <p:sp>
        <p:nvSpPr>
          <p:cNvPr id="16" name="Rounded Rectangle 15"/>
          <p:cNvSpPr/>
          <p:nvPr/>
        </p:nvSpPr>
        <p:spPr>
          <a:xfrm>
            <a:off x="7285756" y="2011680"/>
            <a:ext cx="2050633" cy="356616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1788" y="2240280"/>
            <a:ext cx="1538569" cy="457200"/>
          </a:xfrm>
          <a:prstGeom prst="rect">
            <a:avLst/>
          </a:prstGeom>
          <a:noFill/>
        </p:spPr>
        <p:txBody>
          <a:bodyPr wrap="square" lIns="0" rIns="0" tIns="0" bIns="0" anchor="t">
            <a:spAutoFit/>
          </a:bodyPr>
          <a:lstStyle/>
          <a:p>
            <a:pPr algn="l"/>
            <a:r>
              <a:rPr sz="2000" b="1" i="0">
                <a:solidFill>
                  <a:srgbClr val="1E2A3B"/>
                </a:solidFill>
                <a:latin typeface="Cambria"/>
              </a:rPr>
              <a:t>Output DFFs</a:t>
            </a:r>
          </a:p>
        </p:txBody>
      </p:sp>
      <p:sp>
        <p:nvSpPr>
          <p:cNvPr id="18" name="TextBox 17"/>
          <p:cNvSpPr txBox="1"/>
          <p:nvPr/>
        </p:nvSpPr>
        <p:spPr>
          <a:xfrm>
            <a:off x="7541788" y="2788920"/>
            <a:ext cx="1538569" cy="320040"/>
          </a:xfrm>
          <a:prstGeom prst="rect">
            <a:avLst/>
          </a:prstGeom>
          <a:noFill/>
        </p:spPr>
        <p:txBody>
          <a:bodyPr wrap="square" lIns="0" rIns="0" tIns="0" bIns="0" anchor="t">
            <a:spAutoFit/>
          </a:bodyPr>
          <a:lstStyle/>
          <a:p>
            <a:pPr algn="l"/>
            <a:r>
              <a:rPr sz="1300" b="0" i="0">
                <a:solidFill>
                  <a:srgbClr val="4F5F74"/>
                </a:solidFill>
                <a:latin typeface="Consolas"/>
              </a:rPr>
              <a:t>axi4_out_dff.v</a:t>
            </a:r>
          </a:p>
        </p:txBody>
      </p:sp>
      <p:sp>
        <p:nvSpPr>
          <p:cNvPr id="19" name="TextBox 18"/>
          <p:cNvSpPr txBox="1"/>
          <p:nvPr/>
        </p:nvSpPr>
        <p:spPr>
          <a:xfrm>
            <a:off x="7541788" y="3246120"/>
            <a:ext cx="1538569" cy="2148839"/>
          </a:xfrm>
          <a:prstGeom prst="rect">
            <a:avLst/>
          </a:prstGeom>
          <a:noFill/>
        </p:spPr>
        <p:txBody>
          <a:bodyPr wrap="square" lIns="0" rIns="0" tIns="0" bIns="0" anchor="t">
            <a:spAutoFit/>
          </a:bodyPr>
          <a:lstStyle/>
          <a:p>
            <a:pPr algn="l"/>
            <a:r>
              <a:rPr sz="1500" b="0" i="0">
                <a:solidFill>
                  <a:srgbClr val="1E2A3B"/>
                </a:solidFill>
                <a:latin typeface="Calibri"/>
              </a:rPr>
              <a:t>Four registers that hold the words read back.</a:t>
            </a:r>
          </a:p>
        </p:txBody>
      </p:sp>
      <p:sp>
        <p:nvSpPr>
          <p:cNvPr id="20" name="Rounded Rectangle 19"/>
          <p:cNvSpPr/>
          <p:nvPr/>
        </p:nvSpPr>
        <p:spPr>
          <a:xfrm>
            <a:off x="9500981" y="2011680"/>
            <a:ext cx="2050633" cy="356616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57013" y="2240280"/>
            <a:ext cx="1538569" cy="457200"/>
          </a:xfrm>
          <a:prstGeom prst="rect">
            <a:avLst/>
          </a:prstGeom>
          <a:noFill/>
        </p:spPr>
        <p:txBody>
          <a:bodyPr wrap="square" lIns="0" rIns="0" tIns="0" bIns="0" anchor="t">
            <a:spAutoFit/>
          </a:bodyPr>
          <a:lstStyle/>
          <a:p>
            <a:pPr algn="l"/>
            <a:r>
              <a:rPr sz="2000" b="1" i="0">
                <a:solidFill>
                  <a:srgbClr val="1E2A3B"/>
                </a:solidFill>
                <a:latin typeface="Cambria"/>
              </a:rPr>
              <a:t>Top</a:t>
            </a:r>
          </a:p>
        </p:txBody>
      </p:sp>
      <p:sp>
        <p:nvSpPr>
          <p:cNvPr id="22" name="TextBox 21"/>
          <p:cNvSpPr txBox="1"/>
          <p:nvPr/>
        </p:nvSpPr>
        <p:spPr>
          <a:xfrm>
            <a:off x="9757013" y="2788920"/>
            <a:ext cx="1538569" cy="320040"/>
          </a:xfrm>
          <a:prstGeom prst="rect">
            <a:avLst/>
          </a:prstGeom>
          <a:noFill/>
        </p:spPr>
        <p:txBody>
          <a:bodyPr wrap="square" lIns="0" rIns="0" tIns="0" bIns="0" anchor="t">
            <a:spAutoFit/>
          </a:bodyPr>
          <a:lstStyle/>
          <a:p>
            <a:pPr algn="l"/>
            <a:r>
              <a:rPr sz="1300" b="0" i="0">
                <a:solidFill>
                  <a:srgbClr val="4F5F74"/>
                </a:solidFill>
                <a:latin typeface="Consolas"/>
              </a:rPr>
              <a:t>axi4_top.v</a:t>
            </a:r>
          </a:p>
        </p:txBody>
      </p:sp>
      <p:sp>
        <p:nvSpPr>
          <p:cNvPr id="23" name="TextBox 22"/>
          <p:cNvSpPr txBox="1"/>
          <p:nvPr/>
        </p:nvSpPr>
        <p:spPr>
          <a:xfrm>
            <a:off x="9757013" y="3246120"/>
            <a:ext cx="1538569" cy="2148839"/>
          </a:xfrm>
          <a:prstGeom prst="rect">
            <a:avLst/>
          </a:prstGeom>
          <a:noFill/>
        </p:spPr>
        <p:txBody>
          <a:bodyPr wrap="square" lIns="0" rIns="0" tIns="0" bIns="0" anchor="t">
            <a:spAutoFit/>
          </a:bodyPr>
          <a:lstStyle/>
          <a:p>
            <a:pPr algn="l"/>
            <a:r>
              <a:rPr sz="1500" b="0" i="0">
                <a:solidFill>
                  <a:srgbClr val="1E2A3B"/>
                </a:solidFill>
                <a:latin typeface="Calibri"/>
              </a:rPr>
              <a:t>Wires it all together. Master and slave connect directly.</a:t>
            </a:r>
          </a:p>
        </p:txBody>
      </p:sp>
      <p:sp>
        <p:nvSpPr>
          <p:cNvPr id="24" name="TextBox 23"/>
          <p:cNvSpPr txBox="1"/>
          <p:nvPr/>
        </p:nvSpPr>
        <p:spPr>
          <a:xfrm>
            <a:off x="640080" y="5852160"/>
            <a:ext cx="10881360" cy="365760"/>
          </a:xfrm>
          <a:prstGeom prst="rect">
            <a:avLst/>
          </a:prstGeom>
          <a:noFill/>
        </p:spPr>
        <p:txBody>
          <a:bodyPr wrap="square" lIns="0" rIns="0" tIns="0" bIns="0" anchor="t">
            <a:spAutoFit/>
          </a:bodyPr>
          <a:lstStyle/>
          <a:p>
            <a:pPr algn="l"/>
            <a:r>
              <a:rPr sz="1600" b="0" i="1">
                <a:solidFill>
                  <a:srgbClr val="4F5F74"/>
                </a:solidFill>
                <a:latin typeface="Calibri"/>
              </a:rPr>
              <a:t>Full AXI4 rather than AXI4-Lite: bursts, transaction IDs, WLAST and RLAST.</a:t>
            </a:r>
          </a:p>
        </p:txBody>
      </p:sp>
      <p:sp>
        <p:nvSpPr>
          <p:cNvPr id="25"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6"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Five independent channels</a:t>
            </a:r>
          </a:p>
        </p:txBody>
      </p:sp>
      <p:sp>
        <p:nvSpPr>
          <p:cNvPr id="3" name="Rounded Rectangle 2"/>
          <p:cNvSpPr/>
          <p:nvPr/>
        </p:nvSpPr>
        <p:spPr>
          <a:xfrm>
            <a:off x="822960" y="1508760"/>
            <a:ext cx="2286000" cy="4526280"/>
          </a:xfrm>
          <a:prstGeom prst="roundRect">
            <a:avLst>
              <a:gd name="adj" fmla="val 6000"/>
            </a:avLst>
          </a:prstGeom>
          <a:solidFill>
            <a:srgbClr val="D6E6FF"/>
          </a:solidFill>
          <a:ln w="19050">
            <a:solidFill>
              <a:srgbClr val="3B6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3108960"/>
            <a:ext cx="2286000" cy="731520"/>
          </a:xfrm>
          <a:prstGeom prst="rect">
            <a:avLst/>
          </a:prstGeom>
          <a:noFill/>
        </p:spPr>
        <p:txBody>
          <a:bodyPr wrap="square" lIns="0" rIns="0" tIns="0" bIns="0" anchor="t">
            <a:spAutoFit/>
          </a:bodyPr>
          <a:lstStyle/>
          <a:p>
            <a:pPr algn="ctr"/>
            <a:r>
              <a:rPr sz="2400" b="1" i="0">
                <a:solidFill>
                  <a:srgbClr val="1E2A3B"/>
                </a:solidFill>
                <a:latin typeface="Cambria"/>
              </a:rPr>
              <a:t>Master</a:t>
            </a:r>
          </a:p>
          <a:p>
            <a:pPr algn="ctr"/>
            <a:r>
              <a:rPr sz="1400" b="0" i="0">
                <a:solidFill>
                  <a:srgbClr val="4F5F74"/>
                </a:solidFill>
                <a:latin typeface="Consolas"/>
              </a:rPr>
              <a:t>axi4_master</a:t>
            </a:r>
          </a:p>
        </p:txBody>
      </p:sp>
      <p:sp>
        <p:nvSpPr>
          <p:cNvPr id="5" name="Rounded Rectangle 4"/>
          <p:cNvSpPr/>
          <p:nvPr/>
        </p:nvSpPr>
        <p:spPr>
          <a:xfrm>
            <a:off x="9079992" y="1508760"/>
            <a:ext cx="2286000" cy="4526280"/>
          </a:xfrm>
          <a:prstGeom prst="roundRect">
            <a:avLst>
              <a:gd name="adj" fmla="val 6000"/>
            </a:avLst>
          </a:prstGeom>
          <a:solidFill>
            <a:srgbClr val="E6DEFA"/>
          </a:solidFill>
          <a:ln w="19050">
            <a:solidFill>
              <a:srgbClr val="7152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079992" y="3108960"/>
            <a:ext cx="2286000" cy="731520"/>
          </a:xfrm>
          <a:prstGeom prst="rect">
            <a:avLst/>
          </a:prstGeom>
          <a:noFill/>
        </p:spPr>
        <p:txBody>
          <a:bodyPr wrap="square" lIns="0" rIns="0" tIns="0" bIns="0" anchor="t">
            <a:spAutoFit/>
          </a:bodyPr>
          <a:lstStyle/>
          <a:p>
            <a:pPr algn="ctr"/>
            <a:r>
              <a:rPr sz="2400" b="1" i="0">
                <a:solidFill>
                  <a:srgbClr val="1E2A3B"/>
                </a:solidFill>
                <a:latin typeface="Cambria"/>
              </a:rPr>
              <a:t>Slave</a:t>
            </a:r>
          </a:p>
          <a:p>
            <a:pPr algn="ctr"/>
            <a:r>
              <a:rPr sz="1400" b="0" i="0">
                <a:solidFill>
                  <a:srgbClr val="4F5F74"/>
                </a:solidFill>
                <a:latin typeface="Consolas"/>
              </a:rPr>
              <a:t>axi4_slave</a:t>
            </a:r>
          </a:p>
        </p:txBody>
      </p:sp>
      <p:sp>
        <p:nvSpPr>
          <p:cNvPr id="7" name="TextBox 6"/>
          <p:cNvSpPr txBox="1"/>
          <p:nvPr/>
        </p:nvSpPr>
        <p:spPr>
          <a:xfrm>
            <a:off x="3383280" y="1554480"/>
            <a:ext cx="1828800" cy="274320"/>
          </a:xfrm>
          <a:prstGeom prst="rect">
            <a:avLst/>
          </a:prstGeom>
          <a:noFill/>
        </p:spPr>
        <p:txBody>
          <a:bodyPr wrap="square" lIns="0" rIns="0" tIns="0" bIns="0" anchor="t">
            <a:spAutoFit/>
          </a:bodyPr>
          <a:lstStyle/>
          <a:p>
            <a:pPr algn="l"/>
            <a:r>
              <a:rPr sz="1200" b="1" i="0">
                <a:solidFill>
                  <a:srgbClr val="4F5F74"/>
                </a:solidFill>
                <a:latin typeface="Calibri"/>
              </a:rPr>
              <a:t>WRITE</a:t>
            </a:r>
          </a:p>
        </p:txBody>
      </p:sp>
      <p:sp>
        <p:nvSpPr>
          <p:cNvPr id="8" name="TextBox 7"/>
          <p:cNvSpPr txBox="1"/>
          <p:nvPr/>
        </p:nvSpPr>
        <p:spPr>
          <a:xfrm>
            <a:off x="3383280" y="4160520"/>
            <a:ext cx="1828800" cy="274320"/>
          </a:xfrm>
          <a:prstGeom prst="rect">
            <a:avLst/>
          </a:prstGeom>
          <a:noFill/>
        </p:spPr>
        <p:txBody>
          <a:bodyPr wrap="square" lIns="0" rIns="0" tIns="0" bIns="0" anchor="t">
            <a:spAutoFit/>
          </a:bodyPr>
          <a:lstStyle/>
          <a:p>
            <a:pPr algn="l"/>
            <a:r>
              <a:rPr sz="1200" b="1" i="0">
                <a:solidFill>
                  <a:srgbClr val="4F5F74"/>
                </a:solidFill>
                <a:latin typeface="Calibri"/>
              </a:rPr>
              <a:t>READ</a:t>
            </a:r>
          </a:p>
        </p:txBody>
      </p:sp>
      <p:cxnSp>
        <p:nvCxnSpPr>
          <p:cNvPr id="9" name="Connector 8"/>
          <p:cNvCxnSpPr/>
          <p:nvPr/>
        </p:nvCxnSpPr>
        <p:spPr>
          <a:xfrm>
            <a:off x="3154680" y="2194560"/>
            <a:ext cx="5879592" cy="0"/>
          </a:xfrm>
          <a:prstGeom prst="line">
            <a:avLst/>
          </a:prstGeom>
          <a:ln w="28575">
            <a:solidFill>
              <a:srgbClr val="1E2A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00600" y="1975104"/>
            <a:ext cx="3017520" cy="438912"/>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600" b="1">
                <a:solidFill>
                  <a:srgbClr val="1E2A3B"/>
                </a:solidFill>
                <a:latin typeface="Calibri"/>
              </a:rPr>
              <a:t>AW   write address</a:t>
            </a:r>
          </a:p>
        </p:txBody>
      </p:sp>
      <p:cxnSp>
        <p:nvCxnSpPr>
          <p:cNvPr id="11" name="Connector 10"/>
          <p:cNvCxnSpPr/>
          <p:nvPr/>
        </p:nvCxnSpPr>
        <p:spPr>
          <a:xfrm>
            <a:off x="3154680" y="2971800"/>
            <a:ext cx="5879592" cy="0"/>
          </a:xfrm>
          <a:prstGeom prst="line">
            <a:avLst/>
          </a:prstGeom>
          <a:ln w="28575">
            <a:solidFill>
              <a:srgbClr val="1E2A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00600" y="2752344"/>
            <a:ext cx="3017520" cy="438912"/>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600" b="1">
                <a:solidFill>
                  <a:srgbClr val="1E2A3B"/>
                </a:solidFill>
                <a:latin typeface="Calibri"/>
              </a:rPr>
              <a:t>W   write data</a:t>
            </a:r>
          </a:p>
        </p:txBody>
      </p:sp>
      <p:cxnSp>
        <p:nvCxnSpPr>
          <p:cNvPr id="13" name="Connector 12"/>
          <p:cNvCxnSpPr/>
          <p:nvPr/>
        </p:nvCxnSpPr>
        <p:spPr>
          <a:xfrm flipH="1">
            <a:off x="3154680" y="3749039"/>
            <a:ext cx="5879592" cy="0"/>
          </a:xfrm>
          <a:prstGeom prst="line">
            <a:avLst/>
          </a:prstGeom>
          <a:ln w="28575">
            <a:solidFill>
              <a:srgbClr val="1E2A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00600" y="3529583"/>
            <a:ext cx="3017520" cy="438912"/>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600" b="1">
                <a:solidFill>
                  <a:srgbClr val="1E2A3B"/>
                </a:solidFill>
                <a:latin typeface="Calibri"/>
              </a:rPr>
              <a:t>B   write response</a:t>
            </a:r>
          </a:p>
        </p:txBody>
      </p:sp>
      <p:cxnSp>
        <p:nvCxnSpPr>
          <p:cNvPr id="15" name="Connector 14"/>
          <p:cNvCxnSpPr/>
          <p:nvPr/>
        </p:nvCxnSpPr>
        <p:spPr>
          <a:xfrm>
            <a:off x="3154680" y="4754880"/>
            <a:ext cx="5879592" cy="0"/>
          </a:xfrm>
          <a:prstGeom prst="line">
            <a:avLst/>
          </a:prstGeom>
          <a:ln w="28575">
            <a:solidFill>
              <a:srgbClr val="1E2A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00600" y="4535424"/>
            <a:ext cx="3017520" cy="438912"/>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600" b="1">
                <a:solidFill>
                  <a:srgbClr val="1E2A3B"/>
                </a:solidFill>
                <a:latin typeface="Calibri"/>
              </a:rPr>
              <a:t>AR   read address</a:t>
            </a:r>
          </a:p>
        </p:txBody>
      </p:sp>
      <p:cxnSp>
        <p:nvCxnSpPr>
          <p:cNvPr id="17" name="Connector 16"/>
          <p:cNvCxnSpPr/>
          <p:nvPr/>
        </p:nvCxnSpPr>
        <p:spPr>
          <a:xfrm flipH="1">
            <a:off x="3154680" y="5532120"/>
            <a:ext cx="5879592" cy="0"/>
          </a:xfrm>
          <a:prstGeom prst="line">
            <a:avLst/>
          </a:prstGeom>
          <a:ln w="28575">
            <a:solidFill>
              <a:srgbClr val="1E2A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00600" y="5312664"/>
            <a:ext cx="3017520" cy="438912"/>
          </a:xfrm>
          <a:prstGeom prst="roundRect">
            <a:avLst>
              <a:gd name="adj" fmla="val 50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600" b="1">
                <a:solidFill>
                  <a:srgbClr val="1E2A3B"/>
                </a:solidFill>
                <a:latin typeface="Calibri"/>
              </a:rPr>
              <a:t>R   read data</a:t>
            </a:r>
          </a:p>
        </p:txBody>
      </p:sp>
      <p:sp>
        <p:nvSpPr>
          <p:cNvPr id="19"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0"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The VALID and READY handshake</a:t>
            </a:r>
          </a:p>
        </p:txBody>
      </p:sp>
      <p:sp>
        <p:nvSpPr>
          <p:cNvPr id="3" name="Rounded Rectangle 2"/>
          <p:cNvSpPr/>
          <p:nvPr/>
        </p:nvSpPr>
        <p:spPr>
          <a:xfrm>
            <a:off x="640080" y="1508760"/>
            <a:ext cx="5120640" cy="2011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691640"/>
            <a:ext cx="4572000" cy="365760"/>
          </a:xfrm>
          <a:prstGeom prst="rect">
            <a:avLst/>
          </a:prstGeom>
          <a:noFill/>
        </p:spPr>
        <p:txBody>
          <a:bodyPr wrap="square" lIns="0" rIns="0" tIns="0" bIns="0" anchor="t">
            <a:spAutoFit/>
          </a:bodyPr>
          <a:lstStyle/>
          <a:p>
            <a:pPr algn="l"/>
            <a:r>
              <a:rPr sz="2000" b="1" i="0">
                <a:solidFill>
                  <a:srgbClr val="1E2A3B"/>
                </a:solidFill>
                <a:latin typeface="Cambria"/>
              </a:rPr>
              <a:t>Transfer</a:t>
            </a:r>
          </a:p>
        </p:txBody>
      </p:sp>
      <p:sp>
        <p:nvSpPr>
          <p:cNvPr id="5" name="TextBox 4"/>
          <p:cNvSpPr txBox="1"/>
          <p:nvPr/>
        </p:nvSpPr>
        <p:spPr>
          <a:xfrm>
            <a:off x="914400" y="2148840"/>
            <a:ext cx="4572000" cy="1280160"/>
          </a:xfrm>
          <a:prstGeom prst="rect">
            <a:avLst/>
          </a:prstGeom>
          <a:noFill/>
        </p:spPr>
        <p:txBody>
          <a:bodyPr wrap="square" lIns="0" rIns="0" tIns="0" bIns="0" anchor="t">
            <a:spAutoFit/>
          </a:bodyPr>
          <a:lstStyle/>
          <a:p>
            <a:pPr algn="l"/>
            <a:r>
              <a:rPr sz="1600" b="0" i="0">
                <a:solidFill>
                  <a:srgbClr val="1E2A3B"/>
                </a:solidFill>
                <a:latin typeface="Calibri"/>
              </a:rPr>
              <a:t>The sender raises VALID when its data is real. The receiver raises READY when it can take it. The transfer happens in the cycle where both are high.</a:t>
            </a:r>
          </a:p>
        </p:txBody>
      </p:sp>
      <p:sp>
        <p:nvSpPr>
          <p:cNvPr id="6" name="Rounded Rectangle 5"/>
          <p:cNvSpPr/>
          <p:nvPr/>
        </p:nvSpPr>
        <p:spPr>
          <a:xfrm>
            <a:off x="640080" y="3703320"/>
            <a:ext cx="512064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886200"/>
            <a:ext cx="4572000" cy="365760"/>
          </a:xfrm>
          <a:prstGeom prst="rect">
            <a:avLst/>
          </a:prstGeom>
          <a:noFill/>
        </p:spPr>
        <p:txBody>
          <a:bodyPr wrap="square" lIns="0" rIns="0" tIns="0" bIns="0" anchor="t">
            <a:spAutoFit/>
          </a:bodyPr>
          <a:lstStyle/>
          <a:p>
            <a:pPr algn="l"/>
            <a:r>
              <a:rPr sz="2000" b="1" i="0">
                <a:solidFill>
                  <a:srgbClr val="1E2A3B"/>
                </a:solidFill>
                <a:latin typeface="Cambria"/>
              </a:rPr>
              <a:t>Two rules</a:t>
            </a:r>
          </a:p>
        </p:txBody>
      </p:sp>
      <p:sp>
        <p:nvSpPr>
          <p:cNvPr id="8" name="TextBox 7"/>
          <p:cNvSpPr txBox="1"/>
          <p:nvPr/>
        </p:nvSpPr>
        <p:spPr>
          <a:xfrm>
            <a:off x="914400" y="4343400"/>
            <a:ext cx="4572000" cy="1645920"/>
          </a:xfrm>
          <a:prstGeom prst="rect">
            <a:avLst/>
          </a:prstGeom>
          <a:noFill/>
        </p:spPr>
        <p:txBody>
          <a:bodyPr wrap="square" lIns="0" rIns="0" tIns="0" bIns="0" anchor="t">
            <a:spAutoFit/>
          </a:bodyPr>
          <a:lstStyle/>
          <a:p>
            <a:pPr algn="l">
              <a:spcAft>
                <a:spcPts val="800"/>
              </a:spcAft>
            </a:pPr>
            <a:r>
              <a:rPr sz="1600" b="0" i="0">
                <a:solidFill>
                  <a:srgbClr val="1E2A3B"/>
                </a:solidFill>
                <a:latin typeface="Calibri"/>
              </a:rPr>
              <a:t>Once VALID is up, the data and VALID stay put until the handshake completes.</a:t>
            </a:r>
          </a:p>
          <a:p>
            <a:pPr algn="l">
              <a:spcAft>
                <a:spcPts val="0"/>
              </a:spcAft>
            </a:pPr>
            <a:r>
              <a:rPr sz="1600" b="0" i="0">
                <a:solidFill>
                  <a:srgbClr val="1E2A3B"/>
                </a:solidFill>
                <a:latin typeface="Calibri"/>
              </a:rPr>
              <a:t>A sender may not wait for READY before raising VALID.</a:t>
            </a:r>
          </a:p>
        </p:txBody>
      </p:sp>
      <p:sp>
        <p:nvSpPr>
          <p:cNvPr id="9" name="Rounded Rectangle 8"/>
          <p:cNvSpPr/>
          <p:nvPr/>
        </p:nvSpPr>
        <p:spPr>
          <a:xfrm>
            <a:off x="5943600" y="1508760"/>
            <a:ext cx="5605272"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1645920"/>
            <a:ext cx="2743200" cy="320040"/>
          </a:xfrm>
          <a:prstGeom prst="rect">
            <a:avLst/>
          </a:prstGeom>
          <a:noFill/>
        </p:spPr>
        <p:txBody>
          <a:bodyPr wrap="square" lIns="0" rIns="0" tIns="0" bIns="0" anchor="t">
            <a:spAutoFit/>
          </a:bodyPr>
          <a:lstStyle/>
          <a:p>
            <a:pPr algn="l"/>
            <a:r>
              <a:rPr sz="1400" b="0" i="0">
                <a:solidFill>
                  <a:srgbClr val="4F5F74"/>
                </a:solidFill>
                <a:latin typeface="Calibri"/>
              </a:rPr>
              <a:t>One transfer, cycle by cycle</a:t>
            </a:r>
          </a:p>
        </p:txBody>
      </p:sp>
      <p:cxnSp>
        <p:nvCxnSpPr>
          <p:cNvPr id="11" name="Connector 10"/>
          <p:cNvCxnSpPr/>
          <p:nvPr/>
        </p:nvCxnSpPr>
        <p:spPr>
          <a:xfrm>
            <a:off x="7086600"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86600"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0</a:t>
            </a:r>
          </a:p>
        </p:txBody>
      </p:sp>
      <p:cxnSp>
        <p:nvCxnSpPr>
          <p:cNvPr id="13" name="Connector 12"/>
          <p:cNvCxnSpPr/>
          <p:nvPr/>
        </p:nvCxnSpPr>
        <p:spPr>
          <a:xfrm>
            <a:off x="7726679"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26679"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1</a:t>
            </a:r>
          </a:p>
        </p:txBody>
      </p:sp>
      <p:cxnSp>
        <p:nvCxnSpPr>
          <p:cNvPr id="15" name="Connector 14"/>
          <p:cNvCxnSpPr/>
          <p:nvPr/>
        </p:nvCxnSpPr>
        <p:spPr>
          <a:xfrm>
            <a:off x="8366760"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66760"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2</a:t>
            </a:r>
          </a:p>
        </p:txBody>
      </p:sp>
      <p:cxnSp>
        <p:nvCxnSpPr>
          <p:cNvPr id="17" name="Connector 16"/>
          <p:cNvCxnSpPr/>
          <p:nvPr/>
        </p:nvCxnSpPr>
        <p:spPr>
          <a:xfrm>
            <a:off x="9006840"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006840"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3</a:t>
            </a:r>
          </a:p>
        </p:txBody>
      </p:sp>
      <p:cxnSp>
        <p:nvCxnSpPr>
          <p:cNvPr id="19" name="Connector 18"/>
          <p:cNvCxnSpPr/>
          <p:nvPr/>
        </p:nvCxnSpPr>
        <p:spPr>
          <a:xfrm>
            <a:off x="9646920"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46920"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4</a:t>
            </a:r>
          </a:p>
        </p:txBody>
      </p:sp>
      <p:cxnSp>
        <p:nvCxnSpPr>
          <p:cNvPr id="21" name="Connector 20"/>
          <p:cNvCxnSpPr/>
          <p:nvPr/>
        </p:nvCxnSpPr>
        <p:spPr>
          <a:xfrm>
            <a:off x="10287000" y="2103120"/>
            <a:ext cx="0" cy="3063240"/>
          </a:xfrm>
          <a:prstGeom prst="line">
            <a:avLst/>
          </a:prstGeom>
          <a:ln w="12700">
            <a:solidFill>
              <a:srgbClr val="D5DC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287000" y="1828800"/>
            <a:ext cx="640080" cy="274320"/>
          </a:xfrm>
          <a:prstGeom prst="rect">
            <a:avLst/>
          </a:prstGeom>
          <a:noFill/>
        </p:spPr>
        <p:txBody>
          <a:bodyPr wrap="square" lIns="0" rIns="0" tIns="0" bIns="0" anchor="t">
            <a:spAutoFit/>
          </a:bodyPr>
          <a:lstStyle/>
          <a:p>
            <a:pPr algn="ctr"/>
            <a:r>
              <a:rPr sz="1200" b="0" i="0">
                <a:solidFill>
                  <a:srgbClr val="4F5F74"/>
                </a:solidFill>
                <a:latin typeface="Calibri"/>
              </a:rPr>
              <a:t>5</a:t>
            </a:r>
          </a:p>
        </p:txBody>
      </p:sp>
      <p:sp>
        <p:nvSpPr>
          <p:cNvPr id="23" name="TextBox 22"/>
          <p:cNvSpPr txBox="1"/>
          <p:nvPr/>
        </p:nvSpPr>
        <p:spPr>
          <a:xfrm>
            <a:off x="6217920" y="2560320"/>
            <a:ext cx="822960" cy="365760"/>
          </a:xfrm>
          <a:prstGeom prst="rect">
            <a:avLst/>
          </a:prstGeom>
          <a:noFill/>
        </p:spPr>
        <p:txBody>
          <a:bodyPr wrap="square" lIns="0" rIns="0" tIns="0" bIns="0" anchor="t">
            <a:spAutoFit/>
          </a:bodyPr>
          <a:lstStyle/>
          <a:p>
            <a:pPr algn="l"/>
            <a:r>
              <a:rPr sz="1400" b="1" i="0">
                <a:solidFill>
                  <a:srgbClr val="1E2A3B"/>
                </a:solidFill>
                <a:latin typeface="Consolas"/>
              </a:rPr>
              <a:t>CLK</a:t>
            </a:r>
          </a:p>
        </p:txBody>
      </p:sp>
      <p:cxnSp>
        <p:nvCxnSpPr>
          <p:cNvPr id="24" name="Connector 23"/>
          <p:cNvCxnSpPr/>
          <p:nvPr/>
        </p:nvCxnSpPr>
        <p:spPr>
          <a:xfrm>
            <a:off x="7086600"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0664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06640" y="2971800"/>
            <a:ext cx="32003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726679"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26679"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46719"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46719" y="29718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366759"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66760"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9718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00684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006840"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26880" y="2971800"/>
            <a:ext cx="32003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646919"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646920"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96696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966960" y="29718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28700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287000" y="25146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607040" y="251460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607040" y="2971800"/>
            <a:ext cx="32004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217920" y="3383280"/>
            <a:ext cx="822960" cy="365760"/>
          </a:xfrm>
          <a:prstGeom prst="rect">
            <a:avLst/>
          </a:prstGeom>
          <a:noFill/>
        </p:spPr>
        <p:txBody>
          <a:bodyPr wrap="square" lIns="0" rIns="0" tIns="0" bIns="0" anchor="t">
            <a:spAutoFit/>
          </a:bodyPr>
          <a:lstStyle/>
          <a:p>
            <a:pPr algn="l"/>
            <a:r>
              <a:rPr sz="1400" b="1" i="0">
                <a:solidFill>
                  <a:srgbClr val="1E2A3B"/>
                </a:solidFill>
                <a:latin typeface="Consolas"/>
              </a:rPr>
              <a:t>VALID</a:t>
            </a:r>
          </a:p>
        </p:txBody>
      </p:sp>
      <p:cxnSp>
        <p:nvCxnSpPr>
          <p:cNvPr id="48" name="Connector 47"/>
          <p:cNvCxnSpPr/>
          <p:nvPr/>
        </p:nvCxnSpPr>
        <p:spPr>
          <a:xfrm>
            <a:off x="7086600" y="3794760"/>
            <a:ext cx="64007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726679" y="333756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726679" y="333756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66760" y="333756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006840" y="3337560"/>
            <a:ext cx="64007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646920" y="333756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646920" y="379476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287000" y="379476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17920" y="4206240"/>
            <a:ext cx="822960" cy="365760"/>
          </a:xfrm>
          <a:prstGeom prst="rect">
            <a:avLst/>
          </a:prstGeom>
          <a:noFill/>
        </p:spPr>
        <p:txBody>
          <a:bodyPr wrap="square" lIns="0" rIns="0" tIns="0" bIns="0" anchor="t">
            <a:spAutoFit/>
          </a:bodyPr>
          <a:lstStyle/>
          <a:p>
            <a:pPr algn="l"/>
            <a:r>
              <a:rPr sz="1400" b="1" i="0">
                <a:solidFill>
                  <a:srgbClr val="1E2A3B"/>
                </a:solidFill>
                <a:latin typeface="Consolas"/>
              </a:rPr>
              <a:t>READY</a:t>
            </a:r>
          </a:p>
        </p:txBody>
      </p:sp>
      <p:cxnSp>
        <p:nvCxnSpPr>
          <p:cNvPr id="57" name="Connector 56"/>
          <p:cNvCxnSpPr/>
          <p:nvPr/>
        </p:nvCxnSpPr>
        <p:spPr>
          <a:xfrm>
            <a:off x="7086600" y="4617720"/>
            <a:ext cx="64007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726679" y="461772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366760" y="461772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9006840" y="416052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006840" y="4160520"/>
            <a:ext cx="640079"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646920" y="416052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287000" y="4160520"/>
            <a:ext cx="0" cy="45720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287000" y="4617720"/>
            <a:ext cx="640080" cy="0"/>
          </a:xfrm>
          <a:prstGeom prst="line">
            <a:avLst/>
          </a:prstGeom>
          <a:ln w="28575">
            <a:solidFill>
              <a:srgbClr val="3B6FD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9208007" y="3218688"/>
            <a:ext cx="237744" cy="237744"/>
          </a:xfrm>
          <a:prstGeom prst="ellipse">
            <a:avLst/>
          </a:prstGeom>
          <a:solidFill>
            <a:srgbClr val="FFC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217920" y="5212080"/>
            <a:ext cx="5120640" cy="640080"/>
          </a:xfrm>
          <a:prstGeom prst="rect">
            <a:avLst/>
          </a:prstGeom>
          <a:noFill/>
        </p:spPr>
        <p:txBody>
          <a:bodyPr wrap="square" lIns="0" rIns="0" tIns="0" bIns="0" anchor="t">
            <a:spAutoFit/>
          </a:bodyPr>
          <a:lstStyle/>
          <a:p>
            <a:pPr algn="l"/>
            <a:r>
              <a:rPr sz="1400" b="0" i="0">
                <a:solidFill>
                  <a:srgbClr val="4F5F74"/>
                </a:solidFill>
                <a:latin typeface="Calibri"/>
              </a:rPr>
              <a:t>Amber dot: cycle 3 is the only cycle where VALID and READY are both high, so that is where the transfer happens.</a:t>
            </a:r>
          </a:p>
        </p:txBody>
      </p:sp>
      <p:sp>
        <p:nvSpPr>
          <p:cNvPr id="67"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68"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What a burst is made of</a:t>
            </a:r>
          </a:p>
        </p:txBody>
      </p:sp>
      <p:sp>
        <p:nvSpPr>
          <p:cNvPr id="3" name="Rounded Rectangle 2"/>
          <p:cNvSpPr/>
          <p:nvPr/>
        </p:nvSpPr>
        <p:spPr>
          <a:xfrm>
            <a:off x="640080" y="1417320"/>
            <a:ext cx="2606040" cy="8686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508760"/>
            <a:ext cx="2286000" cy="365760"/>
          </a:xfrm>
          <a:prstGeom prst="rect">
            <a:avLst/>
          </a:prstGeom>
          <a:noFill/>
        </p:spPr>
        <p:txBody>
          <a:bodyPr wrap="square" lIns="0" rIns="0" tIns="0" bIns="0" anchor="t">
            <a:spAutoFit/>
          </a:bodyPr>
          <a:lstStyle/>
          <a:p>
            <a:pPr algn="l"/>
            <a:r>
              <a:rPr sz="1800" b="1" i="0">
                <a:solidFill>
                  <a:srgbClr val="3B6FD0"/>
                </a:solidFill>
                <a:latin typeface="Consolas"/>
              </a:rPr>
              <a:t>LEN</a:t>
            </a:r>
          </a:p>
        </p:txBody>
      </p:sp>
      <p:sp>
        <p:nvSpPr>
          <p:cNvPr id="5" name="TextBox 4"/>
          <p:cNvSpPr txBox="1"/>
          <p:nvPr/>
        </p:nvSpPr>
        <p:spPr>
          <a:xfrm>
            <a:off x="822959" y="1874519"/>
            <a:ext cx="2286000" cy="365760"/>
          </a:xfrm>
          <a:prstGeom prst="rect">
            <a:avLst/>
          </a:prstGeom>
          <a:noFill/>
        </p:spPr>
        <p:txBody>
          <a:bodyPr wrap="square" lIns="0" rIns="0" tIns="0" bIns="0" anchor="t">
            <a:spAutoFit/>
          </a:bodyPr>
          <a:lstStyle/>
          <a:p>
            <a:pPr algn="l"/>
            <a:r>
              <a:rPr sz="1500" b="0" i="0">
                <a:solidFill>
                  <a:srgbClr val="1E2A3B"/>
                </a:solidFill>
                <a:latin typeface="Calibri"/>
              </a:rPr>
              <a:t>beats minus 1</a:t>
            </a:r>
          </a:p>
        </p:txBody>
      </p:sp>
      <p:sp>
        <p:nvSpPr>
          <p:cNvPr id="6" name="Rounded Rectangle 5"/>
          <p:cNvSpPr/>
          <p:nvPr/>
        </p:nvSpPr>
        <p:spPr>
          <a:xfrm>
            <a:off x="3401568" y="1417320"/>
            <a:ext cx="2606040" cy="8686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84448" y="1508760"/>
            <a:ext cx="2286000" cy="365760"/>
          </a:xfrm>
          <a:prstGeom prst="rect">
            <a:avLst/>
          </a:prstGeom>
          <a:noFill/>
        </p:spPr>
        <p:txBody>
          <a:bodyPr wrap="square" lIns="0" rIns="0" tIns="0" bIns="0" anchor="t">
            <a:spAutoFit/>
          </a:bodyPr>
          <a:lstStyle/>
          <a:p>
            <a:pPr algn="l"/>
            <a:r>
              <a:rPr sz="1800" b="1" i="0">
                <a:solidFill>
                  <a:srgbClr val="3B6FD0"/>
                </a:solidFill>
                <a:latin typeface="Consolas"/>
              </a:rPr>
              <a:t>LAST</a:t>
            </a:r>
          </a:p>
        </p:txBody>
      </p:sp>
      <p:sp>
        <p:nvSpPr>
          <p:cNvPr id="8" name="TextBox 7"/>
          <p:cNvSpPr txBox="1"/>
          <p:nvPr/>
        </p:nvSpPr>
        <p:spPr>
          <a:xfrm>
            <a:off x="3584448" y="1874519"/>
            <a:ext cx="2286000" cy="365760"/>
          </a:xfrm>
          <a:prstGeom prst="rect">
            <a:avLst/>
          </a:prstGeom>
          <a:noFill/>
        </p:spPr>
        <p:txBody>
          <a:bodyPr wrap="square" lIns="0" rIns="0" tIns="0" bIns="0" anchor="t">
            <a:spAutoFit/>
          </a:bodyPr>
          <a:lstStyle/>
          <a:p>
            <a:pPr algn="l"/>
            <a:r>
              <a:rPr sz="1500" b="0" i="0">
                <a:solidFill>
                  <a:srgbClr val="1E2A3B"/>
                </a:solidFill>
                <a:latin typeface="Calibri"/>
              </a:rPr>
              <a:t>marks the final beat</a:t>
            </a:r>
          </a:p>
        </p:txBody>
      </p:sp>
      <p:sp>
        <p:nvSpPr>
          <p:cNvPr id="9" name="Rounded Rectangle 8"/>
          <p:cNvSpPr/>
          <p:nvPr/>
        </p:nvSpPr>
        <p:spPr>
          <a:xfrm>
            <a:off x="6163056" y="1417320"/>
            <a:ext cx="2606040" cy="8686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45936" y="1508760"/>
            <a:ext cx="2286000" cy="365760"/>
          </a:xfrm>
          <a:prstGeom prst="rect">
            <a:avLst/>
          </a:prstGeom>
          <a:noFill/>
        </p:spPr>
        <p:txBody>
          <a:bodyPr wrap="square" lIns="0" rIns="0" tIns="0" bIns="0" anchor="t">
            <a:spAutoFit/>
          </a:bodyPr>
          <a:lstStyle/>
          <a:p>
            <a:pPr algn="l"/>
            <a:r>
              <a:rPr sz="1800" b="1" i="0">
                <a:solidFill>
                  <a:srgbClr val="3B6FD0"/>
                </a:solidFill>
                <a:latin typeface="Consolas"/>
              </a:rPr>
              <a:t>WSTRB</a:t>
            </a:r>
          </a:p>
        </p:txBody>
      </p:sp>
      <p:sp>
        <p:nvSpPr>
          <p:cNvPr id="11" name="TextBox 10"/>
          <p:cNvSpPr txBox="1"/>
          <p:nvPr/>
        </p:nvSpPr>
        <p:spPr>
          <a:xfrm>
            <a:off x="6345936" y="1874519"/>
            <a:ext cx="2286000" cy="365760"/>
          </a:xfrm>
          <a:prstGeom prst="rect">
            <a:avLst/>
          </a:prstGeom>
          <a:noFill/>
        </p:spPr>
        <p:txBody>
          <a:bodyPr wrap="square" lIns="0" rIns="0" tIns="0" bIns="0" anchor="t">
            <a:spAutoFit/>
          </a:bodyPr>
          <a:lstStyle/>
          <a:p>
            <a:pPr algn="l"/>
            <a:r>
              <a:rPr sz="1500" b="0" i="0">
                <a:solidFill>
                  <a:srgbClr val="1E2A3B"/>
                </a:solidFill>
                <a:latin typeface="Calibri"/>
              </a:rPr>
              <a:t>which bytes to write</a:t>
            </a:r>
          </a:p>
        </p:txBody>
      </p:sp>
      <p:sp>
        <p:nvSpPr>
          <p:cNvPr id="12" name="Rounded Rectangle 11"/>
          <p:cNvSpPr/>
          <p:nvPr/>
        </p:nvSpPr>
        <p:spPr>
          <a:xfrm>
            <a:off x="8924544" y="1417320"/>
            <a:ext cx="2606040" cy="8686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07424" y="1508760"/>
            <a:ext cx="2286000" cy="365760"/>
          </a:xfrm>
          <a:prstGeom prst="rect">
            <a:avLst/>
          </a:prstGeom>
          <a:noFill/>
        </p:spPr>
        <p:txBody>
          <a:bodyPr wrap="square" lIns="0" rIns="0" tIns="0" bIns="0" anchor="t">
            <a:spAutoFit/>
          </a:bodyPr>
          <a:lstStyle/>
          <a:p>
            <a:pPr algn="l"/>
            <a:r>
              <a:rPr sz="1800" b="1" i="0">
                <a:solidFill>
                  <a:srgbClr val="3B6FD0"/>
                </a:solidFill>
                <a:latin typeface="Consolas"/>
              </a:rPr>
              <a:t>ID</a:t>
            </a:r>
          </a:p>
        </p:txBody>
      </p:sp>
      <p:sp>
        <p:nvSpPr>
          <p:cNvPr id="14" name="TextBox 13"/>
          <p:cNvSpPr txBox="1"/>
          <p:nvPr/>
        </p:nvSpPr>
        <p:spPr>
          <a:xfrm>
            <a:off x="9107424" y="1874519"/>
            <a:ext cx="2286000" cy="365760"/>
          </a:xfrm>
          <a:prstGeom prst="rect">
            <a:avLst/>
          </a:prstGeom>
          <a:noFill/>
        </p:spPr>
        <p:txBody>
          <a:bodyPr wrap="square" lIns="0" rIns="0" tIns="0" bIns="0" anchor="t">
            <a:spAutoFit/>
          </a:bodyPr>
          <a:lstStyle/>
          <a:p>
            <a:pPr algn="l"/>
            <a:r>
              <a:rPr sz="1500" b="0" i="0">
                <a:solidFill>
                  <a:srgbClr val="1E2A3B"/>
                </a:solidFill>
                <a:latin typeface="Calibri"/>
              </a:rPr>
              <a:t>tag copied to the response</a:t>
            </a:r>
          </a:p>
        </p:txBody>
      </p:sp>
      <p:sp>
        <p:nvSpPr>
          <p:cNvPr id="15" name="TextBox 14"/>
          <p:cNvSpPr txBox="1"/>
          <p:nvPr/>
        </p:nvSpPr>
        <p:spPr>
          <a:xfrm>
            <a:off x="640080" y="2560320"/>
            <a:ext cx="10881360" cy="365760"/>
          </a:xfrm>
          <a:prstGeom prst="rect">
            <a:avLst/>
          </a:prstGeom>
          <a:noFill/>
        </p:spPr>
        <p:txBody>
          <a:bodyPr wrap="square" lIns="0" rIns="0" tIns="0" bIns="0" anchor="t">
            <a:spAutoFit/>
          </a:bodyPr>
          <a:lstStyle/>
          <a:p>
            <a:pPr algn="l"/>
            <a:r>
              <a:rPr sz="1700" b="0" i="0">
                <a:solidFill>
                  <a:srgbClr val="4F5F74"/>
                </a:solidFill>
                <a:latin typeface="Calibri"/>
              </a:rPr>
              <a:t>What the master sends: four words starting at address 0x10, with AxLEN = 3</a:t>
            </a:r>
          </a:p>
        </p:txBody>
      </p:sp>
      <p:sp>
        <p:nvSpPr>
          <p:cNvPr id="16" name="Rounded Rectangle 15"/>
          <p:cNvSpPr/>
          <p:nvPr/>
        </p:nvSpPr>
        <p:spPr>
          <a:xfrm>
            <a:off x="640080" y="3108960"/>
            <a:ext cx="260604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291840"/>
            <a:ext cx="2148840" cy="365760"/>
          </a:xfrm>
          <a:prstGeom prst="rect">
            <a:avLst/>
          </a:prstGeom>
          <a:noFill/>
        </p:spPr>
        <p:txBody>
          <a:bodyPr wrap="square" lIns="0" rIns="0" tIns="0" bIns="0" anchor="t">
            <a:spAutoFit/>
          </a:bodyPr>
          <a:lstStyle/>
          <a:p>
            <a:pPr algn="l"/>
            <a:r>
              <a:rPr sz="1500" b="0" i="0">
                <a:solidFill>
                  <a:srgbClr val="4F5F74"/>
                </a:solidFill>
                <a:latin typeface="Calibri"/>
              </a:rPr>
              <a:t>beat 0</a:t>
            </a:r>
          </a:p>
        </p:txBody>
      </p:sp>
      <p:sp>
        <p:nvSpPr>
          <p:cNvPr id="18" name="TextBox 17"/>
          <p:cNvSpPr txBox="1"/>
          <p:nvPr/>
        </p:nvSpPr>
        <p:spPr>
          <a:xfrm>
            <a:off x="896112" y="3703320"/>
            <a:ext cx="2148840" cy="457200"/>
          </a:xfrm>
          <a:prstGeom prst="rect">
            <a:avLst/>
          </a:prstGeom>
          <a:noFill/>
        </p:spPr>
        <p:txBody>
          <a:bodyPr wrap="square" lIns="0" rIns="0" tIns="0" bIns="0" anchor="t">
            <a:spAutoFit/>
          </a:bodyPr>
          <a:lstStyle/>
          <a:p>
            <a:pPr algn="l"/>
            <a:r>
              <a:rPr sz="2600" b="1" i="0">
                <a:solidFill>
                  <a:srgbClr val="1E2A3B"/>
                </a:solidFill>
                <a:latin typeface="Consolas"/>
              </a:rPr>
              <a:t>0x10</a:t>
            </a:r>
          </a:p>
        </p:txBody>
      </p:sp>
      <p:sp>
        <p:nvSpPr>
          <p:cNvPr id="19" name="TextBox 18"/>
          <p:cNvSpPr txBox="1"/>
          <p:nvPr/>
        </p:nvSpPr>
        <p:spPr>
          <a:xfrm>
            <a:off x="896112" y="4297680"/>
            <a:ext cx="2148840" cy="365760"/>
          </a:xfrm>
          <a:prstGeom prst="rect">
            <a:avLst/>
          </a:prstGeom>
          <a:noFill/>
        </p:spPr>
        <p:txBody>
          <a:bodyPr wrap="square" lIns="0" rIns="0" tIns="0" bIns="0" anchor="t">
            <a:spAutoFit/>
          </a:bodyPr>
          <a:lstStyle/>
          <a:p>
            <a:pPr algn="l"/>
            <a:r>
              <a:rPr sz="1600" b="0" i="0">
                <a:solidFill>
                  <a:srgbClr val="1E2A3B"/>
                </a:solidFill>
                <a:latin typeface="Consolas"/>
              </a:rPr>
              <a:t>0xA5A5_0001</a:t>
            </a:r>
          </a:p>
        </p:txBody>
      </p:sp>
      <p:sp>
        <p:nvSpPr>
          <p:cNvPr id="20" name="TextBox 19"/>
          <p:cNvSpPr txBox="1"/>
          <p:nvPr/>
        </p:nvSpPr>
        <p:spPr>
          <a:xfrm>
            <a:off x="896112" y="4709160"/>
            <a:ext cx="2148840" cy="365760"/>
          </a:xfrm>
          <a:prstGeom prst="rect">
            <a:avLst/>
          </a:prstGeom>
          <a:noFill/>
        </p:spPr>
        <p:txBody>
          <a:bodyPr wrap="square" lIns="0" rIns="0" tIns="0" bIns="0" anchor="t">
            <a:spAutoFit/>
          </a:bodyPr>
          <a:lstStyle/>
          <a:p>
            <a:pPr algn="l"/>
            <a:r>
              <a:rPr sz="1400" b="0" i="0">
                <a:solidFill>
                  <a:srgbClr val="4F5F74"/>
                </a:solidFill>
                <a:latin typeface="Calibri"/>
              </a:rPr>
              <a:t>WLAST = 0</a:t>
            </a:r>
          </a:p>
        </p:txBody>
      </p:sp>
      <p:sp>
        <p:nvSpPr>
          <p:cNvPr id="21" name="Rounded Rectangle 20"/>
          <p:cNvSpPr/>
          <p:nvPr/>
        </p:nvSpPr>
        <p:spPr>
          <a:xfrm>
            <a:off x="3401568" y="3108960"/>
            <a:ext cx="260604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57600" y="3291840"/>
            <a:ext cx="2148840" cy="365760"/>
          </a:xfrm>
          <a:prstGeom prst="rect">
            <a:avLst/>
          </a:prstGeom>
          <a:noFill/>
        </p:spPr>
        <p:txBody>
          <a:bodyPr wrap="square" lIns="0" rIns="0" tIns="0" bIns="0" anchor="t">
            <a:spAutoFit/>
          </a:bodyPr>
          <a:lstStyle/>
          <a:p>
            <a:pPr algn="l"/>
            <a:r>
              <a:rPr sz="1500" b="0" i="0">
                <a:solidFill>
                  <a:srgbClr val="4F5F74"/>
                </a:solidFill>
                <a:latin typeface="Calibri"/>
              </a:rPr>
              <a:t>beat 1</a:t>
            </a:r>
          </a:p>
        </p:txBody>
      </p:sp>
      <p:sp>
        <p:nvSpPr>
          <p:cNvPr id="23" name="TextBox 22"/>
          <p:cNvSpPr txBox="1"/>
          <p:nvPr/>
        </p:nvSpPr>
        <p:spPr>
          <a:xfrm>
            <a:off x="3657600" y="3703320"/>
            <a:ext cx="2148840" cy="457200"/>
          </a:xfrm>
          <a:prstGeom prst="rect">
            <a:avLst/>
          </a:prstGeom>
          <a:noFill/>
        </p:spPr>
        <p:txBody>
          <a:bodyPr wrap="square" lIns="0" rIns="0" tIns="0" bIns="0" anchor="t">
            <a:spAutoFit/>
          </a:bodyPr>
          <a:lstStyle/>
          <a:p>
            <a:pPr algn="l"/>
            <a:r>
              <a:rPr sz="2600" b="1" i="0">
                <a:solidFill>
                  <a:srgbClr val="1E2A3B"/>
                </a:solidFill>
                <a:latin typeface="Consolas"/>
              </a:rPr>
              <a:t>0x14</a:t>
            </a:r>
          </a:p>
        </p:txBody>
      </p:sp>
      <p:sp>
        <p:nvSpPr>
          <p:cNvPr id="24" name="TextBox 23"/>
          <p:cNvSpPr txBox="1"/>
          <p:nvPr/>
        </p:nvSpPr>
        <p:spPr>
          <a:xfrm>
            <a:off x="3657600" y="4297680"/>
            <a:ext cx="2148840" cy="365760"/>
          </a:xfrm>
          <a:prstGeom prst="rect">
            <a:avLst/>
          </a:prstGeom>
          <a:noFill/>
        </p:spPr>
        <p:txBody>
          <a:bodyPr wrap="square" lIns="0" rIns="0" tIns="0" bIns="0" anchor="t">
            <a:spAutoFit/>
          </a:bodyPr>
          <a:lstStyle/>
          <a:p>
            <a:pPr algn="l"/>
            <a:r>
              <a:rPr sz="1600" b="0" i="0">
                <a:solidFill>
                  <a:srgbClr val="1E2A3B"/>
                </a:solidFill>
                <a:latin typeface="Consolas"/>
              </a:rPr>
              <a:t>0x5A5A_0002</a:t>
            </a:r>
          </a:p>
        </p:txBody>
      </p:sp>
      <p:sp>
        <p:nvSpPr>
          <p:cNvPr id="25" name="TextBox 24"/>
          <p:cNvSpPr txBox="1"/>
          <p:nvPr/>
        </p:nvSpPr>
        <p:spPr>
          <a:xfrm>
            <a:off x="3657600" y="4709160"/>
            <a:ext cx="2148840" cy="365760"/>
          </a:xfrm>
          <a:prstGeom prst="rect">
            <a:avLst/>
          </a:prstGeom>
          <a:noFill/>
        </p:spPr>
        <p:txBody>
          <a:bodyPr wrap="square" lIns="0" rIns="0" tIns="0" bIns="0" anchor="t">
            <a:spAutoFit/>
          </a:bodyPr>
          <a:lstStyle/>
          <a:p>
            <a:pPr algn="l"/>
            <a:r>
              <a:rPr sz="1400" b="0" i="0">
                <a:solidFill>
                  <a:srgbClr val="4F5F74"/>
                </a:solidFill>
                <a:latin typeface="Calibri"/>
              </a:rPr>
              <a:t>WLAST = 0</a:t>
            </a:r>
          </a:p>
        </p:txBody>
      </p:sp>
      <p:sp>
        <p:nvSpPr>
          <p:cNvPr id="26" name="Rounded Rectangle 25"/>
          <p:cNvSpPr/>
          <p:nvPr/>
        </p:nvSpPr>
        <p:spPr>
          <a:xfrm>
            <a:off x="6163056" y="3108960"/>
            <a:ext cx="260604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19088" y="3291840"/>
            <a:ext cx="2148840" cy="365760"/>
          </a:xfrm>
          <a:prstGeom prst="rect">
            <a:avLst/>
          </a:prstGeom>
          <a:noFill/>
        </p:spPr>
        <p:txBody>
          <a:bodyPr wrap="square" lIns="0" rIns="0" tIns="0" bIns="0" anchor="t">
            <a:spAutoFit/>
          </a:bodyPr>
          <a:lstStyle/>
          <a:p>
            <a:pPr algn="l"/>
            <a:r>
              <a:rPr sz="1500" b="0" i="0">
                <a:solidFill>
                  <a:srgbClr val="4F5F74"/>
                </a:solidFill>
                <a:latin typeface="Calibri"/>
              </a:rPr>
              <a:t>beat 2</a:t>
            </a:r>
          </a:p>
        </p:txBody>
      </p:sp>
      <p:sp>
        <p:nvSpPr>
          <p:cNvPr id="28" name="TextBox 27"/>
          <p:cNvSpPr txBox="1"/>
          <p:nvPr/>
        </p:nvSpPr>
        <p:spPr>
          <a:xfrm>
            <a:off x="6419088" y="3703320"/>
            <a:ext cx="2148840" cy="457200"/>
          </a:xfrm>
          <a:prstGeom prst="rect">
            <a:avLst/>
          </a:prstGeom>
          <a:noFill/>
        </p:spPr>
        <p:txBody>
          <a:bodyPr wrap="square" lIns="0" rIns="0" tIns="0" bIns="0" anchor="t">
            <a:spAutoFit/>
          </a:bodyPr>
          <a:lstStyle/>
          <a:p>
            <a:pPr algn="l"/>
            <a:r>
              <a:rPr sz="2600" b="1" i="0">
                <a:solidFill>
                  <a:srgbClr val="1E2A3B"/>
                </a:solidFill>
                <a:latin typeface="Consolas"/>
              </a:rPr>
              <a:t>0x18</a:t>
            </a:r>
          </a:p>
        </p:txBody>
      </p:sp>
      <p:sp>
        <p:nvSpPr>
          <p:cNvPr id="29" name="TextBox 28"/>
          <p:cNvSpPr txBox="1"/>
          <p:nvPr/>
        </p:nvSpPr>
        <p:spPr>
          <a:xfrm>
            <a:off x="6419088" y="4297680"/>
            <a:ext cx="2148840" cy="365760"/>
          </a:xfrm>
          <a:prstGeom prst="rect">
            <a:avLst/>
          </a:prstGeom>
          <a:noFill/>
        </p:spPr>
        <p:txBody>
          <a:bodyPr wrap="square" lIns="0" rIns="0" tIns="0" bIns="0" anchor="t">
            <a:spAutoFit/>
          </a:bodyPr>
          <a:lstStyle/>
          <a:p>
            <a:pPr algn="l"/>
            <a:r>
              <a:rPr sz="1600" b="0" i="0">
                <a:solidFill>
                  <a:srgbClr val="1E2A3B"/>
                </a:solidFill>
                <a:latin typeface="Consolas"/>
              </a:rPr>
              <a:t>0xDEAD_BEEF</a:t>
            </a:r>
          </a:p>
        </p:txBody>
      </p:sp>
      <p:sp>
        <p:nvSpPr>
          <p:cNvPr id="30" name="TextBox 29"/>
          <p:cNvSpPr txBox="1"/>
          <p:nvPr/>
        </p:nvSpPr>
        <p:spPr>
          <a:xfrm>
            <a:off x="6419088" y="4709160"/>
            <a:ext cx="2148840" cy="365760"/>
          </a:xfrm>
          <a:prstGeom prst="rect">
            <a:avLst/>
          </a:prstGeom>
          <a:noFill/>
        </p:spPr>
        <p:txBody>
          <a:bodyPr wrap="square" lIns="0" rIns="0" tIns="0" bIns="0" anchor="t">
            <a:spAutoFit/>
          </a:bodyPr>
          <a:lstStyle/>
          <a:p>
            <a:pPr algn="l"/>
            <a:r>
              <a:rPr sz="1400" b="0" i="0">
                <a:solidFill>
                  <a:srgbClr val="4F5F74"/>
                </a:solidFill>
                <a:latin typeface="Calibri"/>
              </a:rPr>
              <a:t>WLAST = 0</a:t>
            </a:r>
          </a:p>
        </p:txBody>
      </p:sp>
      <p:sp>
        <p:nvSpPr>
          <p:cNvPr id="31" name="Rounded Rectangle 30"/>
          <p:cNvSpPr/>
          <p:nvPr/>
        </p:nvSpPr>
        <p:spPr>
          <a:xfrm>
            <a:off x="8924544" y="3108960"/>
            <a:ext cx="2606040" cy="210312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180576" y="3291840"/>
            <a:ext cx="2148840" cy="365760"/>
          </a:xfrm>
          <a:prstGeom prst="rect">
            <a:avLst/>
          </a:prstGeom>
          <a:noFill/>
        </p:spPr>
        <p:txBody>
          <a:bodyPr wrap="square" lIns="0" rIns="0" tIns="0" bIns="0" anchor="t">
            <a:spAutoFit/>
          </a:bodyPr>
          <a:lstStyle/>
          <a:p>
            <a:pPr algn="l"/>
            <a:r>
              <a:rPr sz="1500" b="0" i="0">
                <a:solidFill>
                  <a:srgbClr val="4F5F74"/>
                </a:solidFill>
                <a:latin typeface="Calibri"/>
              </a:rPr>
              <a:t>beat 3</a:t>
            </a:r>
          </a:p>
        </p:txBody>
      </p:sp>
      <p:sp>
        <p:nvSpPr>
          <p:cNvPr id="33" name="TextBox 32"/>
          <p:cNvSpPr txBox="1"/>
          <p:nvPr/>
        </p:nvSpPr>
        <p:spPr>
          <a:xfrm>
            <a:off x="9180576" y="3703320"/>
            <a:ext cx="2148840" cy="457200"/>
          </a:xfrm>
          <a:prstGeom prst="rect">
            <a:avLst/>
          </a:prstGeom>
          <a:noFill/>
        </p:spPr>
        <p:txBody>
          <a:bodyPr wrap="square" lIns="0" rIns="0" tIns="0" bIns="0" anchor="t">
            <a:spAutoFit/>
          </a:bodyPr>
          <a:lstStyle/>
          <a:p>
            <a:pPr algn="l"/>
            <a:r>
              <a:rPr sz="2600" b="1" i="0">
                <a:solidFill>
                  <a:srgbClr val="1E2A3B"/>
                </a:solidFill>
                <a:latin typeface="Consolas"/>
              </a:rPr>
              <a:t>0x1C</a:t>
            </a:r>
          </a:p>
        </p:txBody>
      </p:sp>
      <p:sp>
        <p:nvSpPr>
          <p:cNvPr id="34" name="TextBox 33"/>
          <p:cNvSpPr txBox="1"/>
          <p:nvPr/>
        </p:nvSpPr>
        <p:spPr>
          <a:xfrm>
            <a:off x="9180576" y="4297680"/>
            <a:ext cx="2148840" cy="365760"/>
          </a:xfrm>
          <a:prstGeom prst="rect">
            <a:avLst/>
          </a:prstGeom>
          <a:noFill/>
        </p:spPr>
        <p:txBody>
          <a:bodyPr wrap="square" lIns="0" rIns="0" tIns="0" bIns="0" anchor="t">
            <a:spAutoFit/>
          </a:bodyPr>
          <a:lstStyle/>
          <a:p>
            <a:pPr algn="l"/>
            <a:r>
              <a:rPr sz="1600" b="0" i="0">
                <a:solidFill>
                  <a:srgbClr val="1E2A3B"/>
                </a:solidFill>
                <a:latin typeface="Consolas"/>
              </a:rPr>
              <a:t>0x0BAD_F00D</a:t>
            </a:r>
          </a:p>
        </p:txBody>
      </p:sp>
      <p:sp>
        <p:nvSpPr>
          <p:cNvPr id="35" name="TextBox 34"/>
          <p:cNvSpPr txBox="1"/>
          <p:nvPr/>
        </p:nvSpPr>
        <p:spPr>
          <a:xfrm>
            <a:off x="9180576" y="4709160"/>
            <a:ext cx="2148840" cy="365760"/>
          </a:xfrm>
          <a:prstGeom prst="rect">
            <a:avLst/>
          </a:prstGeom>
          <a:noFill/>
        </p:spPr>
        <p:txBody>
          <a:bodyPr wrap="square" lIns="0" rIns="0" tIns="0" bIns="0" anchor="t">
            <a:spAutoFit/>
          </a:bodyPr>
          <a:lstStyle/>
          <a:p>
            <a:pPr algn="l"/>
            <a:r>
              <a:rPr sz="1400" b="1" i="0">
                <a:solidFill>
                  <a:srgbClr val="8F5C00"/>
                </a:solidFill>
                <a:latin typeface="Calibri"/>
              </a:rPr>
              <a:t>WLAST = 1 on this beat</a:t>
            </a:r>
          </a:p>
        </p:txBody>
      </p:sp>
      <p:sp>
        <p:nvSpPr>
          <p:cNvPr id="36" name="TextBox 35"/>
          <p:cNvSpPr txBox="1"/>
          <p:nvPr/>
        </p:nvSpPr>
        <p:spPr>
          <a:xfrm>
            <a:off x="640080" y="5532120"/>
            <a:ext cx="10881360" cy="457200"/>
          </a:xfrm>
          <a:prstGeom prst="rect">
            <a:avLst/>
          </a:prstGeom>
          <a:noFill/>
        </p:spPr>
        <p:txBody>
          <a:bodyPr wrap="square" lIns="0" rIns="0" tIns="0" bIns="0" anchor="t">
            <a:spAutoFit/>
          </a:bodyPr>
          <a:lstStyle/>
          <a:p>
            <a:pPr algn="l"/>
            <a:r>
              <a:rPr sz="1600" b="0" i="1">
                <a:solidFill>
                  <a:srgbClr val="4F5F74"/>
                </a:solidFill>
                <a:latin typeface="Calibri"/>
              </a:rPr>
              <a:t>The address goes up by 4 for each beat, because each word is 4 bytes.</a:t>
            </a:r>
          </a:p>
        </p:txBody>
      </p:sp>
      <p:sp>
        <p:nvSpPr>
          <p:cNvPr id="37"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38"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System architecture</a:t>
            </a:r>
          </a:p>
        </p:txBody>
      </p:sp>
      <p:pic>
        <p:nvPicPr>
          <p:cNvPr id="3" name="Picture 2" descr="Block diagram: input D flip-flops, axi4_master, the five channels connecting directly to axi4_slave with write engine, read engine and 4 KiB memory, and output D flip-flops that catch the read data."/>
          <p:cNvPicPr>
            <a:picLocks noChangeAspect="1"/>
          </p:cNvPicPr>
          <p:nvPr/>
        </p:nvPicPr>
        <p:blipFill>
          <a:blip r:embed="rId3"/>
          <a:stretch>
            <a:fillRect/>
          </a:stretch>
        </p:blipFill>
        <p:spPr>
          <a:xfrm>
            <a:off x="822960" y="1371600"/>
            <a:ext cx="10515600" cy="4089400"/>
          </a:xfrm>
          <a:prstGeom prst="rect">
            <a:avLst/>
          </a:prstGeom>
        </p:spPr>
      </p:pic>
      <p:sp>
        <p:nvSpPr>
          <p:cNvPr id="4" name="TextBox 3"/>
          <p:cNvSpPr txBox="1"/>
          <p:nvPr/>
        </p:nvSpPr>
        <p:spPr>
          <a:xfrm>
            <a:off x="640080" y="5760720"/>
            <a:ext cx="10881360" cy="274320"/>
          </a:xfrm>
          <a:prstGeom prst="rect">
            <a:avLst/>
          </a:prstGeom>
          <a:noFill/>
        </p:spPr>
        <p:txBody>
          <a:bodyPr wrap="square" lIns="0" rIns="0" tIns="0" bIns="0" anchor="t">
            <a:spAutoFit/>
          </a:bodyPr>
          <a:lstStyle/>
          <a:p>
            <a:pPr algn="l"/>
            <a:r>
              <a:rPr sz="1400" b="0" i="1">
                <a:solidFill>
                  <a:srgbClr val="4F5F74"/>
                </a:solidFill>
                <a:latin typeface="Calibri"/>
              </a:rPr>
              <a:t>Yellow boxes are the D flip-flops. The master and the slave are connected directly.</a:t>
            </a:r>
          </a:p>
        </p:txBody>
      </p:sp>
      <p:sp>
        <p:nvSpPr>
          <p:cNvPr id="5"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6"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The master, step by step</a:t>
            </a:r>
          </a:p>
        </p:txBody>
      </p:sp>
      <p:sp>
        <p:nvSpPr>
          <p:cNvPr id="3" name="Rounded Rectangle 2"/>
          <p:cNvSpPr/>
          <p:nvPr/>
        </p:nvSpPr>
        <p:spPr>
          <a:xfrm>
            <a:off x="640080" y="1463040"/>
            <a:ext cx="1449062" cy="2651760"/>
          </a:xfrm>
          <a:prstGeom prst="roundRect">
            <a:avLst>
              <a:gd name="adj" fmla="val 6000"/>
            </a:avLst>
          </a:prstGeom>
          <a:solidFill>
            <a:srgbClr val="FFFFFF"/>
          </a:solidFill>
          <a:ln w="190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S_IDLE</a:t>
            </a:r>
          </a:p>
        </p:txBody>
      </p:sp>
      <p:sp>
        <p:nvSpPr>
          <p:cNvPr id="5" name="TextBox 4"/>
          <p:cNvSpPr txBox="1"/>
          <p:nvPr/>
        </p:nvSpPr>
        <p:spPr>
          <a:xfrm>
            <a:off x="749808"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Waits for start.</a:t>
            </a:r>
          </a:p>
        </p:txBody>
      </p:sp>
      <p:cxnSp>
        <p:nvCxnSpPr>
          <p:cNvPr id="6" name="Connector 5"/>
          <p:cNvCxnSpPr/>
          <p:nvPr/>
        </p:nvCxnSpPr>
        <p:spPr>
          <a:xfrm>
            <a:off x="2098286"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217158" y="1463040"/>
            <a:ext cx="1449062" cy="265176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326886"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S_AW</a:t>
            </a:r>
          </a:p>
        </p:txBody>
      </p:sp>
      <p:sp>
        <p:nvSpPr>
          <p:cNvPr id="9" name="TextBox 8"/>
          <p:cNvSpPr txBox="1"/>
          <p:nvPr/>
        </p:nvSpPr>
        <p:spPr>
          <a:xfrm>
            <a:off x="2326886"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Sends the write address.</a:t>
            </a:r>
          </a:p>
        </p:txBody>
      </p:sp>
      <p:cxnSp>
        <p:nvCxnSpPr>
          <p:cNvPr id="10" name="Connector 9"/>
          <p:cNvCxnSpPr/>
          <p:nvPr/>
        </p:nvCxnSpPr>
        <p:spPr>
          <a:xfrm>
            <a:off x="3675365"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94237" y="1463040"/>
            <a:ext cx="1449062" cy="265176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903965"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S_W</a:t>
            </a:r>
          </a:p>
        </p:txBody>
      </p:sp>
      <p:sp>
        <p:nvSpPr>
          <p:cNvPr id="13" name="TextBox 12"/>
          <p:cNvSpPr txBox="1"/>
          <p:nvPr/>
        </p:nvSpPr>
        <p:spPr>
          <a:xfrm>
            <a:off x="3903965"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Sends the four words from the input DFFs. WLAST on the fourth.</a:t>
            </a:r>
          </a:p>
        </p:txBody>
      </p:sp>
      <p:cxnSp>
        <p:nvCxnSpPr>
          <p:cNvPr id="14" name="Connector 13"/>
          <p:cNvCxnSpPr/>
          <p:nvPr/>
        </p:nvCxnSpPr>
        <p:spPr>
          <a:xfrm>
            <a:off x="5252444"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71316" y="1463040"/>
            <a:ext cx="1449062" cy="265176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1044"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S_B</a:t>
            </a:r>
          </a:p>
        </p:txBody>
      </p:sp>
      <p:sp>
        <p:nvSpPr>
          <p:cNvPr id="17" name="TextBox 16"/>
          <p:cNvSpPr txBox="1"/>
          <p:nvPr/>
        </p:nvSpPr>
        <p:spPr>
          <a:xfrm>
            <a:off x="5481044"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Waits for the one write response.</a:t>
            </a:r>
          </a:p>
        </p:txBody>
      </p:sp>
      <p:cxnSp>
        <p:nvCxnSpPr>
          <p:cNvPr id="18" name="Connector 17"/>
          <p:cNvCxnSpPr/>
          <p:nvPr/>
        </p:nvCxnSpPr>
        <p:spPr>
          <a:xfrm>
            <a:off x="6829522"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48394" y="1463040"/>
            <a:ext cx="1449062" cy="265176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8122"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S_AR</a:t>
            </a:r>
          </a:p>
        </p:txBody>
      </p:sp>
      <p:sp>
        <p:nvSpPr>
          <p:cNvPr id="21" name="TextBox 20"/>
          <p:cNvSpPr txBox="1"/>
          <p:nvPr/>
        </p:nvSpPr>
        <p:spPr>
          <a:xfrm>
            <a:off x="7058122"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Sends the read address.</a:t>
            </a:r>
          </a:p>
        </p:txBody>
      </p:sp>
      <p:cxnSp>
        <p:nvCxnSpPr>
          <p:cNvPr id="22" name="Connector 21"/>
          <p:cNvCxnSpPr/>
          <p:nvPr/>
        </p:nvCxnSpPr>
        <p:spPr>
          <a:xfrm>
            <a:off x="8406601"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25473" y="1463040"/>
            <a:ext cx="1449062" cy="265176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35201"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S_R</a:t>
            </a:r>
          </a:p>
        </p:txBody>
      </p:sp>
      <p:sp>
        <p:nvSpPr>
          <p:cNvPr id="25" name="TextBox 24"/>
          <p:cNvSpPr txBox="1"/>
          <p:nvPr/>
        </p:nvSpPr>
        <p:spPr>
          <a:xfrm>
            <a:off x="8635201"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Hands each beat to the output DFFs. Ends on RLAST.</a:t>
            </a:r>
          </a:p>
        </p:txBody>
      </p:sp>
      <p:cxnSp>
        <p:nvCxnSpPr>
          <p:cNvPr id="26" name="Connector 25"/>
          <p:cNvCxnSpPr/>
          <p:nvPr/>
        </p:nvCxnSpPr>
        <p:spPr>
          <a:xfrm>
            <a:off x="9983680" y="2788920"/>
            <a:ext cx="109728"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102552" y="1463040"/>
            <a:ext cx="1449062" cy="265176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212280" y="1627632"/>
            <a:ext cx="1229606" cy="457200"/>
          </a:xfrm>
          <a:prstGeom prst="rect">
            <a:avLst/>
          </a:prstGeom>
          <a:noFill/>
        </p:spPr>
        <p:txBody>
          <a:bodyPr wrap="square" lIns="0" rIns="0" tIns="0" bIns="0" anchor="t">
            <a:spAutoFit/>
          </a:bodyPr>
          <a:lstStyle/>
          <a:p>
            <a:pPr algn="l"/>
            <a:r>
              <a:rPr sz="1600" b="1" i="0">
                <a:solidFill>
                  <a:srgbClr val="1E2A3B"/>
                </a:solidFill>
                <a:latin typeface="Consolas"/>
              </a:rPr>
              <a:t>S_DONE</a:t>
            </a:r>
          </a:p>
        </p:txBody>
      </p:sp>
      <p:sp>
        <p:nvSpPr>
          <p:cNvPr id="29" name="TextBox 28"/>
          <p:cNvSpPr txBox="1"/>
          <p:nvPr/>
        </p:nvSpPr>
        <p:spPr>
          <a:xfrm>
            <a:off x="10212280" y="2194560"/>
            <a:ext cx="1229606" cy="1828800"/>
          </a:xfrm>
          <a:prstGeom prst="rect">
            <a:avLst/>
          </a:prstGeom>
          <a:noFill/>
        </p:spPr>
        <p:txBody>
          <a:bodyPr wrap="square" lIns="0" rIns="0" tIns="0" bIns="0" anchor="t">
            <a:spAutoFit/>
          </a:bodyPr>
          <a:lstStyle/>
          <a:p>
            <a:pPr algn="l"/>
            <a:r>
              <a:rPr sz="1400" b="0" i="0">
                <a:solidFill>
                  <a:srgbClr val="1E2A3B"/>
                </a:solidFill>
                <a:latin typeface="Calibri"/>
              </a:rPr>
              <a:t>done = 1 until start drops.</a:t>
            </a:r>
          </a:p>
        </p:txBody>
      </p:sp>
      <p:sp>
        <p:nvSpPr>
          <p:cNvPr id="30" name="Rounded Rectangle 29"/>
          <p:cNvSpPr/>
          <p:nvPr/>
        </p:nvSpPr>
        <p:spPr>
          <a:xfrm>
            <a:off x="640080" y="4434840"/>
            <a:ext cx="5349240"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4572000"/>
            <a:ext cx="4846320" cy="365760"/>
          </a:xfrm>
          <a:prstGeom prst="rect">
            <a:avLst/>
          </a:prstGeom>
          <a:noFill/>
        </p:spPr>
        <p:txBody>
          <a:bodyPr wrap="square" lIns="0" rIns="0" tIns="0" bIns="0" anchor="t">
            <a:spAutoFit/>
          </a:bodyPr>
          <a:lstStyle/>
          <a:p>
            <a:pPr algn="l"/>
            <a:r>
              <a:rPr sz="1800" b="1" i="0">
                <a:solidFill>
                  <a:srgbClr val="1E2A3B"/>
                </a:solidFill>
                <a:latin typeface="Cambria"/>
              </a:rPr>
              <a:t>Data from the input DFFs</a:t>
            </a:r>
          </a:p>
        </p:txBody>
      </p:sp>
      <p:sp>
        <p:nvSpPr>
          <p:cNvPr id="32" name="TextBox 31"/>
          <p:cNvSpPr txBox="1"/>
          <p:nvPr/>
        </p:nvSpPr>
        <p:spPr>
          <a:xfrm>
            <a:off x="914400" y="5029200"/>
            <a:ext cx="4846320" cy="1005840"/>
          </a:xfrm>
          <a:prstGeom prst="rect">
            <a:avLst/>
          </a:prstGeom>
          <a:noFill/>
        </p:spPr>
        <p:txBody>
          <a:bodyPr wrap="square" lIns="0" rIns="0" tIns="0" bIns="0" anchor="t">
            <a:spAutoFit/>
          </a:bodyPr>
          <a:lstStyle/>
          <a:p>
            <a:pPr algn="l"/>
            <a:r>
              <a:rPr sz="1500" b="0" i="0">
                <a:solidFill>
                  <a:srgbClr val="1E2A3B"/>
                </a:solidFill>
                <a:latin typeface="Calibri"/>
              </a:rPr>
              <a:t>The address and four words are not in the master. The testbench loads them into the input DFFs and the master reads them from there.</a:t>
            </a:r>
          </a:p>
        </p:txBody>
      </p:sp>
      <p:sp>
        <p:nvSpPr>
          <p:cNvPr id="33" name="Rounded Rectangle 32"/>
          <p:cNvSpPr/>
          <p:nvPr/>
        </p:nvSpPr>
        <p:spPr>
          <a:xfrm>
            <a:off x="6172200" y="4434840"/>
            <a:ext cx="5349240"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46520" y="4572000"/>
            <a:ext cx="4846320" cy="365760"/>
          </a:xfrm>
          <a:prstGeom prst="rect">
            <a:avLst/>
          </a:prstGeom>
          <a:noFill/>
        </p:spPr>
        <p:txBody>
          <a:bodyPr wrap="square" lIns="0" rIns="0" tIns="0" bIns="0" anchor="t">
            <a:spAutoFit/>
          </a:bodyPr>
          <a:lstStyle/>
          <a:p>
            <a:pPr algn="l"/>
            <a:r>
              <a:rPr sz="1800" b="1" i="0">
                <a:solidFill>
                  <a:srgbClr val="1E2A3B"/>
                </a:solidFill>
                <a:latin typeface="Cambria"/>
              </a:rPr>
              <a:t>Start and done</a:t>
            </a:r>
          </a:p>
        </p:txBody>
      </p:sp>
      <p:sp>
        <p:nvSpPr>
          <p:cNvPr id="35" name="TextBox 34"/>
          <p:cNvSpPr txBox="1"/>
          <p:nvPr/>
        </p:nvSpPr>
        <p:spPr>
          <a:xfrm>
            <a:off x="6446520" y="5029200"/>
            <a:ext cx="4846320" cy="1005840"/>
          </a:xfrm>
          <a:prstGeom prst="rect">
            <a:avLst/>
          </a:prstGeom>
          <a:noFill/>
        </p:spPr>
        <p:txBody>
          <a:bodyPr wrap="square" lIns="0" rIns="0" tIns="0" bIns="0" anchor="t">
            <a:spAutoFit/>
          </a:bodyPr>
          <a:lstStyle/>
          <a:p>
            <a:pPr algn="l"/>
            <a:r>
              <a:rPr sz="1500" b="0" i="0">
                <a:solidFill>
                  <a:srgbClr val="1E2A3B"/>
                </a:solidFill>
                <a:latin typeface="Calibri"/>
              </a:rPr>
              <a:t>Nothing happens until start goes high. done goes high when the read has finished; drop start to run it again.</a:t>
            </a:r>
          </a:p>
        </p:txBody>
      </p:sp>
      <p:sp>
        <p:nvSpPr>
          <p:cNvPr id="36"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37"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The D flip-flops at both ends</a:t>
            </a:r>
          </a:p>
        </p:txBody>
      </p:sp>
      <p:sp>
        <p:nvSpPr>
          <p:cNvPr id="3" name="Rounded Rectangle 2"/>
          <p:cNvSpPr/>
          <p:nvPr/>
        </p:nvSpPr>
        <p:spPr>
          <a:xfrm>
            <a:off x="640080" y="1463040"/>
            <a:ext cx="3493008" cy="274320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645920"/>
            <a:ext cx="3017520" cy="457200"/>
          </a:xfrm>
          <a:prstGeom prst="rect">
            <a:avLst/>
          </a:prstGeom>
          <a:noFill/>
        </p:spPr>
        <p:txBody>
          <a:bodyPr wrap="square" lIns="0" rIns="0" tIns="0" bIns="0" anchor="t">
            <a:spAutoFit/>
          </a:bodyPr>
          <a:lstStyle/>
          <a:p>
            <a:pPr algn="l"/>
            <a:r>
              <a:rPr sz="2400" b="1" i="0">
                <a:solidFill>
                  <a:srgbClr val="1E2A3B"/>
                </a:solidFill>
                <a:latin typeface="Cambria"/>
              </a:rPr>
              <a:t>Input DFFs</a:t>
            </a:r>
          </a:p>
        </p:txBody>
      </p:sp>
      <p:sp>
        <p:nvSpPr>
          <p:cNvPr id="5" name="TextBox 4"/>
          <p:cNvSpPr txBox="1"/>
          <p:nvPr/>
        </p:nvSpPr>
        <p:spPr>
          <a:xfrm>
            <a:off x="914400" y="2240280"/>
            <a:ext cx="3017520" cy="365760"/>
          </a:xfrm>
          <a:prstGeom prst="rect">
            <a:avLst/>
          </a:prstGeom>
          <a:noFill/>
        </p:spPr>
        <p:txBody>
          <a:bodyPr wrap="square" lIns="0" rIns="0" tIns="0" bIns="0" anchor="t">
            <a:spAutoFit/>
          </a:bodyPr>
          <a:lstStyle/>
          <a:p>
            <a:pPr algn="l"/>
            <a:r>
              <a:rPr sz="1400" b="1" i="0">
                <a:solidFill>
                  <a:srgbClr val="1E2A3B"/>
                </a:solidFill>
                <a:latin typeface="Consolas"/>
              </a:rPr>
              <a:t>load, load_sel, load_data</a:t>
            </a:r>
          </a:p>
        </p:txBody>
      </p:sp>
      <p:sp>
        <p:nvSpPr>
          <p:cNvPr id="6" name="TextBox 5"/>
          <p:cNvSpPr txBox="1"/>
          <p:nvPr/>
        </p:nvSpPr>
        <p:spPr>
          <a:xfrm>
            <a:off x="914400" y="2788920"/>
            <a:ext cx="3017520" cy="1371600"/>
          </a:xfrm>
          <a:prstGeom prst="rect">
            <a:avLst/>
          </a:prstGeom>
          <a:noFill/>
        </p:spPr>
        <p:txBody>
          <a:bodyPr wrap="square" lIns="0" rIns="0" tIns="0" bIns="0" anchor="t">
            <a:spAutoFit/>
          </a:bodyPr>
          <a:lstStyle/>
          <a:p>
            <a:pPr algn="l"/>
            <a:r>
              <a:rPr sz="1600" b="0" i="0">
                <a:solidFill>
                  <a:srgbClr val="1E2A3B"/>
                </a:solidFill>
                <a:latin typeface="Calibri"/>
              </a:rPr>
              <a:t>Five registers: an address and four words. One value is stored per clock edge where load = 1.</a:t>
            </a:r>
          </a:p>
        </p:txBody>
      </p:sp>
      <p:sp>
        <p:nvSpPr>
          <p:cNvPr id="7" name="Rounded Rectangle 6"/>
          <p:cNvSpPr/>
          <p:nvPr/>
        </p:nvSpPr>
        <p:spPr>
          <a:xfrm>
            <a:off x="4334256" y="1463040"/>
            <a:ext cx="3493008" cy="274320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08576" y="1645920"/>
            <a:ext cx="3017520" cy="457200"/>
          </a:xfrm>
          <a:prstGeom prst="rect">
            <a:avLst/>
          </a:prstGeom>
          <a:noFill/>
        </p:spPr>
        <p:txBody>
          <a:bodyPr wrap="square" lIns="0" rIns="0" tIns="0" bIns="0" anchor="t">
            <a:spAutoFit/>
          </a:bodyPr>
          <a:lstStyle/>
          <a:p>
            <a:pPr algn="l"/>
            <a:r>
              <a:rPr sz="2400" b="1" i="0">
                <a:solidFill>
                  <a:srgbClr val="1E2A3B"/>
                </a:solidFill>
                <a:latin typeface="Cambria"/>
              </a:rPr>
              <a:t>Master</a:t>
            </a:r>
          </a:p>
        </p:txBody>
      </p:sp>
      <p:sp>
        <p:nvSpPr>
          <p:cNvPr id="9" name="TextBox 8"/>
          <p:cNvSpPr txBox="1"/>
          <p:nvPr/>
        </p:nvSpPr>
        <p:spPr>
          <a:xfrm>
            <a:off x="4608576" y="2240280"/>
            <a:ext cx="3017520" cy="365760"/>
          </a:xfrm>
          <a:prstGeom prst="rect">
            <a:avLst/>
          </a:prstGeom>
          <a:noFill/>
        </p:spPr>
        <p:txBody>
          <a:bodyPr wrap="square" lIns="0" rIns="0" tIns="0" bIns="0" anchor="t">
            <a:spAutoFit/>
          </a:bodyPr>
          <a:lstStyle/>
          <a:p>
            <a:pPr algn="l"/>
            <a:r>
              <a:rPr sz="1400" b="1" i="0">
                <a:solidFill>
                  <a:srgbClr val="1E2A3B"/>
                </a:solidFill>
                <a:latin typeface="Consolas"/>
              </a:rPr>
              <a:t>start, done</a:t>
            </a:r>
          </a:p>
        </p:txBody>
      </p:sp>
      <p:sp>
        <p:nvSpPr>
          <p:cNvPr id="10" name="TextBox 9"/>
          <p:cNvSpPr txBox="1"/>
          <p:nvPr/>
        </p:nvSpPr>
        <p:spPr>
          <a:xfrm>
            <a:off x="4608576" y="2788920"/>
            <a:ext cx="3017520" cy="1371600"/>
          </a:xfrm>
          <a:prstGeom prst="rect">
            <a:avLst/>
          </a:prstGeom>
          <a:noFill/>
        </p:spPr>
        <p:txBody>
          <a:bodyPr wrap="square" lIns="0" rIns="0" tIns="0" bIns="0" anchor="t">
            <a:spAutoFit/>
          </a:bodyPr>
          <a:lstStyle/>
          <a:p>
            <a:pPr algn="l"/>
            <a:r>
              <a:rPr sz="1600" b="0" i="0">
                <a:solidFill>
                  <a:srgbClr val="1E2A3B"/>
                </a:solidFill>
                <a:latin typeface="Calibri"/>
              </a:rPr>
              <a:t>Reads the values straight from the input DFFs, writes them, reads them back.</a:t>
            </a:r>
          </a:p>
        </p:txBody>
      </p:sp>
      <p:sp>
        <p:nvSpPr>
          <p:cNvPr id="11" name="Rounded Rectangle 10"/>
          <p:cNvSpPr/>
          <p:nvPr/>
        </p:nvSpPr>
        <p:spPr>
          <a:xfrm>
            <a:off x="8028431" y="1463040"/>
            <a:ext cx="3493008" cy="274320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02752" y="1645920"/>
            <a:ext cx="3017520" cy="457200"/>
          </a:xfrm>
          <a:prstGeom prst="rect">
            <a:avLst/>
          </a:prstGeom>
          <a:noFill/>
        </p:spPr>
        <p:txBody>
          <a:bodyPr wrap="square" lIns="0" rIns="0" tIns="0" bIns="0" anchor="t">
            <a:spAutoFit/>
          </a:bodyPr>
          <a:lstStyle/>
          <a:p>
            <a:pPr algn="l"/>
            <a:r>
              <a:rPr sz="2400" b="1" i="0">
                <a:solidFill>
                  <a:srgbClr val="1E2A3B"/>
                </a:solidFill>
                <a:latin typeface="Cambria"/>
              </a:rPr>
              <a:t>Output DFFs</a:t>
            </a:r>
          </a:p>
        </p:txBody>
      </p:sp>
      <p:sp>
        <p:nvSpPr>
          <p:cNvPr id="13" name="TextBox 12"/>
          <p:cNvSpPr txBox="1"/>
          <p:nvPr/>
        </p:nvSpPr>
        <p:spPr>
          <a:xfrm>
            <a:off x="8302752" y="2240280"/>
            <a:ext cx="3017520" cy="365760"/>
          </a:xfrm>
          <a:prstGeom prst="rect">
            <a:avLst/>
          </a:prstGeom>
          <a:noFill/>
        </p:spPr>
        <p:txBody>
          <a:bodyPr wrap="square" lIns="0" rIns="0" tIns="0" bIns="0" anchor="t">
            <a:spAutoFit/>
          </a:bodyPr>
          <a:lstStyle/>
          <a:p>
            <a:pPr algn="l"/>
            <a:r>
              <a:rPr sz="1400" b="1" i="0">
                <a:solidFill>
                  <a:srgbClr val="1E2A3B"/>
                </a:solidFill>
                <a:latin typeface="Consolas"/>
              </a:rPr>
              <a:t>rd_valid, rd_idx, rd_data</a:t>
            </a:r>
          </a:p>
        </p:txBody>
      </p:sp>
      <p:sp>
        <p:nvSpPr>
          <p:cNvPr id="14" name="TextBox 13"/>
          <p:cNvSpPr txBox="1"/>
          <p:nvPr/>
        </p:nvSpPr>
        <p:spPr>
          <a:xfrm>
            <a:off x="8302752" y="2788920"/>
            <a:ext cx="3017520" cy="1371600"/>
          </a:xfrm>
          <a:prstGeom prst="rect">
            <a:avLst/>
          </a:prstGeom>
          <a:noFill/>
        </p:spPr>
        <p:txBody>
          <a:bodyPr wrap="square" lIns="0" rIns="0" tIns="0" bIns="0" anchor="t">
            <a:spAutoFit/>
          </a:bodyPr>
          <a:lstStyle/>
          <a:p>
            <a:pPr algn="l"/>
            <a:r>
              <a:rPr sz="1600" b="0" i="0">
                <a:solidFill>
                  <a:srgbClr val="1E2A3B"/>
                </a:solidFill>
                <a:latin typeface="Calibri"/>
              </a:rPr>
              <a:t>Four registers. Each read beat is stored in its own register as it arrives.</a:t>
            </a:r>
          </a:p>
        </p:txBody>
      </p:sp>
      <p:sp>
        <p:nvSpPr>
          <p:cNvPr id="15" name="Rounded Rectangle 14"/>
          <p:cNvSpPr/>
          <p:nvPr/>
        </p:nvSpPr>
        <p:spPr>
          <a:xfrm>
            <a:off x="640080" y="4434840"/>
            <a:ext cx="5349240"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572000"/>
            <a:ext cx="4846320" cy="365760"/>
          </a:xfrm>
          <a:prstGeom prst="rect">
            <a:avLst/>
          </a:prstGeom>
          <a:noFill/>
        </p:spPr>
        <p:txBody>
          <a:bodyPr wrap="square" lIns="0" rIns="0" tIns="0" bIns="0" anchor="t">
            <a:spAutoFit/>
          </a:bodyPr>
          <a:lstStyle/>
          <a:p>
            <a:pPr algn="l"/>
            <a:r>
              <a:rPr sz="1800" b="1" i="0">
                <a:solidFill>
                  <a:srgbClr val="1E2A3B"/>
                </a:solidFill>
                <a:latin typeface="Cambria"/>
              </a:rPr>
              <a:t>How pass is made</a:t>
            </a:r>
          </a:p>
        </p:txBody>
      </p:sp>
      <p:sp>
        <p:nvSpPr>
          <p:cNvPr id="17" name="TextBox 16"/>
          <p:cNvSpPr txBox="1"/>
          <p:nvPr/>
        </p:nvSpPr>
        <p:spPr>
          <a:xfrm>
            <a:off x="914400" y="5029200"/>
            <a:ext cx="4846320" cy="1005840"/>
          </a:xfrm>
          <a:prstGeom prst="rect">
            <a:avLst/>
          </a:prstGeom>
          <a:noFill/>
        </p:spPr>
        <p:txBody>
          <a:bodyPr wrap="square" lIns="0" rIns="0" tIns="0" bIns="0" anchor="t">
            <a:spAutoFit/>
          </a:bodyPr>
          <a:lstStyle/>
          <a:p>
            <a:pPr algn="l"/>
            <a:r>
              <a:rPr sz="1500" b="0" i="0">
                <a:solidFill>
                  <a:srgbClr val="1E2A3B"/>
                </a:solidFill>
                <a:latin typeface="Calibri"/>
              </a:rPr>
              <a:t>pass = done and the four output registers equal the four input registers.</a:t>
            </a:r>
          </a:p>
        </p:txBody>
      </p:sp>
      <p:sp>
        <p:nvSpPr>
          <p:cNvPr id="18" name="Rounded Rectangle 17"/>
          <p:cNvSpPr/>
          <p:nvPr/>
        </p:nvSpPr>
        <p:spPr>
          <a:xfrm>
            <a:off x="6172200" y="4434840"/>
            <a:ext cx="5349240"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46520" y="4572000"/>
            <a:ext cx="4846320" cy="365760"/>
          </a:xfrm>
          <a:prstGeom prst="rect">
            <a:avLst/>
          </a:prstGeom>
          <a:noFill/>
        </p:spPr>
        <p:txBody>
          <a:bodyPr wrap="square" lIns="0" rIns="0" tIns="0" bIns="0" anchor="t">
            <a:spAutoFit/>
          </a:bodyPr>
          <a:lstStyle/>
          <a:p>
            <a:pPr algn="l"/>
            <a:r>
              <a:rPr sz="1800" b="1" i="0">
                <a:solidFill>
                  <a:srgbClr val="1E2A3B"/>
                </a:solidFill>
                <a:latin typeface="Cambria"/>
              </a:rPr>
              <a:t>Direct connection</a:t>
            </a:r>
          </a:p>
        </p:txBody>
      </p:sp>
      <p:sp>
        <p:nvSpPr>
          <p:cNvPr id="20" name="TextBox 19"/>
          <p:cNvSpPr txBox="1"/>
          <p:nvPr/>
        </p:nvSpPr>
        <p:spPr>
          <a:xfrm>
            <a:off x="6446520" y="5029200"/>
            <a:ext cx="4846320" cy="1005840"/>
          </a:xfrm>
          <a:prstGeom prst="rect">
            <a:avLst/>
          </a:prstGeom>
          <a:noFill/>
        </p:spPr>
        <p:txBody>
          <a:bodyPr wrap="square" lIns="0" rIns="0" tIns="0" bIns="0" anchor="t">
            <a:spAutoFit/>
          </a:bodyPr>
          <a:lstStyle/>
          <a:p>
            <a:pPr algn="l"/>
            <a:r>
              <a:rPr sz="1500" b="0" i="0">
                <a:solidFill>
                  <a:srgbClr val="1E2A3B"/>
                </a:solidFill>
                <a:latin typeface="Calibri"/>
              </a:rPr>
              <a:t>Nothing sits between the master and the slave, so a beat moves every clock the receiver is ready.</a:t>
            </a:r>
          </a:p>
        </p:txBody>
      </p:sp>
      <p:sp>
        <p:nvSpPr>
          <p:cNvPr id="21"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2"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The slave</a:t>
            </a:r>
          </a:p>
        </p:txBody>
      </p:sp>
      <p:sp>
        <p:nvSpPr>
          <p:cNvPr id="3" name="Rounded Rectangle 2"/>
          <p:cNvSpPr/>
          <p:nvPr/>
        </p:nvSpPr>
        <p:spPr>
          <a:xfrm>
            <a:off x="640080" y="1463040"/>
            <a:ext cx="3503066" cy="4480560"/>
          </a:xfrm>
          <a:prstGeom prst="roundRect">
            <a:avLst>
              <a:gd name="adj" fmla="val 6000"/>
            </a:avLst>
          </a:prstGeom>
          <a:solidFill>
            <a:srgbClr val="E6D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96112" y="1691640"/>
            <a:ext cx="2991002" cy="457200"/>
          </a:xfrm>
          <a:prstGeom prst="rect">
            <a:avLst/>
          </a:prstGeom>
          <a:noFill/>
        </p:spPr>
        <p:txBody>
          <a:bodyPr wrap="square" lIns="0" rIns="0" tIns="0" bIns="0" anchor="t">
            <a:spAutoFit/>
          </a:bodyPr>
          <a:lstStyle/>
          <a:p>
            <a:pPr algn="l"/>
            <a:r>
              <a:rPr sz="2200" b="1" i="0">
                <a:solidFill>
                  <a:srgbClr val="1E2A3B"/>
                </a:solidFill>
                <a:latin typeface="Cambria"/>
              </a:rPr>
              <a:t>Write engine</a:t>
            </a:r>
          </a:p>
        </p:txBody>
      </p:sp>
      <p:sp>
        <p:nvSpPr>
          <p:cNvPr id="5" name="TextBox 4"/>
          <p:cNvSpPr txBox="1"/>
          <p:nvPr/>
        </p:nvSpPr>
        <p:spPr>
          <a:xfrm>
            <a:off x="896112" y="2240280"/>
            <a:ext cx="2991002" cy="320040"/>
          </a:xfrm>
          <a:prstGeom prst="rect">
            <a:avLst/>
          </a:prstGeom>
          <a:noFill/>
        </p:spPr>
        <p:txBody>
          <a:bodyPr wrap="square" lIns="0" rIns="0" tIns="0" bIns="0" anchor="t">
            <a:spAutoFit/>
          </a:bodyPr>
          <a:lstStyle/>
          <a:p>
            <a:pPr algn="l"/>
            <a:r>
              <a:rPr sz="1300" b="0" i="0">
                <a:solidFill>
                  <a:srgbClr val="4F5F74"/>
                </a:solidFill>
                <a:latin typeface="Consolas"/>
              </a:rPr>
              <a:t>IDLE, DATA, RESP</a:t>
            </a:r>
          </a:p>
        </p:txBody>
      </p:sp>
      <p:sp>
        <p:nvSpPr>
          <p:cNvPr id="6" name="TextBox 5"/>
          <p:cNvSpPr txBox="1"/>
          <p:nvPr/>
        </p:nvSpPr>
        <p:spPr>
          <a:xfrm>
            <a:off x="896112" y="2697480"/>
            <a:ext cx="2991002" cy="3063240"/>
          </a:xfrm>
          <a:prstGeom prst="rect">
            <a:avLst/>
          </a:prstGeom>
          <a:noFill/>
        </p:spPr>
        <p:txBody>
          <a:bodyPr wrap="square" lIns="0" rIns="0" tIns="0" bIns="0" anchor="t">
            <a:spAutoFit/>
          </a:bodyPr>
          <a:lstStyle/>
          <a:p>
            <a:pPr algn="l"/>
            <a:r>
              <a:rPr sz="1700" b="0" i="0">
                <a:solidFill>
                  <a:srgbClr val="1E2A3B"/>
                </a:solidFill>
                <a:latin typeface="Calibri"/>
              </a:rPr>
              <a:t>Takes the address. Then takes beats until WLAST, writing each word and adding 4 to the address. WSTRB picks the bytes. Then sends one response.</a:t>
            </a:r>
          </a:p>
        </p:txBody>
      </p:sp>
      <p:sp>
        <p:nvSpPr>
          <p:cNvPr id="7" name="Rounded Rectangle 6"/>
          <p:cNvSpPr/>
          <p:nvPr/>
        </p:nvSpPr>
        <p:spPr>
          <a:xfrm>
            <a:off x="4344314" y="1463040"/>
            <a:ext cx="3503066" cy="448056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00346" y="1691640"/>
            <a:ext cx="2991002" cy="457200"/>
          </a:xfrm>
          <a:prstGeom prst="rect">
            <a:avLst/>
          </a:prstGeom>
          <a:noFill/>
        </p:spPr>
        <p:txBody>
          <a:bodyPr wrap="square" lIns="0" rIns="0" tIns="0" bIns="0" anchor="t">
            <a:spAutoFit/>
          </a:bodyPr>
          <a:lstStyle/>
          <a:p>
            <a:pPr algn="l"/>
            <a:r>
              <a:rPr sz="2200" b="1" i="0">
                <a:solidFill>
                  <a:srgbClr val="1E2A3B"/>
                </a:solidFill>
                <a:latin typeface="Cambria"/>
              </a:rPr>
              <a:t>Read engine</a:t>
            </a:r>
          </a:p>
        </p:txBody>
      </p:sp>
      <p:sp>
        <p:nvSpPr>
          <p:cNvPr id="9" name="TextBox 8"/>
          <p:cNvSpPr txBox="1"/>
          <p:nvPr/>
        </p:nvSpPr>
        <p:spPr>
          <a:xfrm>
            <a:off x="4600346" y="2240280"/>
            <a:ext cx="2991002" cy="320040"/>
          </a:xfrm>
          <a:prstGeom prst="rect">
            <a:avLst/>
          </a:prstGeom>
          <a:noFill/>
        </p:spPr>
        <p:txBody>
          <a:bodyPr wrap="square" lIns="0" rIns="0" tIns="0" bIns="0" anchor="t">
            <a:spAutoFit/>
          </a:bodyPr>
          <a:lstStyle/>
          <a:p>
            <a:pPr algn="l"/>
            <a:r>
              <a:rPr sz="1300" b="0" i="0">
                <a:solidFill>
                  <a:srgbClr val="4F5F74"/>
                </a:solidFill>
                <a:latin typeface="Consolas"/>
              </a:rPr>
              <a:t>IDLE, DATA</a:t>
            </a:r>
          </a:p>
        </p:txBody>
      </p:sp>
      <p:sp>
        <p:nvSpPr>
          <p:cNvPr id="10" name="TextBox 9"/>
          <p:cNvSpPr txBox="1"/>
          <p:nvPr/>
        </p:nvSpPr>
        <p:spPr>
          <a:xfrm>
            <a:off x="4600346" y="2697480"/>
            <a:ext cx="2991002" cy="3063240"/>
          </a:xfrm>
          <a:prstGeom prst="rect">
            <a:avLst/>
          </a:prstGeom>
          <a:noFill/>
        </p:spPr>
        <p:txBody>
          <a:bodyPr wrap="square" lIns="0" rIns="0" tIns="0" bIns="0" anchor="t">
            <a:spAutoFit/>
          </a:bodyPr>
          <a:lstStyle/>
          <a:p>
            <a:pPr algn="l"/>
            <a:r>
              <a:rPr sz="1700" b="0" i="0">
                <a:solidFill>
                  <a:srgbClr val="1E2A3B"/>
                </a:solidFill>
                <a:latin typeface="Calibri"/>
              </a:rPr>
              <a:t>Takes the address. Sends ARLEN + 1 beats, adding 4 each time, and marks the last with RLAST.</a:t>
            </a:r>
          </a:p>
        </p:txBody>
      </p:sp>
      <p:sp>
        <p:nvSpPr>
          <p:cNvPr id="11" name="Rounded Rectangle 10"/>
          <p:cNvSpPr/>
          <p:nvPr/>
        </p:nvSpPr>
        <p:spPr>
          <a:xfrm>
            <a:off x="8048548" y="1463040"/>
            <a:ext cx="3503066" cy="4480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04580" y="1691640"/>
            <a:ext cx="2991002" cy="457200"/>
          </a:xfrm>
          <a:prstGeom prst="rect">
            <a:avLst/>
          </a:prstGeom>
          <a:noFill/>
        </p:spPr>
        <p:txBody>
          <a:bodyPr wrap="square" lIns="0" rIns="0" tIns="0" bIns="0" anchor="t">
            <a:spAutoFit/>
          </a:bodyPr>
          <a:lstStyle/>
          <a:p>
            <a:pPr algn="l"/>
            <a:r>
              <a:rPr sz="2200" b="1" i="0">
                <a:solidFill>
                  <a:srgbClr val="1E2A3B"/>
                </a:solidFill>
                <a:latin typeface="Cambria"/>
              </a:rPr>
              <a:t>Responses</a:t>
            </a:r>
          </a:p>
        </p:txBody>
      </p:sp>
      <p:sp>
        <p:nvSpPr>
          <p:cNvPr id="13" name="TextBox 12"/>
          <p:cNvSpPr txBox="1"/>
          <p:nvPr/>
        </p:nvSpPr>
        <p:spPr>
          <a:xfrm>
            <a:off x="8304580" y="2240280"/>
            <a:ext cx="2991002" cy="3520440"/>
          </a:xfrm>
          <a:prstGeom prst="rect">
            <a:avLst/>
          </a:prstGeom>
          <a:noFill/>
        </p:spPr>
        <p:txBody>
          <a:bodyPr wrap="square" lIns="0" rIns="0" tIns="0" bIns="0" anchor="t">
            <a:spAutoFit/>
          </a:bodyPr>
          <a:lstStyle/>
          <a:p>
            <a:pPr algn="l"/>
            <a:r>
              <a:rPr sz="1700" b="0" i="0">
                <a:solidFill>
                  <a:srgbClr val="1E2A3B"/>
                </a:solidFill>
                <a:latin typeface="Calibri"/>
              </a:rPr>
              <a:t>BRESP and RRESP are always 00, OKAY. There is no request checking. An address beyond the 4 KiB wraps inside the memory.</a:t>
            </a:r>
          </a:p>
        </p:txBody>
      </p:sp>
      <p:sp>
        <p:nvSpPr>
          <p:cNvPr id="14"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15"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One sequence, end to end</a:t>
            </a:r>
          </a:p>
        </p:txBody>
      </p:sp>
      <p:sp>
        <p:nvSpPr>
          <p:cNvPr id="3" name="TextBox 2"/>
          <p:cNvSpPr txBox="1"/>
          <p:nvPr/>
        </p:nvSpPr>
        <p:spPr>
          <a:xfrm>
            <a:off x="640080" y="1280160"/>
            <a:ext cx="10881360" cy="457200"/>
          </a:xfrm>
          <a:prstGeom prst="rect">
            <a:avLst/>
          </a:prstGeom>
          <a:noFill/>
        </p:spPr>
        <p:txBody>
          <a:bodyPr wrap="square" lIns="0" rIns="0" tIns="0" bIns="0" anchor="t">
            <a:spAutoFit/>
          </a:bodyPr>
          <a:lstStyle/>
          <a:p>
            <a:pPr algn="l"/>
            <a:r>
              <a:rPr sz="2000" b="0" i="0">
                <a:solidFill>
                  <a:srgbClr val="4F5F74"/>
                </a:solidFill>
                <a:latin typeface="Calibri"/>
              </a:rPr>
              <a:t>The master writes four words, then reads them back.</a:t>
            </a:r>
          </a:p>
        </p:txBody>
      </p:sp>
      <p:sp>
        <p:nvSpPr>
          <p:cNvPr id="4" name="Rounded Rectangle 3"/>
          <p:cNvSpPr/>
          <p:nvPr/>
        </p:nvSpPr>
        <p:spPr>
          <a:xfrm>
            <a:off x="640080" y="2057400"/>
            <a:ext cx="1993392" cy="33832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2240280"/>
            <a:ext cx="1627632" cy="822960"/>
          </a:xfrm>
          <a:prstGeom prst="rect">
            <a:avLst/>
          </a:prstGeom>
          <a:noFill/>
        </p:spPr>
        <p:txBody>
          <a:bodyPr wrap="square" lIns="0" rIns="0" tIns="0" bIns="0" anchor="t">
            <a:spAutoFit/>
          </a:bodyPr>
          <a:lstStyle/>
          <a:p>
            <a:pPr algn="l"/>
            <a:r>
              <a:rPr sz="2000" b="1" i="0">
                <a:solidFill>
                  <a:srgbClr val="1E2A3B"/>
                </a:solidFill>
                <a:latin typeface="Cambria"/>
              </a:rPr>
              <a:t>1  Write address</a:t>
            </a:r>
          </a:p>
        </p:txBody>
      </p:sp>
      <p:sp>
        <p:nvSpPr>
          <p:cNvPr id="6" name="TextBox 5"/>
          <p:cNvSpPr txBox="1"/>
          <p:nvPr/>
        </p:nvSpPr>
        <p:spPr>
          <a:xfrm>
            <a:off x="822959" y="3154680"/>
            <a:ext cx="1627632" cy="2194560"/>
          </a:xfrm>
          <a:prstGeom prst="rect">
            <a:avLst/>
          </a:prstGeom>
          <a:noFill/>
        </p:spPr>
        <p:txBody>
          <a:bodyPr wrap="square" lIns="0" rIns="0" tIns="0" bIns="0" anchor="t">
            <a:spAutoFit/>
          </a:bodyPr>
          <a:lstStyle/>
          <a:p>
            <a:pPr algn="l"/>
            <a:r>
              <a:rPr sz="1600" b="0" i="0">
                <a:solidFill>
                  <a:srgbClr val="1E2A3B"/>
                </a:solidFill>
                <a:latin typeface="Calibri"/>
              </a:rPr>
              <a:t>AW taken at cycle 1. The slave is ready, so no wait.</a:t>
            </a:r>
          </a:p>
        </p:txBody>
      </p:sp>
      <p:cxnSp>
        <p:nvCxnSpPr>
          <p:cNvPr id="7" name="Connector 6"/>
          <p:cNvCxnSpPr/>
          <p:nvPr/>
        </p:nvCxnSpPr>
        <p:spPr>
          <a:xfrm>
            <a:off x="2651760" y="3749039"/>
            <a:ext cx="192024"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62072" y="2057400"/>
            <a:ext cx="1993392" cy="338328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44952" y="2240280"/>
            <a:ext cx="1627632" cy="822960"/>
          </a:xfrm>
          <a:prstGeom prst="rect">
            <a:avLst/>
          </a:prstGeom>
          <a:noFill/>
        </p:spPr>
        <p:txBody>
          <a:bodyPr wrap="square" lIns="0" rIns="0" tIns="0" bIns="0" anchor="t">
            <a:spAutoFit/>
          </a:bodyPr>
          <a:lstStyle/>
          <a:p>
            <a:pPr algn="l"/>
            <a:r>
              <a:rPr sz="2000" b="1" i="0">
                <a:solidFill>
                  <a:srgbClr val="1E2A3B"/>
                </a:solidFill>
                <a:latin typeface="Cambria"/>
              </a:rPr>
              <a:t>2  Write data</a:t>
            </a:r>
          </a:p>
        </p:txBody>
      </p:sp>
      <p:sp>
        <p:nvSpPr>
          <p:cNvPr id="10" name="TextBox 9"/>
          <p:cNvSpPr txBox="1"/>
          <p:nvPr/>
        </p:nvSpPr>
        <p:spPr>
          <a:xfrm>
            <a:off x="3044952" y="3154680"/>
            <a:ext cx="1627632" cy="2194560"/>
          </a:xfrm>
          <a:prstGeom prst="rect">
            <a:avLst/>
          </a:prstGeom>
          <a:noFill/>
        </p:spPr>
        <p:txBody>
          <a:bodyPr wrap="square" lIns="0" rIns="0" tIns="0" bIns="0" anchor="t">
            <a:spAutoFit/>
          </a:bodyPr>
          <a:lstStyle/>
          <a:p>
            <a:pPr algn="l"/>
            <a:r>
              <a:rPr sz="1600" b="0" i="0">
                <a:solidFill>
                  <a:srgbClr val="1E2A3B"/>
                </a:solidFill>
                <a:latin typeface="Calibri"/>
              </a:rPr>
              <a:t>Four beats taken at cycles 2, 3, 4, 5. WLAST on the fourth.</a:t>
            </a:r>
          </a:p>
        </p:txBody>
      </p:sp>
      <p:cxnSp>
        <p:nvCxnSpPr>
          <p:cNvPr id="11" name="Connector 10"/>
          <p:cNvCxnSpPr/>
          <p:nvPr/>
        </p:nvCxnSpPr>
        <p:spPr>
          <a:xfrm>
            <a:off x="4873752" y="3749039"/>
            <a:ext cx="192024"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4064" y="2057400"/>
            <a:ext cx="1993392" cy="3383280"/>
          </a:xfrm>
          <a:prstGeom prst="roundRect">
            <a:avLst>
              <a:gd name="adj" fmla="val 6000"/>
            </a:avLst>
          </a:prstGeom>
          <a:solidFill>
            <a:srgbClr val="E6D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266944" y="2240280"/>
            <a:ext cx="1627632" cy="822960"/>
          </a:xfrm>
          <a:prstGeom prst="rect">
            <a:avLst/>
          </a:prstGeom>
          <a:noFill/>
        </p:spPr>
        <p:txBody>
          <a:bodyPr wrap="square" lIns="0" rIns="0" tIns="0" bIns="0" anchor="t">
            <a:spAutoFit/>
          </a:bodyPr>
          <a:lstStyle/>
          <a:p>
            <a:pPr algn="l"/>
            <a:r>
              <a:rPr sz="2000" b="1" i="0">
                <a:solidFill>
                  <a:srgbClr val="1E2A3B"/>
                </a:solidFill>
                <a:latin typeface="Cambria"/>
              </a:rPr>
              <a:t>3  Response</a:t>
            </a:r>
          </a:p>
        </p:txBody>
      </p:sp>
      <p:sp>
        <p:nvSpPr>
          <p:cNvPr id="14" name="TextBox 13"/>
          <p:cNvSpPr txBox="1"/>
          <p:nvPr/>
        </p:nvSpPr>
        <p:spPr>
          <a:xfrm>
            <a:off x="5266944" y="3154680"/>
            <a:ext cx="1627632" cy="2194560"/>
          </a:xfrm>
          <a:prstGeom prst="rect">
            <a:avLst/>
          </a:prstGeom>
          <a:noFill/>
        </p:spPr>
        <p:txBody>
          <a:bodyPr wrap="square" lIns="0" rIns="0" tIns="0" bIns="0" anchor="t">
            <a:spAutoFit/>
          </a:bodyPr>
          <a:lstStyle/>
          <a:p>
            <a:pPr algn="l"/>
            <a:r>
              <a:rPr sz="1600" b="0" i="0">
                <a:solidFill>
                  <a:srgbClr val="1E2A3B"/>
                </a:solidFill>
                <a:latin typeface="Calibri"/>
              </a:rPr>
              <a:t>B taken at cycle 6, right after the last beat.</a:t>
            </a:r>
          </a:p>
        </p:txBody>
      </p:sp>
      <p:cxnSp>
        <p:nvCxnSpPr>
          <p:cNvPr id="15" name="Connector 14"/>
          <p:cNvCxnSpPr/>
          <p:nvPr/>
        </p:nvCxnSpPr>
        <p:spPr>
          <a:xfrm>
            <a:off x="7095744" y="3749039"/>
            <a:ext cx="192024"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06056" y="2057400"/>
            <a:ext cx="1993392" cy="338328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88936" y="2240280"/>
            <a:ext cx="1627632" cy="822960"/>
          </a:xfrm>
          <a:prstGeom prst="rect">
            <a:avLst/>
          </a:prstGeom>
          <a:noFill/>
        </p:spPr>
        <p:txBody>
          <a:bodyPr wrap="square" lIns="0" rIns="0" tIns="0" bIns="0" anchor="t">
            <a:spAutoFit/>
          </a:bodyPr>
          <a:lstStyle/>
          <a:p>
            <a:pPr algn="l"/>
            <a:r>
              <a:rPr sz="2000" b="1" i="0">
                <a:solidFill>
                  <a:srgbClr val="1E2A3B"/>
                </a:solidFill>
                <a:latin typeface="Cambria"/>
              </a:rPr>
              <a:t>4  Read</a:t>
            </a:r>
          </a:p>
        </p:txBody>
      </p:sp>
      <p:sp>
        <p:nvSpPr>
          <p:cNvPr id="18" name="TextBox 17"/>
          <p:cNvSpPr txBox="1"/>
          <p:nvPr/>
        </p:nvSpPr>
        <p:spPr>
          <a:xfrm>
            <a:off x="7488936" y="3154680"/>
            <a:ext cx="1627632" cy="2194560"/>
          </a:xfrm>
          <a:prstGeom prst="rect">
            <a:avLst/>
          </a:prstGeom>
          <a:noFill/>
        </p:spPr>
        <p:txBody>
          <a:bodyPr wrap="square" lIns="0" rIns="0" tIns="0" bIns="0" anchor="t">
            <a:spAutoFit/>
          </a:bodyPr>
          <a:lstStyle/>
          <a:p>
            <a:pPr algn="l"/>
            <a:r>
              <a:rPr sz="1600" b="0" i="0">
                <a:solidFill>
                  <a:srgbClr val="1E2A3B"/>
                </a:solidFill>
                <a:latin typeface="Calibri"/>
              </a:rPr>
              <a:t>AR taken at cycle 7, then four beats at cycles 8 to 11. RLAST on the fourth.</a:t>
            </a:r>
          </a:p>
        </p:txBody>
      </p:sp>
      <p:cxnSp>
        <p:nvCxnSpPr>
          <p:cNvPr id="19" name="Connector 18"/>
          <p:cNvCxnSpPr/>
          <p:nvPr/>
        </p:nvCxnSpPr>
        <p:spPr>
          <a:xfrm>
            <a:off x="9317736" y="3749039"/>
            <a:ext cx="192024" cy="0"/>
          </a:xfrm>
          <a:prstGeom prst="line">
            <a:avLst/>
          </a:prstGeom>
          <a:ln w="25400">
            <a:solidFill>
              <a:srgbClr val="4F5F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528048" y="2057400"/>
            <a:ext cx="1993392" cy="3383280"/>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0928" y="2240280"/>
            <a:ext cx="1627632" cy="822960"/>
          </a:xfrm>
          <a:prstGeom prst="rect">
            <a:avLst/>
          </a:prstGeom>
          <a:noFill/>
        </p:spPr>
        <p:txBody>
          <a:bodyPr wrap="square" lIns="0" rIns="0" tIns="0" bIns="0" anchor="t">
            <a:spAutoFit/>
          </a:bodyPr>
          <a:lstStyle/>
          <a:p>
            <a:pPr algn="l"/>
            <a:r>
              <a:rPr sz="2000" b="1" i="0">
                <a:solidFill>
                  <a:srgbClr val="1E2A3B"/>
                </a:solidFill>
                <a:latin typeface="Cambria"/>
              </a:rPr>
              <a:t>5  Done</a:t>
            </a:r>
          </a:p>
        </p:txBody>
      </p:sp>
      <p:sp>
        <p:nvSpPr>
          <p:cNvPr id="22" name="TextBox 21"/>
          <p:cNvSpPr txBox="1"/>
          <p:nvPr/>
        </p:nvSpPr>
        <p:spPr>
          <a:xfrm>
            <a:off x="9710928" y="3154680"/>
            <a:ext cx="1627632" cy="2194560"/>
          </a:xfrm>
          <a:prstGeom prst="rect">
            <a:avLst/>
          </a:prstGeom>
          <a:noFill/>
        </p:spPr>
        <p:txBody>
          <a:bodyPr wrap="square" lIns="0" rIns="0" tIns="0" bIns="0" anchor="t">
            <a:spAutoFit/>
          </a:bodyPr>
          <a:lstStyle/>
          <a:p>
            <a:pPr algn="l"/>
            <a:r>
              <a:rPr sz="1600" b="0" i="0">
                <a:solidFill>
                  <a:srgbClr val="1E2A3B"/>
                </a:solidFill>
                <a:latin typeface="Calibri"/>
              </a:rPr>
              <a:t>done = 1 at cycle 12, pass = 1. 13 cycles from start.</a:t>
            </a:r>
          </a:p>
        </p:txBody>
      </p:sp>
      <p:sp>
        <p:nvSpPr>
          <p:cNvPr id="23" name="TextBox 22"/>
          <p:cNvSpPr txBox="1"/>
          <p:nvPr/>
        </p:nvSpPr>
        <p:spPr>
          <a:xfrm>
            <a:off x="640080" y="5760720"/>
            <a:ext cx="10881360" cy="457200"/>
          </a:xfrm>
          <a:prstGeom prst="rect">
            <a:avLst/>
          </a:prstGeom>
          <a:noFill/>
        </p:spPr>
        <p:txBody>
          <a:bodyPr wrap="square" lIns="0" rIns="0" tIns="0" bIns="0" anchor="t">
            <a:spAutoFit/>
          </a:bodyPr>
          <a:lstStyle/>
          <a:p>
            <a:pPr algn="l"/>
            <a:r>
              <a:rPr sz="1600" b="0" i="1">
                <a:solidFill>
                  <a:srgbClr val="4F5F74"/>
                </a:solidFill>
                <a:latin typeface="Calibri"/>
              </a:rPr>
              <a:t>The next two slides show the write and the read as waveforms.</a:t>
            </a:r>
          </a:p>
        </p:txBody>
      </p:sp>
      <p:sp>
        <p:nvSpPr>
          <p:cNvPr id="24"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5"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Write: four words, recorded from the simulation</a:t>
            </a:r>
          </a:p>
        </p:txBody>
      </p:sp>
      <p:pic>
        <p:nvPicPr>
          <p:cNvPr id="3" name="Picture 2" descr="Waveform of the master writing four words straight to the slave."/>
          <p:cNvPicPr>
            <a:picLocks noChangeAspect="1"/>
          </p:cNvPicPr>
          <p:nvPr/>
        </p:nvPicPr>
        <p:blipFill>
          <a:blip r:embed="rId3"/>
          <a:stretch>
            <a:fillRect/>
          </a:stretch>
        </p:blipFill>
        <p:spPr>
          <a:xfrm>
            <a:off x="1578322" y="1325880"/>
            <a:ext cx="9035050" cy="3931920"/>
          </a:xfrm>
          <a:prstGeom prst="rect">
            <a:avLst/>
          </a:prstGeom>
        </p:spPr>
      </p:pic>
      <p:sp>
        <p:nvSpPr>
          <p:cNvPr id="4" name="Rounded Rectangle 3"/>
          <p:cNvSpPr/>
          <p:nvPr/>
        </p:nvSpPr>
        <p:spPr>
          <a:xfrm>
            <a:off x="640080" y="5349240"/>
            <a:ext cx="2590723"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5440680"/>
            <a:ext cx="2224963" cy="82296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Amber dots</a:t>
            </a:r>
          </a:p>
          <a:p>
            <a:pPr algn="l"/>
            <a:r>
              <a:rPr sz="1400" b="0" i="0">
                <a:solidFill>
                  <a:srgbClr val="4F5F74"/>
                </a:solidFill>
                <a:latin typeface="Calibri"/>
              </a:rPr>
              <a:t>are handshakes.</a:t>
            </a:r>
          </a:p>
        </p:txBody>
      </p:sp>
      <p:sp>
        <p:nvSpPr>
          <p:cNvPr id="6" name="Rounded Rectangle 5"/>
          <p:cNvSpPr/>
          <p:nvPr/>
        </p:nvSpPr>
        <p:spPr>
          <a:xfrm>
            <a:off x="3413683" y="5349240"/>
            <a:ext cx="2590723"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96563" y="5440680"/>
            <a:ext cx="2224963" cy="82296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Address</a:t>
            </a:r>
          </a:p>
          <a:p>
            <a:pPr algn="l"/>
            <a:r>
              <a:rPr sz="1400" b="0" i="0">
                <a:solidFill>
                  <a:srgbClr val="4F5F74"/>
                </a:solidFill>
                <a:latin typeface="Calibri"/>
              </a:rPr>
              <a:t>taken at 1: the slave was already ready.</a:t>
            </a:r>
          </a:p>
        </p:txBody>
      </p:sp>
      <p:sp>
        <p:nvSpPr>
          <p:cNvPr id="8" name="Rounded Rectangle 7"/>
          <p:cNvSpPr/>
          <p:nvPr/>
        </p:nvSpPr>
        <p:spPr>
          <a:xfrm>
            <a:off x="6187287" y="5349240"/>
            <a:ext cx="2590723"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70167" y="5440680"/>
            <a:ext cx="2224963" cy="82296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Data beats</a:t>
            </a:r>
          </a:p>
          <a:p>
            <a:pPr algn="l"/>
            <a:r>
              <a:rPr sz="1400" b="0" i="0">
                <a:solidFill>
                  <a:srgbClr val="4F5F74"/>
                </a:solidFill>
                <a:latin typeface="Calibri"/>
              </a:rPr>
              <a:t>taken at 2, 3, 4, 5: one every clock.</a:t>
            </a:r>
          </a:p>
        </p:txBody>
      </p:sp>
      <p:sp>
        <p:nvSpPr>
          <p:cNvPr id="10" name="Rounded Rectangle 9"/>
          <p:cNvSpPr/>
          <p:nvPr/>
        </p:nvSpPr>
        <p:spPr>
          <a:xfrm>
            <a:off x="8960891" y="5349240"/>
            <a:ext cx="2590723"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3771" y="5440680"/>
            <a:ext cx="2224963" cy="82296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Response</a:t>
            </a:r>
          </a:p>
          <a:p>
            <a:pPr algn="l"/>
            <a:r>
              <a:rPr sz="1400" b="0" i="0">
                <a:solidFill>
                  <a:srgbClr val="4F5F74"/>
                </a:solidFill>
                <a:latin typeface="Calibri"/>
              </a:rPr>
              <a:t>taken at 6, right after WLAST.</a:t>
            </a:r>
          </a:p>
        </p:txBody>
      </p:sp>
      <p:sp>
        <p:nvSpPr>
          <p:cNvPr id="12"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13"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Read: the same four words, from the simulation</a:t>
            </a:r>
          </a:p>
        </p:txBody>
      </p:sp>
      <p:pic>
        <p:nvPicPr>
          <p:cNvPr id="3" name="Picture 2" descr="Waveform of the master reading four words back from the slave."/>
          <p:cNvPicPr>
            <a:picLocks noChangeAspect="1"/>
          </p:cNvPicPr>
          <p:nvPr/>
        </p:nvPicPr>
        <p:blipFill>
          <a:blip r:embed="rId3"/>
          <a:stretch>
            <a:fillRect/>
          </a:stretch>
        </p:blipFill>
        <p:spPr>
          <a:xfrm>
            <a:off x="1592610" y="1463040"/>
            <a:ext cx="9006474" cy="3474720"/>
          </a:xfrm>
          <a:prstGeom prst="rect">
            <a:avLst/>
          </a:prstGeom>
        </p:spPr>
      </p:pic>
      <p:sp>
        <p:nvSpPr>
          <p:cNvPr id="4" name="Rounded Rectangle 3"/>
          <p:cNvSpPr/>
          <p:nvPr/>
        </p:nvSpPr>
        <p:spPr>
          <a:xfrm>
            <a:off x="640080" y="5074920"/>
            <a:ext cx="2590723"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5184648"/>
            <a:ext cx="2224963" cy="91440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Address</a:t>
            </a:r>
          </a:p>
          <a:p>
            <a:pPr algn="l"/>
            <a:r>
              <a:rPr sz="1400" b="0" i="0">
                <a:solidFill>
                  <a:srgbClr val="4F5F74"/>
                </a:solidFill>
                <a:latin typeface="Calibri"/>
              </a:rPr>
              <a:t>taken at 1: the slave was already ready.</a:t>
            </a:r>
          </a:p>
        </p:txBody>
      </p:sp>
      <p:sp>
        <p:nvSpPr>
          <p:cNvPr id="6" name="Rounded Rectangle 5"/>
          <p:cNvSpPr/>
          <p:nvPr/>
        </p:nvSpPr>
        <p:spPr>
          <a:xfrm>
            <a:off x="3413683" y="5074920"/>
            <a:ext cx="2590723"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96563" y="5184648"/>
            <a:ext cx="2224963" cy="91440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Data beats</a:t>
            </a:r>
          </a:p>
          <a:p>
            <a:pPr algn="l"/>
            <a:r>
              <a:rPr sz="1400" b="0" i="0">
                <a:solidFill>
                  <a:srgbClr val="4F5F74"/>
                </a:solidFill>
                <a:latin typeface="Calibri"/>
              </a:rPr>
              <a:t>taken at 2, 3, 4, 5: one every clock.</a:t>
            </a:r>
          </a:p>
        </p:txBody>
      </p:sp>
      <p:sp>
        <p:nvSpPr>
          <p:cNvPr id="8" name="Rounded Rectangle 7"/>
          <p:cNvSpPr/>
          <p:nvPr/>
        </p:nvSpPr>
        <p:spPr>
          <a:xfrm>
            <a:off x="6187287" y="5074920"/>
            <a:ext cx="2590723"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70167" y="5184648"/>
            <a:ext cx="2224963" cy="91440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RLAST</a:t>
            </a:r>
          </a:p>
          <a:p>
            <a:pPr algn="l"/>
            <a:r>
              <a:rPr sz="1400" b="0" i="0">
                <a:solidFill>
                  <a:srgbClr val="4F5F74"/>
                </a:solidFill>
                <a:latin typeface="Calibri"/>
              </a:rPr>
              <a:t>rides on the fourth beat, at cycle 5.</a:t>
            </a:r>
          </a:p>
        </p:txBody>
      </p:sp>
      <p:sp>
        <p:nvSpPr>
          <p:cNvPr id="10" name="Rounded Rectangle 9"/>
          <p:cNvSpPr/>
          <p:nvPr/>
        </p:nvSpPr>
        <p:spPr>
          <a:xfrm>
            <a:off x="8960891" y="5074920"/>
            <a:ext cx="2590723"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3771" y="5184648"/>
            <a:ext cx="2224963" cy="914400"/>
          </a:xfrm>
          <a:prstGeom prst="rect">
            <a:avLst/>
          </a:prstGeom>
          <a:noFill/>
        </p:spPr>
        <p:txBody>
          <a:bodyPr wrap="square" lIns="0" rIns="0" tIns="0" bIns="0" anchor="t">
            <a:spAutoFit/>
          </a:bodyPr>
          <a:lstStyle/>
          <a:p>
            <a:pPr algn="l">
              <a:spcAft>
                <a:spcPts val="200"/>
              </a:spcAft>
            </a:pPr>
            <a:r>
              <a:rPr sz="1500" b="1" i="0">
                <a:solidFill>
                  <a:srgbClr val="1E2A3B"/>
                </a:solidFill>
                <a:latin typeface="Calibri"/>
              </a:rPr>
              <a:t>done</a:t>
            </a:r>
          </a:p>
          <a:p>
            <a:pPr algn="l"/>
            <a:r>
              <a:rPr sz="1400" b="0" i="0">
                <a:solidFill>
                  <a:srgbClr val="4F5F74"/>
                </a:solidFill>
                <a:latin typeface="Calibri"/>
              </a:rPr>
              <a:t>goes high at 6. The sequence took 13 cycles.</a:t>
            </a:r>
          </a:p>
        </p:txBody>
      </p:sp>
      <p:sp>
        <p:nvSpPr>
          <p:cNvPr id="12"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13"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How it was verified</a:t>
            </a:r>
          </a:p>
        </p:txBody>
      </p:sp>
      <p:sp>
        <p:nvSpPr>
          <p:cNvPr id="3" name="Rounded Rectangle 2"/>
          <p:cNvSpPr/>
          <p:nvPr/>
        </p:nvSpPr>
        <p:spPr>
          <a:xfrm>
            <a:off x="640080" y="1417320"/>
            <a:ext cx="5355183" cy="4023360"/>
          </a:xfrm>
          <a:prstGeom prst="roundRect">
            <a:avLst>
              <a:gd name="adj" fmla="val 6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96112" y="1645920"/>
            <a:ext cx="4843119" cy="457200"/>
          </a:xfrm>
          <a:prstGeom prst="rect">
            <a:avLst/>
          </a:prstGeom>
          <a:noFill/>
        </p:spPr>
        <p:txBody>
          <a:bodyPr wrap="square" lIns="0" rIns="0" tIns="0" bIns="0" anchor="t">
            <a:spAutoFit/>
          </a:bodyPr>
          <a:lstStyle/>
          <a:p>
            <a:pPr algn="l"/>
            <a:r>
              <a:rPr sz="2200" b="1" i="0">
                <a:solidFill>
                  <a:srgbClr val="1E2A3B"/>
                </a:solidFill>
                <a:latin typeface="Cambria"/>
              </a:rPr>
              <a:t>Slave on its own</a:t>
            </a:r>
          </a:p>
        </p:txBody>
      </p:sp>
      <p:sp>
        <p:nvSpPr>
          <p:cNvPr id="5" name="TextBox 4"/>
          <p:cNvSpPr txBox="1"/>
          <p:nvPr/>
        </p:nvSpPr>
        <p:spPr>
          <a:xfrm>
            <a:off x="896112" y="2194560"/>
            <a:ext cx="4843119" cy="320040"/>
          </a:xfrm>
          <a:prstGeom prst="rect">
            <a:avLst/>
          </a:prstGeom>
          <a:noFill/>
        </p:spPr>
        <p:txBody>
          <a:bodyPr wrap="square" lIns="0" rIns="0" tIns="0" bIns="0" anchor="t">
            <a:spAutoFit/>
          </a:bodyPr>
          <a:lstStyle/>
          <a:p>
            <a:pPr algn="l"/>
            <a:r>
              <a:rPr sz="1300" b="0" i="0">
                <a:solidFill>
                  <a:srgbClr val="4F5F74"/>
                </a:solidFill>
                <a:latin typeface="Consolas"/>
              </a:rPr>
              <a:t>tb_axi4_slave.v</a:t>
            </a:r>
          </a:p>
        </p:txBody>
      </p:sp>
      <p:sp>
        <p:nvSpPr>
          <p:cNvPr id="6" name="TextBox 5"/>
          <p:cNvSpPr txBox="1"/>
          <p:nvPr/>
        </p:nvSpPr>
        <p:spPr>
          <a:xfrm>
            <a:off x="896112" y="2651760"/>
            <a:ext cx="4843119" cy="2606040"/>
          </a:xfrm>
          <a:prstGeom prst="rect">
            <a:avLst/>
          </a:prstGeom>
          <a:noFill/>
        </p:spPr>
        <p:txBody>
          <a:bodyPr wrap="square" lIns="0" rIns="0" tIns="0" bIns="0" anchor="t">
            <a:spAutoFit/>
          </a:bodyPr>
          <a:lstStyle/>
          <a:p>
            <a:pPr algn="l"/>
            <a:r>
              <a:rPr sz="1500" b="0" i="0">
                <a:solidFill>
                  <a:srgbClr val="1E2A3B"/>
                </a:solidFill>
                <a:latin typeface="Calibri"/>
              </a:rPr>
              <a:t>The testbench plays the master. 33 checks: single and multi-beat bursts, data first or address first, held-off responses, byte strobes, ID echo, 256 beats, reset mid-burst.</a:t>
            </a:r>
          </a:p>
        </p:txBody>
      </p:sp>
      <p:sp>
        <p:nvSpPr>
          <p:cNvPr id="7" name="Rounded Rectangle 6"/>
          <p:cNvSpPr/>
          <p:nvPr/>
        </p:nvSpPr>
        <p:spPr>
          <a:xfrm>
            <a:off x="6196431" y="1417320"/>
            <a:ext cx="5355183" cy="4023360"/>
          </a:xfrm>
          <a:prstGeom prst="roundRect">
            <a:avLst>
              <a:gd name="adj" fmla="val 6000"/>
            </a:avLst>
          </a:prstGeom>
          <a:solidFill>
            <a:srgbClr val="D9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52463" y="1645920"/>
            <a:ext cx="4843119" cy="457200"/>
          </a:xfrm>
          <a:prstGeom prst="rect">
            <a:avLst/>
          </a:prstGeom>
          <a:noFill/>
        </p:spPr>
        <p:txBody>
          <a:bodyPr wrap="square" lIns="0" rIns="0" tIns="0" bIns="0" anchor="t">
            <a:spAutoFit/>
          </a:bodyPr>
          <a:lstStyle/>
          <a:p>
            <a:pPr algn="l"/>
            <a:r>
              <a:rPr sz="2200" b="1" i="0">
                <a:solidFill>
                  <a:srgbClr val="1E2A3B"/>
                </a:solidFill>
                <a:latin typeface="Cambria"/>
              </a:rPr>
              <a:t>Whole system</a:t>
            </a:r>
          </a:p>
        </p:txBody>
      </p:sp>
      <p:sp>
        <p:nvSpPr>
          <p:cNvPr id="9" name="TextBox 8"/>
          <p:cNvSpPr txBox="1"/>
          <p:nvPr/>
        </p:nvSpPr>
        <p:spPr>
          <a:xfrm>
            <a:off x="6452463" y="2194560"/>
            <a:ext cx="4843119" cy="320040"/>
          </a:xfrm>
          <a:prstGeom prst="rect">
            <a:avLst/>
          </a:prstGeom>
          <a:noFill/>
        </p:spPr>
        <p:txBody>
          <a:bodyPr wrap="square" lIns="0" rIns="0" tIns="0" bIns="0" anchor="t">
            <a:spAutoFit/>
          </a:bodyPr>
          <a:lstStyle/>
          <a:p>
            <a:pPr algn="l"/>
            <a:r>
              <a:rPr sz="1300" b="0" i="0">
                <a:solidFill>
                  <a:srgbClr val="4F5F74"/>
                </a:solidFill>
                <a:latin typeface="Consolas"/>
              </a:rPr>
              <a:t>tb_axi4_top.v</a:t>
            </a:r>
          </a:p>
        </p:txBody>
      </p:sp>
      <p:sp>
        <p:nvSpPr>
          <p:cNvPr id="10" name="TextBox 9"/>
          <p:cNvSpPr txBox="1"/>
          <p:nvPr/>
        </p:nvSpPr>
        <p:spPr>
          <a:xfrm>
            <a:off x="6452463" y="2651760"/>
            <a:ext cx="4843119" cy="2606040"/>
          </a:xfrm>
          <a:prstGeom prst="rect">
            <a:avLst/>
          </a:prstGeom>
          <a:noFill/>
        </p:spPr>
        <p:txBody>
          <a:bodyPr wrap="square" lIns="0" rIns="0" tIns="0" bIns="0" anchor="t">
            <a:spAutoFit/>
          </a:bodyPr>
          <a:lstStyle/>
          <a:p>
            <a:pPr algn="l"/>
            <a:r>
              <a:rPr sz="1500" b="0" i="0">
                <a:solidFill>
                  <a:srgbClr val="1E2A3B"/>
                </a:solidFill>
                <a:latin typeface="Calibri"/>
              </a:rPr>
              <a:t>Input DFFs, master, slave, output DFFs. 43 checks: idle until start, words in memory and in the output DFFs, pass, OKAY responses, VALID holds, a second run with other values, reset mid-sequence.</a:t>
            </a:r>
          </a:p>
        </p:txBody>
      </p:sp>
      <p:sp>
        <p:nvSpPr>
          <p:cNvPr id="11" name="Rounded Rectangle 10"/>
          <p:cNvSpPr/>
          <p:nvPr/>
        </p:nvSpPr>
        <p:spPr>
          <a:xfrm>
            <a:off x="640080" y="5623560"/>
            <a:ext cx="10881360" cy="566928"/>
          </a:xfrm>
          <a:prstGeom prst="roundRect">
            <a:avLst>
              <a:gd name="adj" fmla="val 6000"/>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5623560"/>
            <a:ext cx="10332720" cy="566928"/>
          </a:xfrm>
          <a:prstGeom prst="rect">
            <a:avLst/>
          </a:prstGeom>
          <a:noFill/>
        </p:spPr>
        <p:txBody>
          <a:bodyPr wrap="square" lIns="0" rIns="0" tIns="0" bIns="0" anchor="ctr">
            <a:spAutoFit/>
          </a:bodyPr>
          <a:lstStyle/>
          <a:p>
            <a:pPr algn="l"/>
            <a:r>
              <a:rPr sz="1700" b="1" i="0">
                <a:solidFill>
                  <a:srgbClr val="1E2A3B"/>
                </a:solidFill>
                <a:latin typeface="Calibri"/>
              </a:rPr>
              <a:t>Total: 33 + 43 = 76 checks, 0 failing.   Run it:  .\run_tests.ps1</a:t>
            </a:r>
          </a:p>
        </p:txBody>
      </p:sp>
      <p:sp>
        <p:nvSpPr>
          <p:cNvPr id="13"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14"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Limits, stated plainly</a:t>
            </a:r>
          </a:p>
        </p:txBody>
      </p:sp>
      <p:sp>
        <p:nvSpPr>
          <p:cNvPr id="3" name="Rounded Rectangle 2"/>
          <p:cNvSpPr/>
          <p:nvPr/>
        </p:nvSpPr>
        <p:spPr>
          <a:xfrm>
            <a:off x="640080" y="141732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581912"/>
            <a:ext cx="4846320" cy="365760"/>
          </a:xfrm>
          <a:prstGeom prst="rect">
            <a:avLst/>
          </a:prstGeom>
          <a:noFill/>
        </p:spPr>
        <p:txBody>
          <a:bodyPr wrap="square" lIns="0" rIns="0" tIns="0" bIns="0" anchor="t">
            <a:spAutoFit/>
          </a:bodyPr>
          <a:lstStyle/>
          <a:p>
            <a:pPr algn="l"/>
            <a:r>
              <a:rPr sz="1800" b="1" i="0">
                <a:solidFill>
                  <a:srgbClr val="1E2A3B"/>
                </a:solidFill>
                <a:latin typeface="Cambria"/>
              </a:rPr>
              <a:t>Fixed burst shape</a:t>
            </a:r>
          </a:p>
        </p:txBody>
      </p:sp>
      <p:sp>
        <p:nvSpPr>
          <p:cNvPr id="5" name="TextBox 4"/>
          <p:cNvSpPr txBox="1"/>
          <p:nvPr/>
        </p:nvSpPr>
        <p:spPr>
          <a:xfrm>
            <a:off x="914400" y="2039112"/>
            <a:ext cx="4846320" cy="685800"/>
          </a:xfrm>
          <a:prstGeom prst="rect">
            <a:avLst/>
          </a:prstGeom>
          <a:noFill/>
        </p:spPr>
        <p:txBody>
          <a:bodyPr wrap="square" lIns="0" rIns="0" tIns="0" bIns="0" anchor="t">
            <a:spAutoFit/>
          </a:bodyPr>
          <a:lstStyle/>
          <a:p>
            <a:pPr algn="l"/>
            <a:r>
              <a:rPr sz="1400" b="0" i="0">
                <a:solidFill>
                  <a:srgbClr val="4F5F74"/>
                </a:solidFill>
                <a:latin typeface="Calibri"/>
              </a:rPr>
              <a:t>The master always writes and reads four words, with all four bytes enabled.</a:t>
            </a:r>
          </a:p>
        </p:txBody>
      </p:sp>
      <p:sp>
        <p:nvSpPr>
          <p:cNvPr id="6" name="Rounded Rectangle 5"/>
          <p:cNvSpPr/>
          <p:nvPr/>
        </p:nvSpPr>
        <p:spPr>
          <a:xfrm>
            <a:off x="6172200" y="141732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46520" y="1581912"/>
            <a:ext cx="4846320" cy="365760"/>
          </a:xfrm>
          <a:prstGeom prst="rect">
            <a:avLst/>
          </a:prstGeom>
          <a:noFill/>
        </p:spPr>
        <p:txBody>
          <a:bodyPr wrap="square" lIns="0" rIns="0" tIns="0" bIns="0" anchor="t">
            <a:spAutoFit/>
          </a:bodyPr>
          <a:lstStyle/>
          <a:p>
            <a:pPr algn="l"/>
            <a:r>
              <a:rPr sz="1800" b="1" i="0">
                <a:solidFill>
                  <a:srgbClr val="1E2A3B"/>
                </a:solidFill>
                <a:latin typeface="Cambria"/>
              </a:rPr>
              <a:t>Load, then start</a:t>
            </a:r>
          </a:p>
        </p:txBody>
      </p:sp>
      <p:sp>
        <p:nvSpPr>
          <p:cNvPr id="8" name="TextBox 7"/>
          <p:cNvSpPr txBox="1"/>
          <p:nvPr/>
        </p:nvSpPr>
        <p:spPr>
          <a:xfrm>
            <a:off x="6446520" y="2039112"/>
            <a:ext cx="4846320" cy="685800"/>
          </a:xfrm>
          <a:prstGeom prst="rect">
            <a:avLst/>
          </a:prstGeom>
          <a:noFill/>
        </p:spPr>
        <p:txBody>
          <a:bodyPr wrap="square" lIns="0" rIns="0" tIns="0" bIns="0" anchor="t">
            <a:spAutoFit/>
          </a:bodyPr>
          <a:lstStyle/>
          <a:p>
            <a:pPr algn="l"/>
            <a:r>
              <a:rPr sz="1400" b="0" i="0">
                <a:solidFill>
                  <a:srgbClr val="4F5F74"/>
                </a:solidFill>
                <a:latin typeface="Calibri"/>
              </a:rPr>
              <a:t>The input DFFs must not change while a sequence runs. The master reads them live.</a:t>
            </a:r>
          </a:p>
        </p:txBody>
      </p:sp>
      <p:sp>
        <p:nvSpPr>
          <p:cNvPr id="9" name="Rounded Rectangle 8"/>
          <p:cNvSpPr/>
          <p:nvPr/>
        </p:nvSpPr>
        <p:spPr>
          <a:xfrm>
            <a:off x="640080" y="297180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3136392"/>
            <a:ext cx="4846320" cy="365760"/>
          </a:xfrm>
          <a:prstGeom prst="rect">
            <a:avLst/>
          </a:prstGeom>
          <a:noFill/>
        </p:spPr>
        <p:txBody>
          <a:bodyPr wrap="square" lIns="0" rIns="0" tIns="0" bIns="0" anchor="t">
            <a:spAutoFit/>
          </a:bodyPr>
          <a:lstStyle/>
          <a:p>
            <a:pPr algn="l"/>
            <a:r>
              <a:rPr sz="1800" b="1" i="0">
                <a:solidFill>
                  <a:srgbClr val="1E2A3B"/>
                </a:solidFill>
                <a:latin typeface="Cambria"/>
              </a:rPr>
              <a:t>Counting-up bursts only</a:t>
            </a:r>
          </a:p>
        </p:txBody>
      </p:sp>
      <p:sp>
        <p:nvSpPr>
          <p:cNvPr id="11" name="TextBox 10"/>
          <p:cNvSpPr txBox="1"/>
          <p:nvPr/>
        </p:nvSpPr>
        <p:spPr>
          <a:xfrm>
            <a:off x="914400" y="3593592"/>
            <a:ext cx="4846320" cy="685800"/>
          </a:xfrm>
          <a:prstGeom prst="rect">
            <a:avLst/>
          </a:prstGeom>
          <a:noFill/>
        </p:spPr>
        <p:txBody>
          <a:bodyPr wrap="square" lIns="0" rIns="0" tIns="0" bIns="0" anchor="t">
            <a:spAutoFit/>
          </a:bodyPr>
          <a:lstStyle/>
          <a:p>
            <a:pPr algn="l"/>
            <a:r>
              <a:rPr sz="1400" b="0" i="0">
                <a:solidFill>
                  <a:srgbClr val="4F5F74"/>
                </a:solidFill>
                <a:latin typeface="Calibri"/>
              </a:rPr>
              <a:t>No FIXED or WRAP bursts and no narrow beats. The address adds 4 per beat.</a:t>
            </a:r>
          </a:p>
        </p:txBody>
      </p:sp>
      <p:sp>
        <p:nvSpPr>
          <p:cNvPr id="12" name="Rounded Rectangle 11"/>
          <p:cNvSpPr/>
          <p:nvPr/>
        </p:nvSpPr>
        <p:spPr>
          <a:xfrm>
            <a:off x="6172200" y="297180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3136392"/>
            <a:ext cx="4846320" cy="365760"/>
          </a:xfrm>
          <a:prstGeom prst="rect">
            <a:avLst/>
          </a:prstGeom>
          <a:noFill/>
        </p:spPr>
        <p:txBody>
          <a:bodyPr wrap="square" lIns="0" rIns="0" tIns="0" bIns="0" anchor="t">
            <a:spAutoFit/>
          </a:bodyPr>
          <a:lstStyle/>
          <a:p>
            <a:pPr algn="l"/>
            <a:r>
              <a:rPr sz="1800" b="1" i="0">
                <a:solidFill>
                  <a:srgbClr val="1E2A3B"/>
                </a:solidFill>
                <a:latin typeface="Cambria"/>
              </a:rPr>
              <a:t>Always OKAY</a:t>
            </a:r>
          </a:p>
        </p:txBody>
      </p:sp>
      <p:sp>
        <p:nvSpPr>
          <p:cNvPr id="14" name="TextBox 13"/>
          <p:cNvSpPr txBox="1"/>
          <p:nvPr/>
        </p:nvSpPr>
        <p:spPr>
          <a:xfrm>
            <a:off x="6446520" y="3593592"/>
            <a:ext cx="4846320" cy="685800"/>
          </a:xfrm>
          <a:prstGeom prst="rect">
            <a:avLst/>
          </a:prstGeom>
          <a:noFill/>
        </p:spPr>
        <p:txBody>
          <a:bodyPr wrap="square" lIns="0" rIns="0" tIns="0" bIns="0" anchor="t">
            <a:spAutoFit/>
          </a:bodyPr>
          <a:lstStyle/>
          <a:p>
            <a:pPr algn="l"/>
            <a:r>
              <a:rPr sz="1400" b="0" i="0">
                <a:solidFill>
                  <a:srgbClr val="4F5F74"/>
                </a:solidFill>
                <a:latin typeface="Calibri"/>
              </a:rPr>
              <a:t>No error responses. An address beyond the 4 KiB wraps inside the memory.</a:t>
            </a:r>
          </a:p>
        </p:txBody>
      </p:sp>
      <p:sp>
        <p:nvSpPr>
          <p:cNvPr id="15" name="Rounded Rectangle 14"/>
          <p:cNvSpPr/>
          <p:nvPr/>
        </p:nvSpPr>
        <p:spPr>
          <a:xfrm>
            <a:off x="640080" y="452628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690872"/>
            <a:ext cx="4846320" cy="365760"/>
          </a:xfrm>
          <a:prstGeom prst="rect">
            <a:avLst/>
          </a:prstGeom>
          <a:noFill/>
        </p:spPr>
        <p:txBody>
          <a:bodyPr wrap="square" lIns="0" rIns="0" tIns="0" bIns="0" anchor="t">
            <a:spAutoFit/>
          </a:bodyPr>
          <a:lstStyle/>
          <a:p>
            <a:pPr algn="l"/>
            <a:r>
              <a:rPr sz="1800" b="1" i="0">
                <a:solidFill>
                  <a:srgbClr val="1E2A3B"/>
                </a:solidFill>
                <a:latin typeface="Cambria"/>
              </a:rPr>
              <a:t>One burst at a time</a:t>
            </a:r>
          </a:p>
        </p:txBody>
      </p:sp>
      <p:sp>
        <p:nvSpPr>
          <p:cNvPr id="17" name="TextBox 16"/>
          <p:cNvSpPr txBox="1"/>
          <p:nvPr/>
        </p:nvSpPr>
        <p:spPr>
          <a:xfrm>
            <a:off x="914400" y="5148072"/>
            <a:ext cx="4846320" cy="685800"/>
          </a:xfrm>
          <a:prstGeom prst="rect">
            <a:avLst/>
          </a:prstGeom>
          <a:noFill/>
        </p:spPr>
        <p:txBody>
          <a:bodyPr wrap="square" lIns="0" rIns="0" tIns="0" bIns="0" anchor="t">
            <a:spAutoFit/>
          </a:bodyPr>
          <a:lstStyle/>
          <a:p>
            <a:pPr algn="l"/>
            <a:r>
              <a:rPr sz="1400" b="0" i="0">
                <a:solidFill>
                  <a:srgbClr val="4F5F74"/>
                </a:solidFill>
                <a:latin typeface="Calibri"/>
              </a:rPr>
              <a:t>One write or one read in progress. IDs are echoed, never used to reorder.</a:t>
            </a:r>
          </a:p>
        </p:txBody>
      </p:sp>
      <p:sp>
        <p:nvSpPr>
          <p:cNvPr id="18" name="Rounded Rectangle 17"/>
          <p:cNvSpPr/>
          <p:nvPr/>
        </p:nvSpPr>
        <p:spPr>
          <a:xfrm>
            <a:off x="6172200" y="4526280"/>
            <a:ext cx="5349240"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46520" y="4690872"/>
            <a:ext cx="4846320" cy="365760"/>
          </a:xfrm>
          <a:prstGeom prst="rect">
            <a:avLst/>
          </a:prstGeom>
          <a:noFill/>
        </p:spPr>
        <p:txBody>
          <a:bodyPr wrap="square" lIns="0" rIns="0" tIns="0" bIns="0" anchor="t">
            <a:spAutoFit/>
          </a:bodyPr>
          <a:lstStyle/>
          <a:p>
            <a:pPr algn="l"/>
            <a:r>
              <a:rPr sz="1800" b="1" i="0">
                <a:solidFill>
                  <a:srgbClr val="1E2A3B"/>
                </a:solidFill>
                <a:latin typeface="Cambria"/>
              </a:rPr>
              <a:t>No attribute signals</a:t>
            </a:r>
          </a:p>
        </p:txBody>
      </p:sp>
      <p:sp>
        <p:nvSpPr>
          <p:cNvPr id="20" name="TextBox 19"/>
          <p:cNvSpPr txBox="1"/>
          <p:nvPr/>
        </p:nvSpPr>
        <p:spPr>
          <a:xfrm>
            <a:off x="6446520" y="5148072"/>
            <a:ext cx="4846320" cy="685800"/>
          </a:xfrm>
          <a:prstGeom prst="rect">
            <a:avLst/>
          </a:prstGeom>
          <a:noFill/>
        </p:spPr>
        <p:txBody>
          <a:bodyPr wrap="square" lIns="0" rIns="0" tIns="0" bIns="0" anchor="t">
            <a:spAutoFit/>
          </a:bodyPr>
          <a:lstStyle/>
          <a:p>
            <a:pPr algn="l"/>
            <a:r>
              <a:rPr sz="1400" b="0" i="0">
                <a:solidFill>
                  <a:srgbClr val="4F5F74"/>
                </a:solidFill>
                <a:latin typeface="Calibri"/>
              </a:rPr>
              <a:t>AxLOCK, AxCACHE, AxPROT and AxQOS are not included.</a:t>
            </a:r>
          </a:p>
        </p:txBody>
      </p:sp>
      <p:sp>
        <p:nvSpPr>
          <p:cNvPr id="21"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2"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33"/>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EEF2F8"/>
                </a:solidFill>
                <a:latin typeface="Cambria"/>
              </a:rPr>
              <a:t>Live demo</a:t>
            </a:r>
          </a:p>
        </p:txBody>
      </p:sp>
      <p:sp>
        <p:nvSpPr>
          <p:cNvPr id="3" name="Rounded Rectangle 2"/>
          <p:cNvSpPr/>
          <p:nvPr/>
        </p:nvSpPr>
        <p:spPr>
          <a:xfrm>
            <a:off x="640080" y="1463040"/>
            <a:ext cx="6766560" cy="2743200"/>
          </a:xfrm>
          <a:prstGeom prst="roundRect">
            <a:avLst>
              <a:gd name="adj" fmla="val 6000"/>
            </a:avLst>
          </a:prstGeom>
          <a:solidFill>
            <a:srgbClr val="0F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1691640"/>
            <a:ext cx="6217920" cy="2377440"/>
          </a:xfrm>
          <a:prstGeom prst="rect">
            <a:avLst/>
          </a:prstGeom>
          <a:noFill/>
        </p:spPr>
        <p:txBody>
          <a:bodyPr wrap="square" lIns="0" rIns="0" tIns="0" bIns="0" anchor="t">
            <a:spAutoFit/>
          </a:bodyPr>
          <a:lstStyle/>
          <a:p>
            <a:pPr algn="l">
              <a:spcAft>
                <a:spcPts val="1400"/>
              </a:spcAft>
            </a:pPr>
            <a:r>
              <a:rPr sz="1800" b="0" i="0">
                <a:solidFill>
                  <a:srgbClr val="EEF2F8"/>
                </a:solidFill>
                <a:latin typeface="Consolas"/>
              </a:rPr>
              <a:t>cd E:\FPGA_Project</a:t>
            </a:r>
          </a:p>
          <a:p>
            <a:pPr algn="l">
              <a:spcAft>
                <a:spcPts val="1400"/>
              </a:spcAft>
            </a:pPr>
            <a:r>
              <a:rPr sz="1800" b="0" i="0">
                <a:solidFill>
                  <a:srgbClr val="FFC845"/>
                </a:solidFill>
                <a:latin typeface="Consolas"/>
              </a:rPr>
              <a:t>.\run_tests.ps1</a:t>
            </a:r>
          </a:p>
          <a:p>
            <a:pPr algn="l">
              <a:spcAft>
                <a:spcPts val="0"/>
              </a:spcAft>
            </a:pPr>
            <a:r>
              <a:rPr sz="1800" b="0" i="0">
                <a:solidFill>
                  <a:srgbClr val="FFC845"/>
                </a:solidFill>
                <a:latin typeface="Consolas"/>
              </a:rPr>
              <a:t>.\run_tests.ps1 -Suite top -Wave</a:t>
            </a:r>
          </a:p>
        </p:txBody>
      </p:sp>
      <p:sp>
        <p:nvSpPr>
          <p:cNvPr id="5" name="TextBox 4"/>
          <p:cNvSpPr txBox="1"/>
          <p:nvPr/>
        </p:nvSpPr>
        <p:spPr>
          <a:xfrm>
            <a:off x="7955279" y="1463040"/>
            <a:ext cx="3566160" cy="365760"/>
          </a:xfrm>
          <a:prstGeom prst="rect">
            <a:avLst/>
          </a:prstGeom>
          <a:noFill/>
        </p:spPr>
        <p:txBody>
          <a:bodyPr wrap="square" lIns="0" rIns="0" tIns="0" bIns="0" anchor="t">
            <a:spAutoFit/>
          </a:bodyPr>
          <a:lstStyle/>
          <a:p>
            <a:pPr algn="l"/>
            <a:r>
              <a:rPr sz="2000" b="1" i="0">
                <a:solidFill>
                  <a:srgbClr val="FFC845"/>
                </a:solidFill>
                <a:latin typeface="Cambria"/>
              </a:rPr>
              <a:t>What to point at</a:t>
            </a:r>
          </a:p>
        </p:txBody>
      </p:sp>
      <p:sp>
        <p:nvSpPr>
          <p:cNvPr id="6" name="TextBox 5"/>
          <p:cNvSpPr txBox="1"/>
          <p:nvPr/>
        </p:nvSpPr>
        <p:spPr>
          <a:xfrm>
            <a:off x="7955279" y="1965960"/>
            <a:ext cx="3566160" cy="2743200"/>
          </a:xfrm>
          <a:prstGeom prst="rect">
            <a:avLst/>
          </a:prstGeom>
          <a:noFill/>
        </p:spPr>
        <p:txBody>
          <a:bodyPr wrap="square" lIns="0" rIns="0" tIns="0" bIns="0" anchor="t">
            <a:spAutoFit/>
          </a:bodyPr>
          <a:lstStyle/>
          <a:p>
            <a:pPr algn="l">
              <a:spcAft>
                <a:spcPts val="1000"/>
              </a:spcAft>
            </a:pPr>
            <a:r>
              <a:rPr sz="1600" b="0" i="0">
                <a:solidFill>
                  <a:srgbClr val="EEF2F8"/>
                </a:solidFill>
                <a:latin typeface="Calibri"/>
              </a:rPr>
              <a:t>Two suites, each ending TEST PASSED</a:t>
            </a:r>
          </a:p>
          <a:p>
            <a:pPr algn="l">
              <a:spcAft>
                <a:spcPts val="1000"/>
              </a:spcAft>
            </a:pPr>
            <a:r>
              <a:rPr sz="1600" b="0" i="0">
                <a:solidFill>
                  <a:srgbClr val="EEF2F8"/>
                </a:solidFill>
                <a:latin typeface="Calibri"/>
              </a:rPr>
              <a:t>Check counts: 33 and 43</a:t>
            </a:r>
          </a:p>
          <a:p>
            <a:pPr algn="l">
              <a:spcAft>
                <a:spcPts val="0"/>
              </a:spcAft>
            </a:pPr>
            <a:r>
              <a:rPr sz="1600" b="0" i="0">
                <a:solidFill>
                  <a:srgbClr val="EEF2F8"/>
                </a:solidFill>
                <a:latin typeface="Calibri"/>
              </a:rPr>
              <a:t>"the whole sequence took 13 clock cycles"</a:t>
            </a:r>
          </a:p>
        </p:txBody>
      </p:sp>
      <p:sp>
        <p:nvSpPr>
          <p:cNvPr id="7" name="Rounded Rectangle 6"/>
          <p:cNvSpPr/>
          <p:nvPr/>
        </p:nvSpPr>
        <p:spPr>
          <a:xfrm>
            <a:off x="640080" y="4572000"/>
            <a:ext cx="10881360" cy="1371600"/>
          </a:xfrm>
          <a:prstGeom prst="roundRect">
            <a:avLst>
              <a:gd name="adj" fmla="val 6000"/>
            </a:avLst>
          </a:prstGeom>
          <a:solidFill>
            <a:srgbClr val="22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4754880"/>
            <a:ext cx="10149840" cy="1097280"/>
          </a:xfrm>
          <a:prstGeom prst="rect">
            <a:avLst/>
          </a:prstGeom>
          <a:noFill/>
        </p:spPr>
        <p:txBody>
          <a:bodyPr wrap="square" lIns="0" rIns="0" tIns="0" bIns="0" anchor="t">
            <a:spAutoFit/>
          </a:bodyPr>
          <a:lstStyle/>
          <a:p>
            <a:pPr algn="l">
              <a:spcAft>
                <a:spcPts val="600"/>
              </a:spcAft>
            </a:pPr>
            <a:r>
              <a:rPr sz="1700" b="1" i="0">
                <a:solidFill>
                  <a:srgbClr val="FFC845"/>
                </a:solidFill>
                <a:latin typeface="Calibri"/>
              </a:rPr>
              <a:t>If the live run fails</a:t>
            </a:r>
          </a:p>
          <a:p>
            <a:pPr algn="l"/>
            <a:r>
              <a:rPr sz="1600" b="0" i="0">
                <a:solidFill>
                  <a:srgbClr val="EEF2F8"/>
                </a:solidFill>
                <a:latin typeface="Calibri"/>
              </a:rPr>
              <a:t>Slides 11 and 12 are recorded from this same simulation. Logs and waveforms are written to the build folder.</a:t>
            </a:r>
          </a:p>
        </p:txBody>
      </p:sp>
      <p:sp>
        <p:nvSpPr>
          <p:cNvPr id="9"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B7C3D6"/>
                </a:solidFill>
                <a:latin typeface="Calibri"/>
              </a:rPr>
              <a:t>AXI4: input D flip-flops, a master, a slave and output D flip-flops, in Verilog</a:t>
            </a:r>
          </a:p>
        </p:txBody>
      </p:sp>
      <p:sp>
        <p:nvSpPr>
          <p:cNvPr id="10"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B7C3D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itle"/>
          <p:cNvSpPr txBox="1"/>
          <p:nvPr/>
        </p:nvSpPr>
        <p:spPr>
          <a:xfrm>
            <a:off x="640080" y="411480"/>
            <a:ext cx="10911535" cy="822960"/>
          </a:xfrm>
          <a:prstGeom prst="rect">
            <a:avLst/>
          </a:prstGeom>
          <a:noFill/>
        </p:spPr>
        <p:txBody>
          <a:bodyPr wrap="square" lIns="0" rIns="0" tIns="0" bIns="0" anchor="ctr">
            <a:spAutoFit/>
          </a:bodyPr>
          <a:lstStyle/>
          <a:p>
            <a:pPr algn="l"/>
            <a:r>
              <a:rPr sz="3800" b="1" i="0">
                <a:solidFill>
                  <a:srgbClr val="1E2A3B"/>
                </a:solidFill>
                <a:latin typeface="Cambria"/>
              </a:rPr>
              <a:t>Questions we expect</a:t>
            </a:r>
          </a:p>
        </p:txBody>
      </p:sp>
      <p:sp>
        <p:nvSpPr>
          <p:cNvPr id="3" name="Rounded Rectangle 2"/>
          <p:cNvSpPr/>
          <p:nvPr/>
        </p:nvSpPr>
        <p:spPr>
          <a:xfrm>
            <a:off x="640080" y="1417320"/>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572768"/>
            <a:ext cx="4846320" cy="365760"/>
          </a:xfrm>
          <a:prstGeom prst="rect">
            <a:avLst/>
          </a:prstGeom>
          <a:noFill/>
        </p:spPr>
        <p:txBody>
          <a:bodyPr wrap="square" lIns="0" rIns="0" tIns="0" bIns="0" anchor="t">
            <a:spAutoFit/>
          </a:bodyPr>
          <a:lstStyle/>
          <a:p>
            <a:pPr algn="l"/>
            <a:r>
              <a:rPr sz="1700" b="1" i="0">
                <a:solidFill>
                  <a:srgbClr val="1E2A3B"/>
                </a:solidFill>
                <a:latin typeface="Cambria"/>
              </a:rPr>
              <a:t>Why five channels?</a:t>
            </a:r>
          </a:p>
        </p:txBody>
      </p:sp>
      <p:sp>
        <p:nvSpPr>
          <p:cNvPr id="5" name="TextBox 4"/>
          <p:cNvSpPr txBox="1"/>
          <p:nvPr/>
        </p:nvSpPr>
        <p:spPr>
          <a:xfrm>
            <a:off x="914400" y="2020824"/>
            <a:ext cx="4846320" cy="777240"/>
          </a:xfrm>
          <a:prstGeom prst="rect">
            <a:avLst/>
          </a:prstGeom>
          <a:noFill/>
        </p:spPr>
        <p:txBody>
          <a:bodyPr wrap="square" lIns="0" rIns="0" tIns="0" bIns="0" anchor="t">
            <a:spAutoFit/>
          </a:bodyPr>
          <a:lstStyle/>
          <a:p>
            <a:pPr algn="l"/>
            <a:r>
              <a:rPr sz="1500" b="0" i="0">
                <a:solidFill>
                  <a:srgbClr val="4F5F74"/>
                </a:solidFill>
                <a:latin typeface="Calibri"/>
              </a:rPr>
              <a:t>Address, data and response move independently, so a slow response never blocks the next address.</a:t>
            </a:r>
          </a:p>
        </p:txBody>
      </p:sp>
      <p:sp>
        <p:nvSpPr>
          <p:cNvPr id="6" name="Rounded Rectangle 5"/>
          <p:cNvSpPr/>
          <p:nvPr/>
        </p:nvSpPr>
        <p:spPr>
          <a:xfrm>
            <a:off x="6172200" y="1417320"/>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46520" y="1572768"/>
            <a:ext cx="4846320" cy="365760"/>
          </a:xfrm>
          <a:prstGeom prst="rect">
            <a:avLst/>
          </a:prstGeom>
          <a:noFill/>
        </p:spPr>
        <p:txBody>
          <a:bodyPr wrap="square" lIns="0" rIns="0" tIns="0" bIns="0" anchor="t">
            <a:spAutoFit/>
          </a:bodyPr>
          <a:lstStyle/>
          <a:p>
            <a:pPr algn="l"/>
            <a:r>
              <a:rPr sz="1700" b="1" i="0">
                <a:solidFill>
                  <a:srgbClr val="1E2A3B"/>
                </a:solidFill>
                <a:latin typeface="Cambria"/>
              </a:rPr>
              <a:t>Is there an interconnect?</a:t>
            </a:r>
          </a:p>
        </p:txBody>
      </p:sp>
      <p:sp>
        <p:nvSpPr>
          <p:cNvPr id="8" name="TextBox 7"/>
          <p:cNvSpPr txBox="1"/>
          <p:nvPr/>
        </p:nvSpPr>
        <p:spPr>
          <a:xfrm>
            <a:off x="6446520" y="2020824"/>
            <a:ext cx="4846320" cy="777240"/>
          </a:xfrm>
          <a:prstGeom prst="rect">
            <a:avLst/>
          </a:prstGeom>
          <a:noFill/>
        </p:spPr>
        <p:txBody>
          <a:bodyPr wrap="square" lIns="0" rIns="0" tIns="0" bIns="0" anchor="t">
            <a:spAutoFit/>
          </a:bodyPr>
          <a:lstStyle/>
          <a:p>
            <a:pPr algn="l"/>
            <a:r>
              <a:rPr sz="1500" b="0" i="0">
                <a:solidFill>
                  <a:srgbClr val="4F5F74"/>
                </a:solidFill>
                <a:latin typeface="Calibri"/>
              </a:rPr>
              <a:t>No. One master and one slave are wired directly. An interconnect is for more of either.</a:t>
            </a:r>
          </a:p>
        </p:txBody>
      </p:sp>
      <p:sp>
        <p:nvSpPr>
          <p:cNvPr id="9" name="Rounded Rectangle 8"/>
          <p:cNvSpPr/>
          <p:nvPr/>
        </p:nvSpPr>
        <p:spPr>
          <a:xfrm>
            <a:off x="640080" y="2990088"/>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3145536"/>
            <a:ext cx="4846320" cy="365760"/>
          </a:xfrm>
          <a:prstGeom prst="rect">
            <a:avLst/>
          </a:prstGeom>
          <a:noFill/>
        </p:spPr>
        <p:txBody>
          <a:bodyPr wrap="square" lIns="0" rIns="0" tIns="0" bIns="0" anchor="t">
            <a:spAutoFit/>
          </a:bodyPr>
          <a:lstStyle/>
          <a:p>
            <a:pPr algn="l"/>
            <a:r>
              <a:rPr sz="1700" b="1" i="0">
                <a:solidFill>
                  <a:srgbClr val="1E2A3B"/>
                </a:solidFill>
                <a:latin typeface="Cambria"/>
              </a:rPr>
              <a:t>Where does the data come from?</a:t>
            </a:r>
          </a:p>
        </p:txBody>
      </p:sp>
      <p:sp>
        <p:nvSpPr>
          <p:cNvPr id="11" name="TextBox 10"/>
          <p:cNvSpPr txBox="1"/>
          <p:nvPr/>
        </p:nvSpPr>
        <p:spPr>
          <a:xfrm>
            <a:off x="914400" y="3593592"/>
            <a:ext cx="4846320" cy="777240"/>
          </a:xfrm>
          <a:prstGeom prst="rect">
            <a:avLst/>
          </a:prstGeom>
          <a:noFill/>
        </p:spPr>
        <p:txBody>
          <a:bodyPr wrap="square" lIns="0" rIns="0" tIns="0" bIns="0" anchor="t">
            <a:spAutoFit/>
          </a:bodyPr>
          <a:lstStyle/>
          <a:p>
            <a:pPr algn="l"/>
            <a:r>
              <a:rPr sz="1500" b="0" i="0">
                <a:solidFill>
                  <a:srgbClr val="4F5F74"/>
                </a:solidFill>
                <a:latin typeface="Calibri"/>
              </a:rPr>
              <a:t>From the input D flip-flops, loaded by the testbench. The master reads them and writes to the slave.</a:t>
            </a:r>
          </a:p>
        </p:txBody>
      </p:sp>
      <p:sp>
        <p:nvSpPr>
          <p:cNvPr id="12" name="Rounded Rectangle 11"/>
          <p:cNvSpPr/>
          <p:nvPr/>
        </p:nvSpPr>
        <p:spPr>
          <a:xfrm>
            <a:off x="6172200" y="2990088"/>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3145536"/>
            <a:ext cx="4846320" cy="365760"/>
          </a:xfrm>
          <a:prstGeom prst="rect">
            <a:avLst/>
          </a:prstGeom>
          <a:noFill/>
        </p:spPr>
        <p:txBody>
          <a:bodyPr wrap="square" lIns="0" rIns="0" tIns="0" bIns="0" anchor="t">
            <a:spAutoFit/>
          </a:bodyPr>
          <a:lstStyle/>
          <a:p>
            <a:pPr algn="l"/>
            <a:r>
              <a:rPr sz="1700" b="1" i="0">
                <a:solidFill>
                  <a:srgbClr val="1E2A3B"/>
                </a:solidFill>
                <a:latin typeface="Cambria"/>
              </a:rPr>
              <a:t>Where does the read data go?</a:t>
            </a:r>
          </a:p>
        </p:txBody>
      </p:sp>
      <p:sp>
        <p:nvSpPr>
          <p:cNvPr id="14" name="TextBox 13"/>
          <p:cNvSpPr txBox="1"/>
          <p:nvPr/>
        </p:nvSpPr>
        <p:spPr>
          <a:xfrm>
            <a:off x="6446520" y="3593592"/>
            <a:ext cx="4846320" cy="777240"/>
          </a:xfrm>
          <a:prstGeom prst="rect">
            <a:avLst/>
          </a:prstGeom>
          <a:noFill/>
        </p:spPr>
        <p:txBody>
          <a:bodyPr wrap="square" lIns="0" rIns="0" tIns="0" bIns="0" anchor="t">
            <a:spAutoFit/>
          </a:bodyPr>
          <a:lstStyle/>
          <a:p>
            <a:pPr algn="l"/>
            <a:r>
              <a:rPr sz="1500" b="0" i="0">
                <a:solidFill>
                  <a:srgbClr val="4F5F74"/>
                </a:solidFill>
                <a:latin typeface="Calibri"/>
              </a:rPr>
              <a:t>Into the output D flip-flops, one register per beat. pass compares them with the input.</a:t>
            </a:r>
          </a:p>
        </p:txBody>
      </p:sp>
      <p:sp>
        <p:nvSpPr>
          <p:cNvPr id="15" name="Rounded Rectangle 14"/>
          <p:cNvSpPr/>
          <p:nvPr/>
        </p:nvSpPr>
        <p:spPr>
          <a:xfrm>
            <a:off x="640080" y="4562856"/>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718304"/>
            <a:ext cx="4846320" cy="365760"/>
          </a:xfrm>
          <a:prstGeom prst="rect">
            <a:avLst/>
          </a:prstGeom>
          <a:noFill/>
        </p:spPr>
        <p:txBody>
          <a:bodyPr wrap="square" lIns="0" rIns="0" tIns="0" bIns="0" anchor="t">
            <a:spAutoFit/>
          </a:bodyPr>
          <a:lstStyle/>
          <a:p>
            <a:pPr algn="l"/>
            <a:r>
              <a:rPr sz="1700" b="1" i="0">
                <a:solidFill>
                  <a:srgbClr val="1E2A3B"/>
                </a:solidFill>
                <a:latin typeface="Cambria"/>
              </a:rPr>
              <a:t>How do we know it worked?</a:t>
            </a:r>
          </a:p>
        </p:txBody>
      </p:sp>
      <p:sp>
        <p:nvSpPr>
          <p:cNvPr id="17" name="TextBox 16"/>
          <p:cNvSpPr txBox="1"/>
          <p:nvPr/>
        </p:nvSpPr>
        <p:spPr>
          <a:xfrm>
            <a:off x="914400" y="5166360"/>
            <a:ext cx="4846320" cy="777240"/>
          </a:xfrm>
          <a:prstGeom prst="rect">
            <a:avLst/>
          </a:prstGeom>
          <a:noFill/>
        </p:spPr>
        <p:txBody>
          <a:bodyPr wrap="square" lIns="0" rIns="0" tIns="0" bIns="0" anchor="t">
            <a:spAutoFit/>
          </a:bodyPr>
          <a:lstStyle/>
          <a:p>
            <a:pPr algn="l"/>
            <a:r>
              <a:rPr sz="1500" b="0" i="0">
                <a:solidFill>
                  <a:srgbClr val="4F5F74"/>
                </a:solidFill>
                <a:latin typeface="Calibri"/>
              </a:rPr>
              <a:t>pass compares read-back with what was written. The testbench also checks the slave's memory.</a:t>
            </a:r>
          </a:p>
        </p:txBody>
      </p:sp>
      <p:sp>
        <p:nvSpPr>
          <p:cNvPr id="18" name="Rounded Rectangle 17"/>
          <p:cNvSpPr/>
          <p:nvPr/>
        </p:nvSpPr>
        <p:spPr>
          <a:xfrm>
            <a:off x="6172200" y="4562856"/>
            <a:ext cx="53492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46520" y="4718304"/>
            <a:ext cx="4846320" cy="365760"/>
          </a:xfrm>
          <a:prstGeom prst="rect">
            <a:avLst/>
          </a:prstGeom>
          <a:noFill/>
        </p:spPr>
        <p:txBody>
          <a:bodyPr wrap="square" lIns="0" rIns="0" tIns="0" bIns="0" anchor="t">
            <a:spAutoFit/>
          </a:bodyPr>
          <a:lstStyle/>
          <a:p>
            <a:pPr algn="l"/>
            <a:r>
              <a:rPr sz="1700" b="1" i="0">
                <a:solidFill>
                  <a:srgbClr val="1E2A3B"/>
                </a:solidFill>
                <a:latin typeface="Cambria"/>
              </a:rPr>
              <a:t>How does the slave know the end?</a:t>
            </a:r>
          </a:p>
        </p:txBody>
      </p:sp>
      <p:sp>
        <p:nvSpPr>
          <p:cNvPr id="20" name="TextBox 19"/>
          <p:cNvSpPr txBox="1"/>
          <p:nvPr/>
        </p:nvSpPr>
        <p:spPr>
          <a:xfrm>
            <a:off x="6446520" y="5166360"/>
            <a:ext cx="4846320" cy="777240"/>
          </a:xfrm>
          <a:prstGeom prst="rect">
            <a:avLst/>
          </a:prstGeom>
          <a:noFill/>
        </p:spPr>
        <p:txBody>
          <a:bodyPr wrap="square" lIns="0" rIns="0" tIns="0" bIns="0" anchor="t">
            <a:spAutoFit/>
          </a:bodyPr>
          <a:lstStyle/>
          <a:p>
            <a:pPr algn="l"/>
            <a:r>
              <a:rPr sz="1500" b="0" i="0">
                <a:solidFill>
                  <a:srgbClr val="4F5F74"/>
                </a:solidFill>
                <a:latin typeface="Calibri"/>
              </a:rPr>
              <a:t>On writes, from WLAST. On reads, by counting ARLEN + 1 beats.</a:t>
            </a:r>
          </a:p>
        </p:txBody>
      </p:sp>
      <p:sp>
        <p:nvSpPr>
          <p:cNvPr id="21" name="Footer"/>
          <p:cNvSpPr txBox="1"/>
          <p:nvPr/>
        </p:nvSpPr>
        <p:spPr>
          <a:xfrm>
            <a:off x="640080" y="6400800"/>
            <a:ext cx="9144000" cy="274320"/>
          </a:xfrm>
          <a:prstGeom prst="rect">
            <a:avLst/>
          </a:prstGeom>
          <a:noFill/>
        </p:spPr>
        <p:txBody>
          <a:bodyPr wrap="square" lIns="0" rIns="0" tIns="0" bIns="0" anchor="t">
            <a:spAutoFit/>
          </a:bodyPr>
          <a:lstStyle/>
          <a:p>
            <a:pPr algn="l"/>
            <a:r>
              <a:rPr sz="1100" b="0" i="0">
                <a:solidFill>
                  <a:srgbClr val="4F5F74"/>
                </a:solidFill>
                <a:latin typeface="Calibri"/>
              </a:rPr>
              <a:t>AXI4: input D flip-flops, a master, a slave and output D flip-flops, in Verilog</a:t>
            </a:r>
          </a:p>
        </p:txBody>
      </p:sp>
      <p:sp>
        <p:nvSpPr>
          <p:cNvPr id="22" name="Page number"/>
          <p:cNvSpPr txBox="1"/>
          <p:nvPr/>
        </p:nvSpPr>
        <p:spPr>
          <a:xfrm>
            <a:off x="10637215" y="6400800"/>
            <a:ext cx="914400" cy="274320"/>
          </a:xfrm>
          <a:prstGeom prst="rect">
            <a:avLst/>
          </a:prstGeom>
          <a:noFill/>
        </p:spPr>
        <p:txBody>
          <a:bodyPr wrap="square" lIns="0" rIns="0" tIns="0" bIns="0" anchor="t">
            <a:spAutoFit/>
          </a:bodyPr>
          <a:lstStyle/>
          <a:p>
            <a:pPr algn="r"/>
            <a:r>
              <a:rPr sz="1100" b="0" i="0">
                <a:solidFill>
                  <a:srgbClr val="4F5F74"/>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