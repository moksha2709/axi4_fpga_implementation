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one-sentence summary: we built an AXI4 master and an AXI4 memory in Verilog. The master holds its data in D flip-flop registers and starts the transfers by itself. Every one of the five channels passes through a D flip-flop stage at the master side and another at the slave side. Everything shown comes from the simulation in the project folder, so every number can be reproduced live. The five amber pills are the five AXI channels; we come back to each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small files. The master is the active side: it holds the address and four words in D flip-flop registers and starts the transfers itself. The stage is the small block that holds one beat; there are ten of them, two on each channel. The slave is a 4 KiB memory that answers the five channels. The top level only wires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AXI separates a transaction into five independent one-way channels, so a read can proceed while a write waits. A write uses AW for the address, W for the data beats, and B for one response at the end. A read uses AR for the address and R for the data coming back. Notice B and R point the other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channel uses the same handshake. The sender raises VALID when its data is real. The receiver raises READY when it can take it. The transfer happens in the one clock cycle where both are high. Two rules keep it safe. First, once VALID is up the data must not change until the handshake completes. Second, a sender may not wait for READY before raising VALID, or two sides could wait on each other forever. Our testbench checks both rules on every run.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burst is one address followed by many beats. AxLEN says how many beats minus one, so 3 means four beats. WLAST and RLAST mark the final beat so the receiver knows where it ends. WSTRB says which of the four bytes of a word to write; 1111 is the whole word. The ID is a small tag put on the request and copied onto its response. In our design the address simply counts up by 4 for each beat. The example is exactly what the master does: four words starting at address 0x10.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On the left the master, with its D flip-flop registers. It starts the transfers by itself. Each of the five channels goes through a D flip-flop stage at the master side and another at the slave side, shown in amber, with the real signal names above each wire. On the right the slave has a write engine, a read engine and a 4 KiB memory. B and R run the other way.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master is one small state machine. After reset it goes by itself. S_AW sends the write address. S_W sends the four words, one per beat, taking each from the data registers, and raises WLAST on the fourth. S_B waits for the one response. S_AR sends the read address. S_R takes four beats into the read registers. S_DONE raises done, and pass says whether what came back equals what was written. There is no host interface at all: the data comes from D flip-flop registers inside the master.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block you asked for: a D flip-flop stage. It holds one beat. When it is empty it says in_ready = 1 and takes a beat. When it is full it says in_ready = 0 and offers the beat until the next side takes it. The important point is that in_ready comes straight from a flip-flop. A bare flip-flop on VALID and READY would see READY one cycle late, so the sender could send the same beat twice. This design cannot. The cost is that a beat sits in the stage for a clock, so one beat moves every two clocks.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slave has two state machines because reads and writes use different channels. The write engine takes the address, then raises WREADY and writes each word into memory, using WSTRB to pick bytes. When WLAST arrives it sends one response. The read engine takes the address, then sends the first word, and fetches each next word as the previous one is taken. Every response is OKAY: this slave does no request checking, so an address beyond the 4 KiB simply wraps inside the memory.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sequence, with the real cycle numbers from the simulation. The master puts the write address out and it is taken at cycle 1 and reaches the slave at cycle 3, because it crosses two stages. The four data beats are taken at cycles 2, 4, 6 and 8: one every two clocks. The response comes back through two stages and is taken at cycle 13. Then the master reads the four words back: the address is taken one cycle after, the four beats arrive every two clocks, and done goes high. The whole sequence takes 27 clock cycles from reset.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waveform was recorded from our simulation. Amber dots are handshakes. The master raises AWVALID at cycle 1 and the master-side stage takes it straight away. At cycle 3 the address reaches the slave, one stage later. The four data beats are taken at cycles 2, 4, 6 and 8: WREADY goes high every other cycle, because a stage can only hold one beat at a time. WLAST rides on the fourth. The response is taken at cycle 13 after crossing two stages on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address read back. The read address is taken at cycle 1 of this window and reaches the slave at cycle 3. The four beats come back at cycles 6, 8, 10 and 12, again one every two clocks, with RLAST on the fourth. Then done goes high. The master compares what it read with what it wrote and sets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 two things. First the slave on its own: the testbench plays the master and drives each channel by hand, so it can force awkward cases such as data before address, held-off responses, byte strobes, the longest burst of 256 beats, and a reset in the middle of a burst. Second the whole system, where the master runs by itself: the testbench only supplies clock and reset, then checks that it finishes, passes, that the four words really are in the slave's memory, that every response is OKAY with the right ID, and that VALID and the payload hold steady until READY. It also resets mid-sequence and checks it runs again.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before you are asked. The throughput is half rate: one beat every two clocks, because each stage holds one beat. The master's data is fixed in its registers; changing it means editing the file. Only counting-up bursts, so no FIXED or WRAP and no narrow beats. Every response is OKAY and an out-of-range address wraps. One burst at a time. And the lock, cache, protection and QoS signals are not included.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about two minutes. Open PowerShell in E:\FPGA_Project and run .\run_tests.ps1. It compiles and runs two suites. Point at the two TEST PASSED lines and the check counts, 33 and 13, and the line that says the whole sequence took 27 clock cycles. Then run the top suite with -Wave to open the waveform in GTKWave and show the same shape as the recorded slides: the handshakes and the WREADY going high every other cycle. If the live run fails for any reason, slides 11 and 12 are recorded from this exact simulation.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with short answers. Why five channels: address, data and response move independently. Why not a bare flip-flop: READY arrives late and a beat could be sent twice; the stage reports full from a flip-flop. What does it cost: one beat every two clocks. Where does the data come from: D flip-flop registers inside the master. How do we know it worked: it reads back and compares, and the testbench checks the slave's memory. How does the slave know the burst ended: WLAST on writes, a beat count on reads.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33"/>
        </a:solidFill>
        <a:effectLst/>
      </p:bgPr>
    </p:bg>
    <p:spTree>
      <p:nvGrpSpPr>
        <p:cNvPr id="1" name=""/>
        <p:cNvGrpSpPr/>
        <p:nvPr/>
      </p:nvGrpSpPr>
      <p:grpSpPr/>
      <p:sp>
        <p:nvSpPr>
          <p:cNvPr id="2" name="Eyebrow"/>
          <p:cNvSpPr txBox="1"/>
          <p:nvPr/>
        </p:nvSpPr>
        <p:spPr>
          <a:xfrm>
            <a:off x="822960" y="1371600"/>
            <a:ext cx="10058400" cy="365760"/>
          </a:xfrm>
          <a:prstGeom prst="rect">
            <a:avLst/>
          </a:prstGeom>
          <a:noFill/>
        </p:spPr>
        <p:txBody>
          <a:bodyPr wrap="square" lIns="0" rIns="0" tIns="0" bIns="0" anchor="t">
            <a:spAutoFit/>
          </a:bodyPr>
          <a:lstStyle/>
          <a:p>
            <a:pPr algn="l"/>
            <a:r>
              <a:rPr sz="1800" b="1" i="0">
                <a:solidFill>
                  <a:srgbClr val="FFC845"/>
                </a:solidFill>
                <a:latin typeface="Calibri"/>
              </a:rPr>
              <a:t>VIVA DEMONSTRATION</a:t>
            </a:r>
          </a:p>
        </p:txBody>
      </p:sp>
      <p:sp>
        <p:nvSpPr>
          <p:cNvPr id="3" name="Title"/>
          <p:cNvSpPr txBox="1"/>
          <p:nvPr/>
        </p:nvSpPr>
        <p:spPr>
          <a:xfrm>
            <a:off x="822960" y="1874519"/>
            <a:ext cx="10424160" cy="2194560"/>
          </a:xfrm>
          <a:prstGeom prst="rect">
            <a:avLst/>
          </a:prstGeom>
          <a:noFill/>
        </p:spPr>
        <p:txBody>
          <a:bodyPr wrap="square" lIns="0" rIns="0" tIns="0" bIns="0" anchor="t">
            <a:spAutoFit/>
          </a:bodyPr>
          <a:lstStyle/>
          <a:p>
            <a:pPr algn="l"/>
            <a:r>
              <a:rPr sz="6000" b="1" i="0">
                <a:solidFill>
                  <a:srgbClr val="EEF2F8"/>
                </a:solidFill>
                <a:latin typeface="Cambria"/>
              </a:rPr>
              <a:t>AXI4: five channels, a master and a memory</a:t>
            </a:r>
          </a:p>
        </p:txBody>
      </p:sp>
      <p:sp>
        <p:nvSpPr>
          <p:cNvPr id="4" name="TextBox 3"/>
          <p:cNvSpPr txBox="1"/>
          <p:nvPr/>
        </p:nvSpPr>
        <p:spPr>
          <a:xfrm>
            <a:off x="822960" y="3886200"/>
            <a:ext cx="9875520" cy="914400"/>
          </a:xfrm>
          <a:prstGeom prst="rect">
            <a:avLst/>
          </a:prstGeom>
          <a:noFill/>
        </p:spPr>
        <p:txBody>
          <a:bodyPr wrap="square" lIns="0" rIns="0" tIns="0" bIns="0" anchor="t">
            <a:spAutoFit/>
          </a:bodyPr>
          <a:lstStyle/>
          <a:p>
            <a:pPr algn="l"/>
            <a:r>
              <a:rPr sz="2400" b="0" i="0">
                <a:solidFill>
                  <a:srgbClr val="B7C3D6"/>
                </a:solidFill>
                <a:latin typeface="Calibri"/>
              </a:rPr>
              <a:t>The master starts the transfers itself, every channel passes through D flip-flop stages, and 46 checks pass in simulation.</a:t>
            </a:r>
          </a:p>
        </p:txBody>
      </p:sp>
      <p:sp>
        <p:nvSpPr>
          <p:cNvPr id="5" name="Rounded Rectangle 4"/>
          <p:cNvSpPr/>
          <p:nvPr/>
        </p:nvSpPr>
        <p:spPr>
          <a:xfrm>
            <a:off x="822960" y="5074920"/>
            <a:ext cx="82296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AW</a:t>
            </a:r>
          </a:p>
        </p:txBody>
      </p:sp>
      <p:sp>
        <p:nvSpPr>
          <p:cNvPr id="6" name="Rounded Rectangle 5"/>
          <p:cNvSpPr/>
          <p:nvPr/>
        </p:nvSpPr>
        <p:spPr>
          <a:xfrm>
            <a:off x="1810512" y="5074920"/>
            <a:ext cx="73152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W</a:t>
            </a:r>
          </a:p>
        </p:txBody>
      </p:sp>
      <p:sp>
        <p:nvSpPr>
          <p:cNvPr id="7" name="Rounded Rectangle 6"/>
          <p:cNvSpPr/>
          <p:nvPr/>
        </p:nvSpPr>
        <p:spPr>
          <a:xfrm>
            <a:off x="2706624" y="5074920"/>
            <a:ext cx="73152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B</a:t>
            </a:r>
          </a:p>
        </p:txBody>
      </p:sp>
      <p:sp>
        <p:nvSpPr>
          <p:cNvPr id="8" name="Rounded Rectangle 7"/>
          <p:cNvSpPr/>
          <p:nvPr/>
        </p:nvSpPr>
        <p:spPr>
          <a:xfrm>
            <a:off x="3602736" y="5074920"/>
            <a:ext cx="82296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AR</a:t>
            </a:r>
          </a:p>
        </p:txBody>
      </p:sp>
      <p:sp>
        <p:nvSpPr>
          <p:cNvPr id="9" name="Rounded Rectangle 8"/>
          <p:cNvSpPr/>
          <p:nvPr/>
        </p:nvSpPr>
        <p:spPr>
          <a:xfrm>
            <a:off x="4590288" y="5074920"/>
            <a:ext cx="73152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R</a:t>
            </a:r>
          </a:p>
        </p:txBody>
      </p:sp>
      <p:sp>
        <p:nvSpPr>
          <p:cNvPr id="10" name="Presenter"/>
          <p:cNvSpPr txBox="1"/>
          <p:nvPr/>
        </p:nvSpPr>
        <p:spPr>
          <a:xfrm>
            <a:off x="822960" y="6126480"/>
            <a:ext cx="10058400" cy="365760"/>
          </a:xfrm>
          <a:prstGeom prst="rect">
            <a:avLst/>
          </a:prstGeom>
          <a:noFill/>
        </p:spPr>
        <p:txBody>
          <a:bodyPr wrap="square" lIns="0" rIns="0" tIns="0" bIns="0" anchor="t">
            <a:spAutoFit/>
          </a:bodyPr>
          <a:lstStyle/>
          <a:p>
            <a:pPr algn="l"/>
            <a:r>
              <a:rPr sz="1600" b="0" i="0">
                <a:solidFill>
                  <a:srgbClr val="B7C3D6"/>
                </a:solidFill>
                <a:latin typeface="Calibri"/>
              </a:rPr>
              <a:t>[Your name]   ·   [Course and institution]   ·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What we built</a:t>
            </a:r>
          </a:p>
        </p:txBody>
      </p:sp>
      <p:sp>
        <p:nvSpPr>
          <p:cNvPr id="3" name="TextBox 2"/>
          <p:cNvSpPr txBox="1"/>
          <p:nvPr/>
        </p:nvSpPr>
        <p:spPr>
          <a:xfrm>
            <a:off x="640080" y="1280160"/>
            <a:ext cx="10881360" cy="457200"/>
          </a:xfrm>
          <a:prstGeom prst="rect">
            <a:avLst/>
          </a:prstGeom>
          <a:noFill/>
        </p:spPr>
        <p:txBody>
          <a:bodyPr wrap="square" lIns="0" rIns="0" tIns="0" bIns="0" anchor="t">
            <a:spAutoFit/>
          </a:bodyPr>
          <a:lstStyle/>
          <a:p>
            <a:pPr algn="l"/>
            <a:r>
              <a:rPr sz="2000" b="0" i="0">
                <a:solidFill>
                  <a:srgbClr val="4F5F74"/>
                </a:solidFill>
                <a:latin typeface="Calibri"/>
              </a:rPr>
              <a:t>Four files, each with one job.</a:t>
            </a:r>
          </a:p>
        </p:txBody>
      </p:sp>
      <p:sp>
        <p:nvSpPr>
          <p:cNvPr id="4" name="Rounded Rectangle 3"/>
          <p:cNvSpPr/>
          <p:nvPr/>
        </p:nvSpPr>
        <p:spPr>
          <a:xfrm>
            <a:off x="640080" y="2011680"/>
            <a:ext cx="2577007" cy="35661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96112" y="2240280"/>
            <a:ext cx="2064943" cy="457200"/>
          </a:xfrm>
          <a:prstGeom prst="rect">
            <a:avLst/>
          </a:prstGeom>
          <a:noFill/>
        </p:spPr>
        <p:txBody>
          <a:bodyPr wrap="square" lIns="0" rIns="0" tIns="0" bIns="0" anchor="t">
            <a:spAutoFit/>
          </a:bodyPr>
          <a:lstStyle/>
          <a:p>
            <a:pPr algn="l"/>
            <a:r>
              <a:rPr sz="2200" b="1" i="0">
                <a:solidFill>
                  <a:srgbClr val="1E2A3B"/>
                </a:solidFill>
                <a:latin typeface="Cambria"/>
              </a:rPr>
              <a:t>Master</a:t>
            </a:r>
          </a:p>
        </p:txBody>
      </p:sp>
      <p:sp>
        <p:nvSpPr>
          <p:cNvPr id="6" name="TextBox 5"/>
          <p:cNvSpPr txBox="1"/>
          <p:nvPr/>
        </p:nvSpPr>
        <p:spPr>
          <a:xfrm>
            <a:off x="896112" y="2788920"/>
            <a:ext cx="2064943" cy="320040"/>
          </a:xfrm>
          <a:prstGeom prst="rect">
            <a:avLst/>
          </a:prstGeom>
          <a:noFill/>
        </p:spPr>
        <p:txBody>
          <a:bodyPr wrap="square" lIns="0" rIns="0" tIns="0" bIns="0" anchor="t">
            <a:spAutoFit/>
          </a:bodyPr>
          <a:lstStyle/>
          <a:p>
            <a:pPr algn="l"/>
            <a:r>
              <a:rPr sz="1300" b="0" i="0">
                <a:solidFill>
                  <a:srgbClr val="4F5F74"/>
                </a:solidFill>
                <a:latin typeface="Consolas"/>
              </a:rPr>
              <a:t>axi4_master.v</a:t>
            </a:r>
          </a:p>
        </p:txBody>
      </p:sp>
      <p:sp>
        <p:nvSpPr>
          <p:cNvPr id="7" name="TextBox 6"/>
          <p:cNvSpPr txBox="1"/>
          <p:nvPr/>
        </p:nvSpPr>
        <p:spPr>
          <a:xfrm>
            <a:off x="896112" y="3246120"/>
            <a:ext cx="2064943" cy="2148839"/>
          </a:xfrm>
          <a:prstGeom prst="rect">
            <a:avLst/>
          </a:prstGeom>
          <a:noFill/>
        </p:spPr>
        <p:txBody>
          <a:bodyPr wrap="square" lIns="0" rIns="0" tIns="0" bIns="0" anchor="t">
            <a:spAutoFit/>
          </a:bodyPr>
          <a:lstStyle/>
          <a:p>
            <a:pPr algn="l"/>
            <a:r>
              <a:rPr sz="1600" b="0" i="0">
                <a:solidFill>
                  <a:srgbClr val="1E2A3B"/>
                </a:solidFill>
                <a:latin typeface="Calibri"/>
              </a:rPr>
              <a:t>Holds an address and four words in D flip-flop registers. Writes them, reads them back, compares.</a:t>
            </a:r>
          </a:p>
        </p:txBody>
      </p:sp>
      <p:sp>
        <p:nvSpPr>
          <p:cNvPr id="8" name="Rounded Rectangle 7"/>
          <p:cNvSpPr/>
          <p:nvPr/>
        </p:nvSpPr>
        <p:spPr>
          <a:xfrm>
            <a:off x="3418255" y="2011680"/>
            <a:ext cx="2577007" cy="3566160"/>
          </a:xfrm>
          <a:prstGeom prst="roundRect">
            <a:avLst>
              <a:gd name="adj" fmla="val 6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74287" y="2240280"/>
            <a:ext cx="2064943" cy="457200"/>
          </a:xfrm>
          <a:prstGeom prst="rect">
            <a:avLst/>
          </a:prstGeom>
          <a:noFill/>
        </p:spPr>
        <p:txBody>
          <a:bodyPr wrap="square" lIns="0" rIns="0" tIns="0" bIns="0" anchor="t">
            <a:spAutoFit/>
          </a:bodyPr>
          <a:lstStyle/>
          <a:p>
            <a:pPr algn="l"/>
            <a:r>
              <a:rPr sz="2200" b="1" i="0">
                <a:solidFill>
                  <a:srgbClr val="1E2A3B"/>
                </a:solidFill>
                <a:latin typeface="Cambria"/>
              </a:rPr>
              <a:t>Stage</a:t>
            </a:r>
          </a:p>
        </p:txBody>
      </p:sp>
      <p:sp>
        <p:nvSpPr>
          <p:cNvPr id="10" name="TextBox 9"/>
          <p:cNvSpPr txBox="1"/>
          <p:nvPr/>
        </p:nvSpPr>
        <p:spPr>
          <a:xfrm>
            <a:off x="3674287" y="2788920"/>
            <a:ext cx="2064943" cy="320040"/>
          </a:xfrm>
          <a:prstGeom prst="rect">
            <a:avLst/>
          </a:prstGeom>
          <a:noFill/>
        </p:spPr>
        <p:txBody>
          <a:bodyPr wrap="square" lIns="0" rIns="0" tIns="0" bIns="0" anchor="t">
            <a:spAutoFit/>
          </a:bodyPr>
          <a:lstStyle/>
          <a:p>
            <a:pPr algn="l"/>
            <a:r>
              <a:rPr sz="1300" b="0" i="0">
                <a:solidFill>
                  <a:srgbClr val="4F5F74"/>
                </a:solidFill>
                <a:latin typeface="Consolas"/>
              </a:rPr>
              <a:t>axi4_reg_stage.v</a:t>
            </a:r>
          </a:p>
        </p:txBody>
      </p:sp>
      <p:sp>
        <p:nvSpPr>
          <p:cNvPr id="11" name="TextBox 10"/>
          <p:cNvSpPr txBox="1"/>
          <p:nvPr/>
        </p:nvSpPr>
        <p:spPr>
          <a:xfrm>
            <a:off x="3674287" y="3246120"/>
            <a:ext cx="2064943" cy="2148839"/>
          </a:xfrm>
          <a:prstGeom prst="rect">
            <a:avLst/>
          </a:prstGeom>
          <a:noFill/>
        </p:spPr>
        <p:txBody>
          <a:bodyPr wrap="square" lIns="0" rIns="0" tIns="0" bIns="0" anchor="t">
            <a:spAutoFit/>
          </a:bodyPr>
          <a:lstStyle/>
          <a:p>
            <a:pPr algn="l"/>
            <a:r>
              <a:rPr sz="1600" b="0" i="0">
                <a:solidFill>
                  <a:srgbClr val="1E2A3B"/>
                </a:solidFill>
                <a:latin typeface="Calibri"/>
              </a:rPr>
              <a:t>A D flip-flop stage that holds one beat. Two of them sit on every channel.</a:t>
            </a:r>
          </a:p>
        </p:txBody>
      </p:sp>
      <p:sp>
        <p:nvSpPr>
          <p:cNvPr id="12" name="Rounded Rectangle 11"/>
          <p:cNvSpPr/>
          <p:nvPr/>
        </p:nvSpPr>
        <p:spPr>
          <a:xfrm>
            <a:off x="6196431" y="2011680"/>
            <a:ext cx="2577007" cy="3566160"/>
          </a:xfrm>
          <a:prstGeom prst="roundRect">
            <a:avLst>
              <a:gd name="adj" fmla="val 6000"/>
            </a:avLst>
          </a:prstGeom>
          <a:solidFill>
            <a:srgbClr val="E6D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52463" y="2240280"/>
            <a:ext cx="2064943" cy="457200"/>
          </a:xfrm>
          <a:prstGeom prst="rect">
            <a:avLst/>
          </a:prstGeom>
          <a:noFill/>
        </p:spPr>
        <p:txBody>
          <a:bodyPr wrap="square" lIns="0" rIns="0" tIns="0" bIns="0" anchor="t">
            <a:spAutoFit/>
          </a:bodyPr>
          <a:lstStyle/>
          <a:p>
            <a:pPr algn="l"/>
            <a:r>
              <a:rPr sz="2200" b="1" i="0">
                <a:solidFill>
                  <a:srgbClr val="1E2A3B"/>
                </a:solidFill>
                <a:latin typeface="Cambria"/>
              </a:rPr>
              <a:t>Slave</a:t>
            </a:r>
          </a:p>
        </p:txBody>
      </p:sp>
      <p:sp>
        <p:nvSpPr>
          <p:cNvPr id="14" name="TextBox 13"/>
          <p:cNvSpPr txBox="1"/>
          <p:nvPr/>
        </p:nvSpPr>
        <p:spPr>
          <a:xfrm>
            <a:off x="6452463" y="2788920"/>
            <a:ext cx="2064943" cy="320040"/>
          </a:xfrm>
          <a:prstGeom prst="rect">
            <a:avLst/>
          </a:prstGeom>
          <a:noFill/>
        </p:spPr>
        <p:txBody>
          <a:bodyPr wrap="square" lIns="0" rIns="0" tIns="0" bIns="0" anchor="t">
            <a:spAutoFit/>
          </a:bodyPr>
          <a:lstStyle/>
          <a:p>
            <a:pPr algn="l"/>
            <a:r>
              <a:rPr sz="1300" b="0" i="0">
                <a:solidFill>
                  <a:srgbClr val="4F5F74"/>
                </a:solidFill>
                <a:latin typeface="Consolas"/>
              </a:rPr>
              <a:t>axi4_slave.v</a:t>
            </a:r>
          </a:p>
        </p:txBody>
      </p:sp>
      <p:sp>
        <p:nvSpPr>
          <p:cNvPr id="15" name="TextBox 14"/>
          <p:cNvSpPr txBox="1"/>
          <p:nvPr/>
        </p:nvSpPr>
        <p:spPr>
          <a:xfrm>
            <a:off x="6452463" y="3246120"/>
            <a:ext cx="2064943" cy="2148839"/>
          </a:xfrm>
          <a:prstGeom prst="rect">
            <a:avLst/>
          </a:prstGeom>
          <a:noFill/>
        </p:spPr>
        <p:txBody>
          <a:bodyPr wrap="square" lIns="0" rIns="0" tIns="0" bIns="0" anchor="t">
            <a:spAutoFit/>
          </a:bodyPr>
          <a:lstStyle/>
          <a:p>
            <a:pPr algn="l"/>
            <a:r>
              <a:rPr sz="1600" b="0" i="0">
                <a:solidFill>
                  <a:srgbClr val="1E2A3B"/>
                </a:solidFill>
                <a:latin typeface="Calibri"/>
              </a:rPr>
              <a:t>A 4 KiB memory. Answers bursts of up to 256 beats on the five channels.</a:t>
            </a:r>
          </a:p>
        </p:txBody>
      </p:sp>
      <p:sp>
        <p:nvSpPr>
          <p:cNvPr id="16" name="Rounded Rectangle 15"/>
          <p:cNvSpPr/>
          <p:nvPr/>
        </p:nvSpPr>
        <p:spPr>
          <a:xfrm>
            <a:off x="8974607" y="2011680"/>
            <a:ext cx="2577007" cy="356616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30639" y="2240280"/>
            <a:ext cx="2064943" cy="457200"/>
          </a:xfrm>
          <a:prstGeom prst="rect">
            <a:avLst/>
          </a:prstGeom>
          <a:noFill/>
        </p:spPr>
        <p:txBody>
          <a:bodyPr wrap="square" lIns="0" rIns="0" tIns="0" bIns="0" anchor="t">
            <a:spAutoFit/>
          </a:bodyPr>
          <a:lstStyle/>
          <a:p>
            <a:pPr algn="l"/>
            <a:r>
              <a:rPr sz="2200" b="1" i="0">
                <a:solidFill>
                  <a:srgbClr val="1E2A3B"/>
                </a:solidFill>
                <a:latin typeface="Cambria"/>
              </a:rPr>
              <a:t>Top</a:t>
            </a:r>
          </a:p>
        </p:txBody>
      </p:sp>
      <p:sp>
        <p:nvSpPr>
          <p:cNvPr id="18" name="TextBox 17"/>
          <p:cNvSpPr txBox="1"/>
          <p:nvPr/>
        </p:nvSpPr>
        <p:spPr>
          <a:xfrm>
            <a:off x="9230639" y="2788920"/>
            <a:ext cx="2064943" cy="320040"/>
          </a:xfrm>
          <a:prstGeom prst="rect">
            <a:avLst/>
          </a:prstGeom>
          <a:noFill/>
        </p:spPr>
        <p:txBody>
          <a:bodyPr wrap="square" lIns="0" rIns="0" tIns="0" bIns="0" anchor="t">
            <a:spAutoFit/>
          </a:bodyPr>
          <a:lstStyle/>
          <a:p>
            <a:pPr algn="l"/>
            <a:r>
              <a:rPr sz="1300" b="0" i="0">
                <a:solidFill>
                  <a:srgbClr val="4F5F74"/>
                </a:solidFill>
                <a:latin typeface="Consolas"/>
              </a:rPr>
              <a:t>axi4_top.v</a:t>
            </a:r>
          </a:p>
        </p:txBody>
      </p:sp>
      <p:sp>
        <p:nvSpPr>
          <p:cNvPr id="19" name="TextBox 18"/>
          <p:cNvSpPr txBox="1"/>
          <p:nvPr/>
        </p:nvSpPr>
        <p:spPr>
          <a:xfrm>
            <a:off x="9230639" y="3246120"/>
            <a:ext cx="2064943" cy="2148839"/>
          </a:xfrm>
          <a:prstGeom prst="rect">
            <a:avLst/>
          </a:prstGeom>
          <a:noFill/>
        </p:spPr>
        <p:txBody>
          <a:bodyPr wrap="square" lIns="0" rIns="0" tIns="0" bIns="0" anchor="t">
            <a:spAutoFit/>
          </a:bodyPr>
          <a:lstStyle/>
          <a:p>
            <a:pPr algn="l"/>
            <a:r>
              <a:rPr sz="1600" b="0" i="0">
                <a:solidFill>
                  <a:srgbClr val="1E2A3B"/>
                </a:solidFill>
                <a:latin typeface="Calibri"/>
              </a:rPr>
              <a:t>Wires the master, the ten stages and the slave together.</a:t>
            </a:r>
          </a:p>
        </p:txBody>
      </p:sp>
      <p:sp>
        <p:nvSpPr>
          <p:cNvPr id="20" name="TextBox 19"/>
          <p:cNvSpPr txBox="1"/>
          <p:nvPr/>
        </p:nvSpPr>
        <p:spPr>
          <a:xfrm>
            <a:off x="640080" y="5852160"/>
            <a:ext cx="10881360" cy="365760"/>
          </a:xfrm>
          <a:prstGeom prst="rect">
            <a:avLst/>
          </a:prstGeom>
          <a:noFill/>
        </p:spPr>
        <p:txBody>
          <a:bodyPr wrap="square" lIns="0" rIns="0" tIns="0" bIns="0" anchor="t">
            <a:spAutoFit/>
          </a:bodyPr>
          <a:lstStyle/>
          <a:p>
            <a:pPr algn="l"/>
            <a:r>
              <a:rPr sz="1600" b="0" i="1">
                <a:solidFill>
                  <a:srgbClr val="4F5F74"/>
                </a:solidFill>
                <a:latin typeface="Calibri"/>
              </a:rPr>
              <a:t>Full AXI4 rather than AXI4-Lite: bursts, transaction IDs, WLAST and RLAST.</a:t>
            </a:r>
          </a:p>
        </p:txBody>
      </p:sp>
      <p:sp>
        <p:nvSpPr>
          <p:cNvPr id="21"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a master, D flip-flop stages and a memory, in Verilog</a:t>
            </a:r>
          </a:p>
        </p:txBody>
      </p:sp>
      <p:sp>
        <p:nvSpPr>
          <p:cNvPr id="22"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Five independent channels</a:t>
            </a:r>
          </a:p>
        </p:txBody>
      </p:sp>
      <p:sp>
        <p:nvSpPr>
          <p:cNvPr id="3" name="Rounded Rectangle 2"/>
          <p:cNvSpPr/>
          <p:nvPr/>
        </p:nvSpPr>
        <p:spPr>
          <a:xfrm>
            <a:off x="822960" y="1508760"/>
            <a:ext cx="2286000" cy="4526280"/>
          </a:xfrm>
          <a:prstGeom prst="roundRect">
            <a:avLst>
              <a:gd name="adj" fmla="val 6000"/>
            </a:avLst>
          </a:prstGeom>
          <a:solidFill>
            <a:srgbClr val="D6E6FF"/>
          </a:solidFill>
          <a:ln w="19050">
            <a:solidFill>
              <a:srgbClr val="3B6F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3108960"/>
            <a:ext cx="2286000" cy="731520"/>
          </a:xfrm>
          <a:prstGeom prst="rect">
            <a:avLst/>
          </a:prstGeom>
          <a:noFill/>
        </p:spPr>
        <p:txBody>
          <a:bodyPr wrap="square" lIns="0" rIns="0" tIns="0" bIns="0" anchor="t">
            <a:spAutoFit/>
          </a:bodyPr>
          <a:lstStyle/>
          <a:p>
            <a:pPr algn="ctr"/>
            <a:r>
              <a:rPr sz="2400" b="1" i="0">
                <a:solidFill>
                  <a:srgbClr val="1E2A3B"/>
                </a:solidFill>
                <a:latin typeface="Cambria"/>
              </a:rPr>
              <a:t>Master</a:t>
            </a:r>
          </a:p>
          <a:p>
            <a:pPr algn="ctr"/>
            <a:r>
              <a:rPr sz="1400" b="0" i="0">
                <a:solidFill>
                  <a:srgbClr val="4F5F74"/>
                </a:solidFill>
                <a:latin typeface="Consolas"/>
              </a:rPr>
              <a:t>axi4_master</a:t>
            </a:r>
          </a:p>
        </p:txBody>
      </p:sp>
      <p:sp>
        <p:nvSpPr>
          <p:cNvPr id="5" name="Rounded Rectangle 4"/>
          <p:cNvSpPr/>
          <p:nvPr/>
        </p:nvSpPr>
        <p:spPr>
          <a:xfrm>
            <a:off x="9079992" y="1508760"/>
            <a:ext cx="2286000" cy="4526280"/>
          </a:xfrm>
          <a:prstGeom prst="roundRect">
            <a:avLst>
              <a:gd name="adj" fmla="val 6000"/>
            </a:avLst>
          </a:prstGeom>
          <a:solidFill>
            <a:srgbClr val="E6DEFA"/>
          </a:solidFill>
          <a:ln w="19050">
            <a:solidFill>
              <a:srgbClr val="7152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079992" y="3108960"/>
            <a:ext cx="2286000" cy="731520"/>
          </a:xfrm>
          <a:prstGeom prst="rect">
            <a:avLst/>
          </a:prstGeom>
          <a:noFill/>
        </p:spPr>
        <p:txBody>
          <a:bodyPr wrap="square" lIns="0" rIns="0" tIns="0" bIns="0" anchor="t">
            <a:spAutoFit/>
          </a:bodyPr>
          <a:lstStyle/>
          <a:p>
            <a:pPr algn="ctr"/>
            <a:r>
              <a:rPr sz="2400" b="1" i="0">
                <a:solidFill>
                  <a:srgbClr val="1E2A3B"/>
                </a:solidFill>
                <a:latin typeface="Cambria"/>
              </a:rPr>
              <a:t>Slave</a:t>
            </a:r>
          </a:p>
          <a:p>
            <a:pPr algn="ctr"/>
            <a:r>
              <a:rPr sz="1400" b="0" i="0">
                <a:solidFill>
                  <a:srgbClr val="4F5F74"/>
                </a:solidFill>
                <a:latin typeface="Consolas"/>
              </a:rPr>
              <a:t>axi4_slave</a:t>
            </a:r>
          </a:p>
        </p:txBody>
      </p:sp>
      <p:sp>
        <p:nvSpPr>
          <p:cNvPr id="7" name="TextBox 6"/>
          <p:cNvSpPr txBox="1"/>
          <p:nvPr/>
        </p:nvSpPr>
        <p:spPr>
          <a:xfrm>
            <a:off x="3383280" y="1554480"/>
            <a:ext cx="1828800" cy="274320"/>
          </a:xfrm>
          <a:prstGeom prst="rect">
            <a:avLst/>
          </a:prstGeom>
          <a:noFill/>
        </p:spPr>
        <p:txBody>
          <a:bodyPr wrap="square" lIns="0" rIns="0" tIns="0" bIns="0" anchor="t">
            <a:spAutoFit/>
          </a:bodyPr>
          <a:lstStyle/>
          <a:p>
            <a:pPr algn="l"/>
            <a:r>
              <a:rPr sz="1200" b="1" i="0">
                <a:solidFill>
                  <a:srgbClr val="4F5F74"/>
                </a:solidFill>
                <a:latin typeface="Calibri"/>
              </a:rPr>
              <a:t>WRITE</a:t>
            </a:r>
          </a:p>
        </p:txBody>
      </p:sp>
      <p:sp>
        <p:nvSpPr>
          <p:cNvPr id="8" name="TextBox 7"/>
          <p:cNvSpPr txBox="1"/>
          <p:nvPr/>
        </p:nvSpPr>
        <p:spPr>
          <a:xfrm>
            <a:off x="3383280" y="4160520"/>
            <a:ext cx="1828800" cy="274320"/>
          </a:xfrm>
          <a:prstGeom prst="rect">
            <a:avLst/>
          </a:prstGeom>
          <a:noFill/>
        </p:spPr>
        <p:txBody>
          <a:bodyPr wrap="square" lIns="0" rIns="0" tIns="0" bIns="0" anchor="t">
            <a:spAutoFit/>
          </a:bodyPr>
          <a:lstStyle/>
          <a:p>
            <a:pPr algn="l"/>
            <a:r>
              <a:rPr sz="1200" b="1" i="0">
                <a:solidFill>
                  <a:srgbClr val="4F5F74"/>
                </a:solidFill>
                <a:latin typeface="Calibri"/>
              </a:rPr>
              <a:t>READ</a:t>
            </a:r>
          </a:p>
        </p:txBody>
      </p:sp>
      <p:cxnSp>
        <p:nvCxnSpPr>
          <p:cNvPr id="9" name="Connector 8"/>
          <p:cNvCxnSpPr/>
          <p:nvPr/>
        </p:nvCxnSpPr>
        <p:spPr>
          <a:xfrm>
            <a:off x="3154680" y="2194560"/>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00600" y="1975104"/>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AW   write address</a:t>
            </a:r>
          </a:p>
        </p:txBody>
      </p:sp>
      <p:cxnSp>
        <p:nvCxnSpPr>
          <p:cNvPr id="11" name="Connector 10"/>
          <p:cNvCxnSpPr/>
          <p:nvPr/>
        </p:nvCxnSpPr>
        <p:spPr>
          <a:xfrm>
            <a:off x="3154680" y="2971800"/>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00600" y="2752344"/>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W   write data</a:t>
            </a:r>
          </a:p>
        </p:txBody>
      </p:sp>
      <p:cxnSp>
        <p:nvCxnSpPr>
          <p:cNvPr id="13" name="Connector 12"/>
          <p:cNvCxnSpPr/>
          <p:nvPr/>
        </p:nvCxnSpPr>
        <p:spPr>
          <a:xfrm flipH="1">
            <a:off x="3154680" y="3749039"/>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800600" y="3529583"/>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B   write response</a:t>
            </a:r>
          </a:p>
        </p:txBody>
      </p:sp>
      <p:cxnSp>
        <p:nvCxnSpPr>
          <p:cNvPr id="15" name="Connector 14"/>
          <p:cNvCxnSpPr/>
          <p:nvPr/>
        </p:nvCxnSpPr>
        <p:spPr>
          <a:xfrm>
            <a:off x="3154680" y="4754880"/>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800600" y="4535424"/>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AR   read address</a:t>
            </a:r>
          </a:p>
        </p:txBody>
      </p:sp>
      <p:cxnSp>
        <p:nvCxnSpPr>
          <p:cNvPr id="17" name="Connector 16"/>
          <p:cNvCxnSpPr/>
          <p:nvPr/>
        </p:nvCxnSpPr>
        <p:spPr>
          <a:xfrm flipH="1">
            <a:off x="3154680" y="5532120"/>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800600" y="5312664"/>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R   read data</a:t>
            </a:r>
          </a:p>
        </p:txBody>
      </p:sp>
      <p:sp>
        <p:nvSpPr>
          <p:cNvPr id="19"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a master, D flip-flop stages and a memory, in Verilog</a:t>
            </a:r>
          </a:p>
        </p:txBody>
      </p:sp>
      <p:sp>
        <p:nvSpPr>
          <p:cNvPr id="20"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The VALID and READY handshake</a:t>
            </a:r>
          </a:p>
        </p:txBody>
      </p:sp>
      <p:sp>
        <p:nvSpPr>
          <p:cNvPr id="3" name="Rounded Rectangle 2"/>
          <p:cNvSpPr/>
          <p:nvPr/>
        </p:nvSpPr>
        <p:spPr>
          <a:xfrm>
            <a:off x="640080" y="1508760"/>
            <a:ext cx="5120640" cy="2011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691640"/>
            <a:ext cx="4572000" cy="365760"/>
          </a:xfrm>
          <a:prstGeom prst="rect">
            <a:avLst/>
          </a:prstGeom>
          <a:noFill/>
        </p:spPr>
        <p:txBody>
          <a:bodyPr wrap="square" lIns="0" rIns="0" tIns="0" bIns="0" anchor="t">
            <a:spAutoFit/>
          </a:bodyPr>
          <a:lstStyle/>
          <a:p>
            <a:pPr algn="l"/>
            <a:r>
              <a:rPr sz="2000" b="1" i="0">
                <a:solidFill>
                  <a:srgbClr val="1E2A3B"/>
                </a:solidFill>
                <a:latin typeface="Cambria"/>
              </a:rPr>
              <a:t>Transfer</a:t>
            </a:r>
          </a:p>
        </p:txBody>
      </p:sp>
      <p:sp>
        <p:nvSpPr>
          <p:cNvPr id="5" name="TextBox 4"/>
          <p:cNvSpPr txBox="1"/>
          <p:nvPr/>
        </p:nvSpPr>
        <p:spPr>
          <a:xfrm>
            <a:off x="914400" y="2148840"/>
            <a:ext cx="4572000" cy="1280160"/>
          </a:xfrm>
          <a:prstGeom prst="rect">
            <a:avLst/>
          </a:prstGeom>
          <a:noFill/>
        </p:spPr>
        <p:txBody>
          <a:bodyPr wrap="square" lIns="0" rIns="0" tIns="0" bIns="0" anchor="t">
            <a:spAutoFit/>
          </a:bodyPr>
          <a:lstStyle/>
          <a:p>
            <a:pPr algn="l"/>
            <a:r>
              <a:rPr sz="1600" b="0" i="0">
                <a:solidFill>
                  <a:srgbClr val="1E2A3B"/>
                </a:solidFill>
                <a:latin typeface="Calibri"/>
              </a:rPr>
              <a:t>The sender raises VALID when its data is real. The receiver raises READY when it can take it. The transfer happens in the cycle where both are high.</a:t>
            </a:r>
          </a:p>
        </p:txBody>
      </p:sp>
      <p:sp>
        <p:nvSpPr>
          <p:cNvPr id="6" name="Rounded Rectangle 5"/>
          <p:cNvSpPr/>
          <p:nvPr/>
        </p:nvSpPr>
        <p:spPr>
          <a:xfrm>
            <a:off x="640080" y="3703320"/>
            <a:ext cx="5120640" cy="23774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3886200"/>
            <a:ext cx="4572000" cy="365760"/>
          </a:xfrm>
          <a:prstGeom prst="rect">
            <a:avLst/>
          </a:prstGeom>
          <a:noFill/>
        </p:spPr>
        <p:txBody>
          <a:bodyPr wrap="square" lIns="0" rIns="0" tIns="0" bIns="0" anchor="t">
            <a:spAutoFit/>
          </a:bodyPr>
          <a:lstStyle/>
          <a:p>
            <a:pPr algn="l"/>
            <a:r>
              <a:rPr sz="2000" b="1" i="0">
                <a:solidFill>
                  <a:srgbClr val="1E2A3B"/>
                </a:solidFill>
                <a:latin typeface="Cambria"/>
              </a:rPr>
              <a:t>Two rules</a:t>
            </a:r>
          </a:p>
        </p:txBody>
      </p:sp>
      <p:sp>
        <p:nvSpPr>
          <p:cNvPr id="8" name="TextBox 7"/>
          <p:cNvSpPr txBox="1"/>
          <p:nvPr/>
        </p:nvSpPr>
        <p:spPr>
          <a:xfrm>
            <a:off x="914400" y="4343400"/>
            <a:ext cx="4572000" cy="1645920"/>
          </a:xfrm>
          <a:prstGeom prst="rect">
            <a:avLst/>
          </a:prstGeom>
          <a:noFill/>
        </p:spPr>
        <p:txBody>
          <a:bodyPr wrap="square" lIns="0" rIns="0" tIns="0" bIns="0" anchor="t">
            <a:spAutoFit/>
          </a:bodyPr>
          <a:lstStyle/>
          <a:p>
            <a:pPr algn="l">
              <a:spcAft>
                <a:spcPts val="800"/>
              </a:spcAft>
            </a:pPr>
            <a:r>
              <a:rPr sz="1600" b="0" i="0">
                <a:solidFill>
                  <a:srgbClr val="1E2A3B"/>
                </a:solidFill>
                <a:latin typeface="Calibri"/>
              </a:rPr>
              <a:t>Once VALID is up, the data and VALID stay put until the handshake completes.</a:t>
            </a:r>
          </a:p>
          <a:p>
            <a:pPr algn="l">
              <a:spcAft>
                <a:spcPts val="0"/>
              </a:spcAft>
            </a:pPr>
            <a:r>
              <a:rPr sz="1600" b="0" i="0">
                <a:solidFill>
                  <a:srgbClr val="1E2A3B"/>
                </a:solidFill>
                <a:latin typeface="Calibri"/>
              </a:rPr>
              <a:t>A sender may not wait for READY before raising VALID.</a:t>
            </a:r>
          </a:p>
        </p:txBody>
      </p:sp>
      <p:sp>
        <p:nvSpPr>
          <p:cNvPr id="9" name="Rounded Rectangle 8"/>
          <p:cNvSpPr/>
          <p:nvPr/>
        </p:nvSpPr>
        <p:spPr>
          <a:xfrm>
            <a:off x="5943600" y="1508760"/>
            <a:ext cx="5605272" cy="4572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17920" y="1645920"/>
            <a:ext cx="2743200" cy="320040"/>
          </a:xfrm>
          <a:prstGeom prst="rect">
            <a:avLst/>
          </a:prstGeom>
          <a:noFill/>
        </p:spPr>
        <p:txBody>
          <a:bodyPr wrap="square" lIns="0" rIns="0" tIns="0" bIns="0" anchor="t">
            <a:spAutoFit/>
          </a:bodyPr>
          <a:lstStyle/>
          <a:p>
            <a:pPr algn="l"/>
            <a:r>
              <a:rPr sz="1400" b="0" i="0">
                <a:solidFill>
                  <a:srgbClr val="4F5F74"/>
                </a:solidFill>
                <a:latin typeface="Calibri"/>
              </a:rPr>
              <a:t>One transfer, cycle by cycle</a:t>
            </a:r>
          </a:p>
        </p:txBody>
      </p:sp>
      <p:cxnSp>
        <p:nvCxnSpPr>
          <p:cNvPr id="11" name="Connector 10"/>
          <p:cNvCxnSpPr/>
          <p:nvPr/>
        </p:nvCxnSpPr>
        <p:spPr>
          <a:xfrm>
            <a:off x="708660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08660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0</a:t>
            </a:r>
          </a:p>
        </p:txBody>
      </p:sp>
      <p:cxnSp>
        <p:nvCxnSpPr>
          <p:cNvPr id="13" name="Connector 12"/>
          <p:cNvCxnSpPr/>
          <p:nvPr/>
        </p:nvCxnSpPr>
        <p:spPr>
          <a:xfrm>
            <a:off x="7726679"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26679"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1</a:t>
            </a:r>
          </a:p>
        </p:txBody>
      </p:sp>
      <p:cxnSp>
        <p:nvCxnSpPr>
          <p:cNvPr id="15" name="Connector 14"/>
          <p:cNvCxnSpPr/>
          <p:nvPr/>
        </p:nvCxnSpPr>
        <p:spPr>
          <a:xfrm>
            <a:off x="836676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36676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2</a:t>
            </a:r>
          </a:p>
        </p:txBody>
      </p:sp>
      <p:cxnSp>
        <p:nvCxnSpPr>
          <p:cNvPr id="17" name="Connector 16"/>
          <p:cNvCxnSpPr/>
          <p:nvPr/>
        </p:nvCxnSpPr>
        <p:spPr>
          <a:xfrm>
            <a:off x="900684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00684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3</a:t>
            </a:r>
          </a:p>
        </p:txBody>
      </p:sp>
      <p:cxnSp>
        <p:nvCxnSpPr>
          <p:cNvPr id="19" name="Connector 18"/>
          <p:cNvCxnSpPr/>
          <p:nvPr/>
        </p:nvCxnSpPr>
        <p:spPr>
          <a:xfrm>
            <a:off x="964692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4692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4</a:t>
            </a:r>
          </a:p>
        </p:txBody>
      </p:sp>
      <p:cxnSp>
        <p:nvCxnSpPr>
          <p:cNvPr id="21" name="Connector 20"/>
          <p:cNvCxnSpPr/>
          <p:nvPr/>
        </p:nvCxnSpPr>
        <p:spPr>
          <a:xfrm>
            <a:off x="1028700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28700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5</a:t>
            </a:r>
          </a:p>
        </p:txBody>
      </p:sp>
      <p:sp>
        <p:nvSpPr>
          <p:cNvPr id="23" name="TextBox 22"/>
          <p:cNvSpPr txBox="1"/>
          <p:nvPr/>
        </p:nvSpPr>
        <p:spPr>
          <a:xfrm>
            <a:off x="6217920" y="2560320"/>
            <a:ext cx="822960" cy="365760"/>
          </a:xfrm>
          <a:prstGeom prst="rect">
            <a:avLst/>
          </a:prstGeom>
          <a:noFill/>
        </p:spPr>
        <p:txBody>
          <a:bodyPr wrap="square" lIns="0" rIns="0" tIns="0" bIns="0" anchor="t">
            <a:spAutoFit/>
          </a:bodyPr>
          <a:lstStyle/>
          <a:p>
            <a:pPr algn="l"/>
            <a:r>
              <a:rPr sz="1400" b="1" i="0">
                <a:solidFill>
                  <a:srgbClr val="1E2A3B"/>
                </a:solidFill>
                <a:latin typeface="Consolas"/>
              </a:rPr>
              <a:t>CLK</a:t>
            </a:r>
          </a:p>
        </p:txBody>
      </p:sp>
      <p:cxnSp>
        <p:nvCxnSpPr>
          <p:cNvPr id="24" name="Connector 23"/>
          <p:cNvCxnSpPr/>
          <p:nvPr/>
        </p:nvCxnSpPr>
        <p:spPr>
          <a:xfrm>
            <a:off x="708660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0664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406640" y="2971800"/>
            <a:ext cx="32003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7726679"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26679"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046719"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46719" y="29718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366759"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36676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8680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86800" y="29718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900684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00684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2688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26880" y="2971800"/>
            <a:ext cx="32003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646919"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64692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96696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966960" y="29718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28700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28700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60704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607040" y="29718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17920" y="3383280"/>
            <a:ext cx="822960" cy="365760"/>
          </a:xfrm>
          <a:prstGeom prst="rect">
            <a:avLst/>
          </a:prstGeom>
          <a:noFill/>
        </p:spPr>
        <p:txBody>
          <a:bodyPr wrap="square" lIns="0" rIns="0" tIns="0" bIns="0" anchor="t">
            <a:spAutoFit/>
          </a:bodyPr>
          <a:lstStyle/>
          <a:p>
            <a:pPr algn="l"/>
            <a:r>
              <a:rPr sz="1400" b="1" i="0">
                <a:solidFill>
                  <a:srgbClr val="1E2A3B"/>
                </a:solidFill>
                <a:latin typeface="Consolas"/>
              </a:rPr>
              <a:t>VALID</a:t>
            </a:r>
          </a:p>
        </p:txBody>
      </p:sp>
      <p:cxnSp>
        <p:nvCxnSpPr>
          <p:cNvPr id="48" name="Connector 47"/>
          <p:cNvCxnSpPr/>
          <p:nvPr/>
        </p:nvCxnSpPr>
        <p:spPr>
          <a:xfrm>
            <a:off x="7086600" y="3794760"/>
            <a:ext cx="64007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726679" y="333756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7726679" y="333756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6760" y="333756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006840" y="3337560"/>
            <a:ext cx="64007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646920" y="333756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646920" y="379476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287000" y="379476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217920" y="4206240"/>
            <a:ext cx="822960" cy="365760"/>
          </a:xfrm>
          <a:prstGeom prst="rect">
            <a:avLst/>
          </a:prstGeom>
          <a:noFill/>
        </p:spPr>
        <p:txBody>
          <a:bodyPr wrap="square" lIns="0" rIns="0" tIns="0" bIns="0" anchor="t">
            <a:spAutoFit/>
          </a:bodyPr>
          <a:lstStyle/>
          <a:p>
            <a:pPr algn="l"/>
            <a:r>
              <a:rPr sz="1400" b="1" i="0">
                <a:solidFill>
                  <a:srgbClr val="1E2A3B"/>
                </a:solidFill>
                <a:latin typeface="Consolas"/>
              </a:rPr>
              <a:t>READY</a:t>
            </a:r>
          </a:p>
        </p:txBody>
      </p:sp>
      <p:cxnSp>
        <p:nvCxnSpPr>
          <p:cNvPr id="57" name="Connector 56"/>
          <p:cNvCxnSpPr/>
          <p:nvPr/>
        </p:nvCxnSpPr>
        <p:spPr>
          <a:xfrm>
            <a:off x="7086600" y="4617720"/>
            <a:ext cx="64007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726679" y="461772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366760" y="461772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9006840" y="416052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9006840" y="4160520"/>
            <a:ext cx="64007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9646920" y="416052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287000" y="416052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287000" y="461772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9208007" y="3218688"/>
            <a:ext cx="237744" cy="237744"/>
          </a:xfrm>
          <a:prstGeom prst="ellipse">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217920" y="5212080"/>
            <a:ext cx="5120640" cy="640080"/>
          </a:xfrm>
          <a:prstGeom prst="rect">
            <a:avLst/>
          </a:prstGeom>
          <a:noFill/>
        </p:spPr>
        <p:txBody>
          <a:bodyPr wrap="square" lIns="0" rIns="0" tIns="0" bIns="0" anchor="t">
            <a:spAutoFit/>
          </a:bodyPr>
          <a:lstStyle/>
          <a:p>
            <a:pPr algn="l"/>
            <a:r>
              <a:rPr sz="1400" b="0" i="0">
                <a:solidFill>
                  <a:srgbClr val="4F5F74"/>
                </a:solidFill>
                <a:latin typeface="Calibri"/>
              </a:rPr>
              <a:t>Amber dot: cycle 3 is the only cycle where VALID and READY are both high, so that is where the transfer happens.</a:t>
            </a:r>
          </a:p>
        </p:txBody>
      </p:sp>
      <p:sp>
        <p:nvSpPr>
          <p:cNvPr id="67"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a master, D flip-flop stages and a memory, in Verilog</a:t>
            </a:r>
          </a:p>
        </p:txBody>
      </p:sp>
      <p:sp>
        <p:nvSpPr>
          <p:cNvPr id="68"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What a burst is made of</a:t>
            </a:r>
          </a:p>
        </p:txBody>
      </p:sp>
      <p:sp>
        <p:nvSpPr>
          <p:cNvPr id="3" name="Rounded Rectangle 2"/>
          <p:cNvSpPr/>
          <p:nvPr/>
        </p:nvSpPr>
        <p:spPr>
          <a:xfrm>
            <a:off x="640080" y="1417320"/>
            <a:ext cx="2606040" cy="8686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59" y="1508760"/>
            <a:ext cx="2286000" cy="365760"/>
          </a:xfrm>
          <a:prstGeom prst="rect">
            <a:avLst/>
          </a:prstGeom>
          <a:noFill/>
        </p:spPr>
        <p:txBody>
          <a:bodyPr wrap="square" lIns="0" rIns="0" tIns="0" bIns="0" anchor="t">
            <a:spAutoFit/>
          </a:bodyPr>
          <a:lstStyle/>
          <a:p>
            <a:pPr algn="l"/>
            <a:r>
              <a:rPr sz="1800" b="1" i="0">
                <a:solidFill>
                  <a:srgbClr val="3B6FD0"/>
                </a:solidFill>
                <a:latin typeface="Consolas"/>
              </a:rPr>
              <a:t>LEN</a:t>
            </a:r>
          </a:p>
        </p:txBody>
      </p:sp>
      <p:sp>
        <p:nvSpPr>
          <p:cNvPr id="5" name="TextBox 4"/>
          <p:cNvSpPr txBox="1"/>
          <p:nvPr/>
        </p:nvSpPr>
        <p:spPr>
          <a:xfrm>
            <a:off x="822959" y="1874519"/>
            <a:ext cx="2286000" cy="365760"/>
          </a:xfrm>
          <a:prstGeom prst="rect">
            <a:avLst/>
          </a:prstGeom>
          <a:noFill/>
        </p:spPr>
        <p:txBody>
          <a:bodyPr wrap="square" lIns="0" rIns="0" tIns="0" bIns="0" anchor="t">
            <a:spAutoFit/>
          </a:bodyPr>
          <a:lstStyle/>
          <a:p>
            <a:pPr algn="l"/>
            <a:r>
              <a:rPr sz="1500" b="0" i="0">
                <a:solidFill>
                  <a:srgbClr val="1E2A3B"/>
                </a:solidFill>
                <a:latin typeface="Calibri"/>
              </a:rPr>
              <a:t>beats minus 1</a:t>
            </a:r>
          </a:p>
        </p:txBody>
      </p:sp>
      <p:sp>
        <p:nvSpPr>
          <p:cNvPr id="6" name="Rounded Rectangle 5"/>
          <p:cNvSpPr/>
          <p:nvPr/>
        </p:nvSpPr>
        <p:spPr>
          <a:xfrm>
            <a:off x="3401568" y="1417320"/>
            <a:ext cx="2606040" cy="8686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84448" y="1508760"/>
            <a:ext cx="2286000" cy="365760"/>
          </a:xfrm>
          <a:prstGeom prst="rect">
            <a:avLst/>
          </a:prstGeom>
          <a:noFill/>
        </p:spPr>
        <p:txBody>
          <a:bodyPr wrap="square" lIns="0" rIns="0" tIns="0" bIns="0" anchor="t">
            <a:spAutoFit/>
          </a:bodyPr>
          <a:lstStyle/>
          <a:p>
            <a:pPr algn="l"/>
            <a:r>
              <a:rPr sz="1800" b="1" i="0">
                <a:solidFill>
                  <a:srgbClr val="3B6FD0"/>
                </a:solidFill>
                <a:latin typeface="Consolas"/>
              </a:rPr>
              <a:t>LAST</a:t>
            </a:r>
          </a:p>
        </p:txBody>
      </p:sp>
      <p:sp>
        <p:nvSpPr>
          <p:cNvPr id="8" name="TextBox 7"/>
          <p:cNvSpPr txBox="1"/>
          <p:nvPr/>
        </p:nvSpPr>
        <p:spPr>
          <a:xfrm>
            <a:off x="3584448" y="1874519"/>
            <a:ext cx="2286000" cy="365760"/>
          </a:xfrm>
          <a:prstGeom prst="rect">
            <a:avLst/>
          </a:prstGeom>
          <a:noFill/>
        </p:spPr>
        <p:txBody>
          <a:bodyPr wrap="square" lIns="0" rIns="0" tIns="0" bIns="0" anchor="t">
            <a:spAutoFit/>
          </a:bodyPr>
          <a:lstStyle/>
          <a:p>
            <a:pPr algn="l"/>
            <a:r>
              <a:rPr sz="1500" b="0" i="0">
                <a:solidFill>
                  <a:srgbClr val="1E2A3B"/>
                </a:solidFill>
                <a:latin typeface="Calibri"/>
              </a:rPr>
              <a:t>marks the final beat</a:t>
            </a:r>
          </a:p>
        </p:txBody>
      </p:sp>
      <p:sp>
        <p:nvSpPr>
          <p:cNvPr id="9" name="Rounded Rectangle 8"/>
          <p:cNvSpPr/>
          <p:nvPr/>
        </p:nvSpPr>
        <p:spPr>
          <a:xfrm>
            <a:off x="6163056" y="1417320"/>
            <a:ext cx="2606040" cy="8686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45936" y="1508760"/>
            <a:ext cx="2286000" cy="365760"/>
          </a:xfrm>
          <a:prstGeom prst="rect">
            <a:avLst/>
          </a:prstGeom>
          <a:noFill/>
        </p:spPr>
        <p:txBody>
          <a:bodyPr wrap="square" lIns="0" rIns="0" tIns="0" bIns="0" anchor="t">
            <a:spAutoFit/>
          </a:bodyPr>
          <a:lstStyle/>
          <a:p>
            <a:pPr algn="l"/>
            <a:r>
              <a:rPr sz="1800" b="1" i="0">
                <a:solidFill>
                  <a:srgbClr val="3B6FD0"/>
                </a:solidFill>
                <a:latin typeface="Consolas"/>
              </a:rPr>
              <a:t>WSTRB</a:t>
            </a:r>
          </a:p>
        </p:txBody>
      </p:sp>
      <p:sp>
        <p:nvSpPr>
          <p:cNvPr id="11" name="TextBox 10"/>
          <p:cNvSpPr txBox="1"/>
          <p:nvPr/>
        </p:nvSpPr>
        <p:spPr>
          <a:xfrm>
            <a:off x="6345936" y="1874519"/>
            <a:ext cx="2286000" cy="365760"/>
          </a:xfrm>
          <a:prstGeom prst="rect">
            <a:avLst/>
          </a:prstGeom>
          <a:noFill/>
        </p:spPr>
        <p:txBody>
          <a:bodyPr wrap="square" lIns="0" rIns="0" tIns="0" bIns="0" anchor="t">
            <a:spAutoFit/>
          </a:bodyPr>
          <a:lstStyle/>
          <a:p>
            <a:pPr algn="l"/>
            <a:r>
              <a:rPr sz="1500" b="0" i="0">
                <a:solidFill>
                  <a:srgbClr val="1E2A3B"/>
                </a:solidFill>
                <a:latin typeface="Calibri"/>
              </a:rPr>
              <a:t>which bytes to write</a:t>
            </a:r>
          </a:p>
        </p:txBody>
      </p:sp>
      <p:sp>
        <p:nvSpPr>
          <p:cNvPr id="12" name="Rounded Rectangle 11"/>
          <p:cNvSpPr/>
          <p:nvPr/>
        </p:nvSpPr>
        <p:spPr>
          <a:xfrm>
            <a:off x="8924544" y="1417320"/>
            <a:ext cx="2606040" cy="8686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07424" y="1508760"/>
            <a:ext cx="2286000" cy="365760"/>
          </a:xfrm>
          <a:prstGeom prst="rect">
            <a:avLst/>
          </a:prstGeom>
          <a:noFill/>
        </p:spPr>
        <p:txBody>
          <a:bodyPr wrap="square" lIns="0" rIns="0" tIns="0" bIns="0" anchor="t">
            <a:spAutoFit/>
          </a:bodyPr>
          <a:lstStyle/>
          <a:p>
            <a:pPr algn="l"/>
            <a:r>
              <a:rPr sz="1800" b="1" i="0">
                <a:solidFill>
                  <a:srgbClr val="3B6FD0"/>
                </a:solidFill>
                <a:latin typeface="Consolas"/>
              </a:rPr>
              <a:t>ID</a:t>
            </a:r>
          </a:p>
        </p:txBody>
      </p:sp>
      <p:sp>
        <p:nvSpPr>
          <p:cNvPr id="14" name="TextBox 13"/>
          <p:cNvSpPr txBox="1"/>
          <p:nvPr/>
        </p:nvSpPr>
        <p:spPr>
          <a:xfrm>
            <a:off x="9107424" y="1874519"/>
            <a:ext cx="2286000" cy="365760"/>
          </a:xfrm>
          <a:prstGeom prst="rect">
            <a:avLst/>
          </a:prstGeom>
          <a:noFill/>
        </p:spPr>
        <p:txBody>
          <a:bodyPr wrap="square" lIns="0" rIns="0" tIns="0" bIns="0" anchor="t">
            <a:spAutoFit/>
          </a:bodyPr>
          <a:lstStyle/>
          <a:p>
            <a:pPr algn="l"/>
            <a:r>
              <a:rPr sz="1500" b="0" i="0">
                <a:solidFill>
                  <a:srgbClr val="1E2A3B"/>
                </a:solidFill>
                <a:latin typeface="Calibri"/>
              </a:rPr>
              <a:t>tag copied to the response</a:t>
            </a:r>
          </a:p>
        </p:txBody>
      </p:sp>
      <p:sp>
        <p:nvSpPr>
          <p:cNvPr id="15" name="TextBox 14"/>
          <p:cNvSpPr txBox="1"/>
          <p:nvPr/>
        </p:nvSpPr>
        <p:spPr>
          <a:xfrm>
            <a:off x="640080" y="2560320"/>
            <a:ext cx="10881360" cy="365760"/>
          </a:xfrm>
          <a:prstGeom prst="rect">
            <a:avLst/>
          </a:prstGeom>
          <a:noFill/>
        </p:spPr>
        <p:txBody>
          <a:bodyPr wrap="square" lIns="0" rIns="0" tIns="0" bIns="0" anchor="t">
            <a:spAutoFit/>
          </a:bodyPr>
          <a:lstStyle/>
          <a:p>
            <a:pPr algn="l"/>
            <a:r>
              <a:rPr sz="1700" b="0" i="0">
                <a:solidFill>
                  <a:srgbClr val="4F5F74"/>
                </a:solidFill>
                <a:latin typeface="Calibri"/>
              </a:rPr>
              <a:t>What the master sends: four words starting at address 0x10, with AxLEN = 3</a:t>
            </a:r>
          </a:p>
        </p:txBody>
      </p:sp>
      <p:sp>
        <p:nvSpPr>
          <p:cNvPr id="16" name="Rounded Rectangle 15"/>
          <p:cNvSpPr/>
          <p:nvPr/>
        </p:nvSpPr>
        <p:spPr>
          <a:xfrm>
            <a:off x="640080" y="3108960"/>
            <a:ext cx="2606040" cy="2103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96112" y="3291840"/>
            <a:ext cx="2148840" cy="365760"/>
          </a:xfrm>
          <a:prstGeom prst="rect">
            <a:avLst/>
          </a:prstGeom>
          <a:noFill/>
        </p:spPr>
        <p:txBody>
          <a:bodyPr wrap="square" lIns="0" rIns="0" tIns="0" bIns="0" anchor="t">
            <a:spAutoFit/>
          </a:bodyPr>
          <a:lstStyle/>
          <a:p>
            <a:pPr algn="l"/>
            <a:r>
              <a:rPr sz="1500" b="0" i="0">
                <a:solidFill>
                  <a:srgbClr val="4F5F74"/>
                </a:solidFill>
                <a:latin typeface="Calibri"/>
              </a:rPr>
              <a:t>beat 0</a:t>
            </a:r>
          </a:p>
        </p:txBody>
      </p:sp>
      <p:sp>
        <p:nvSpPr>
          <p:cNvPr id="18" name="TextBox 17"/>
          <p:cNvSpPr txBox="1"/>
          <p:nvPr/>
        </p:nvSpPr>
        <p:spPr>
          <a:xfrm>
            <a:off x="896112" y="3703320"/>
            <a:ext cx="2148840" cy="457200"/>
          </a:xfrm>
          <a:prstGeom prst="rect">
            <a:avLst/>
          </a:prstGeom>
          <a:noFill/>
        </p:spPr>
        <p:txBody>
          <a:bodyPr wrap="square" lIns="0" rIns="0" tIns="0" bIns="0" anchor="t">
            <a:spAutoFit/>
          </a:bodyPr>
          <a:lstStyle/>
          <a:p>
            <a:pPr algn="l"/>
            <a:r>
              <a:rPr sz="2600" b="1" i="0">
                <a:solidFill>
                  <a:srgbClr val="1E2A3B"/>
                </a:solidFill>
                <a:latin typeface="Consolas"/>
              </a:rPr>
              <a:t>0x10</a:t>
            </a:r>
          </a:p>
        </p:txBody>
      </p:sp>
      <p:sp>
        <p:nvSpPr>
          <p:cNvPr id="19" name="TextBox 18"/>
          <p:cNvSpPr txBox="1"/>
          <p:nvPr/>
        </p:nvSpPr>
        <p:spPr>
          <a:xfrm>
            <a:off x="896112" y="4297680"/>
            <a:ext cx="2148840" cy="365760"/>
          </a:xfrm>
          <a:prstGeom prst="rect">
            <a:avLst/>
          </a:prstGeom>
          <a:noFill/>
        </p:spPr>
        <p:txBody>
          <a:bodyPr wrap="square" lIns="0" rIns="0" tIns="0" bIns="0" anchor="t">
            <a:spAutoFit/>
          </a:bodyPr>
          <a:lstStyle/>
          <a:p>
            <a:pPr algn="l"/>
            <a:r>
              <a:rPr sz="1600" b="0" i="0">
                <a:solidFill>
                  <a:srgbClr val="1E2A3B"/>
                </a:solidFill>
                <a:latin typeface="Consolas"/>
              </a:rPr>
              <a:t>0xA5A5_0001</a:t>
            </a:r>
          </a:p>
        </p:txBody>
      </p:sp>
      <p:sp>
        <p:nvSpPr>
          <p:cNvPr id="20" name="TextBox 19"/>
          <p:cNvSpPr txBox="1"/>
          <p:nvPr/>
        </p:nvSpPr>
        <p:spPr>
          <a:xfrm>
            <a:off x="896112" y="4709160"/>
            <a:ext cx="2148840" cy="365760"/>
          </a:xfrm>
          <a:prstGeom prst="rect">
            <a:avLst/>
          </a:prstGeom>
          <a:noFill/>
        </p:spPr>
        <p:txBody>
          <a:bodyPr wrap="square" lIns="0" rIns="0" tIns="0" bIns="0" anchor="t">
            <a:spAutoFit/>
          </a:bodyPr>
          <a:lstStyle/>
          <a:p>
            <a:pPr algn="l"/>
            <a:r>
              <a:rPr sz="1400" b="0" i="0">
                <a:solidFill>
                  <a:srgbClr val="4F5F74"/>
                </a:solidFill>
                <a:latin typeface="Calibri"/>
              </a:rPr>
              <a:t>WLAST = 0</a:t>
            </a:r>
          </a:p>
        </p:txBody>
      </p:sp>
      <p:sp>
        <p:nvSpPr>
          <p:cNvPr id="21" name="Rounded Rectangle 20"/>
          <p:cNvSpPr/>
          <p:nvPr/>
        </p:nvSpPr>
        <p:spPr>
          <a:xfrm>
            <a:off x="3401568" y="3108960"/>
            <a:ext cx="2606040" cy="2103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657600" y="3291840"/>
            <a:ext cx="2148840" cy="365760"/>
          </a:xfrm>
          <a:prstGeom prst="rect">
            <a:avLst/>
          </a:prstGeom>
          <a:noFill/>
        </p:spPr>
        <p:txBody>
          <a:bodyPr wrap="square" lIns="0" rIns="0" tIns="0" bIns="0" anchor="t">
            <a:spAutoFit/>
          </a:bodyPr>
          <a:lstStyle/>
          <a:p>
            <a:pPr algn="l"/>
            <a:r>
              <a:rPr sz="1500" b="0" i="0">
                <a:solidFill>
                  <a:srgbClr val="4F5F74"/>
                </a:solidFill>
                <a:latin typeface="Calibri"/>
              </a:rPr>
              <a:t>beat 1</a:t>
            </a:r>
          </a:p>
        </p:txBody>
      </p:sp>
      <p:sp>
        <p:nvSpPr>
          <p:cNvPr id="23" name="TextBox 22"/>
          <p:cNvSpPr txBox="1"/>
          <p:nvPr/>
        </p:nvSpPr>
        <p:spPr>
          <a:xfrm>
            <a:off x="3657600" y="3703320"/>
            <a:ext cx="2148840" cy="457200"/>
          </a:xfrm>
          <a:prstGeom prst="rect">
            <a:avLst/>
          </a:prstGeom>
          <a:noFill/>
        </p:spPr>
        <p:txBody>
          <a:bodyPr wrap="square" lIns="0" rIns="0" tIns="0" bIns="0" anchor="t">
            <a:spAutoFit/>
          </a:bodyPr>
          <a:lstStyle/>
          <a:p>
            <a:pPr algn="l"/>
            <a:r>
              <a:rPr sz="2600" b="1" i="0">
                <a:solidFill>
                  <a:srgbClr val="1E2A3B"/>
                </a:solidFill>
                <a:latin typeface="Consolas"/>
              </a:rPr>
              <a:t>0x14</a:t>
            </a:r>
          </a:p>
        </p:txBody>
      </p:sp>
      <p:sp>
        <p:nvSpPr>
          <p:cNvPr id="24" name="TextBox 23"/>
          <p:cNvSpPr txBox="1"/>
          <p:nvPr/>
        </p:nvSpPr>
        <p:spPr>
          <a:xfrm>
            <a:off x="3657600" y="4297680"/>
            <a:ext cx="2148840" cy="365760"/>
          </a:xfrm>
          <a:prstGeom prst="rect">
            <a:avLst/>
          </a:prstGeom>
          <a:noFill/>
        </p:spPr>
        <p:txBody>
          <a:bodyPr wrap="square" lIns="0" rIns="0" tIns="0" bIns="0" anchor="t">
            <a:spAutoFit/>
          </a:bodyPr>
          <a:lstStyle/>
          <a:p>
            <a:pPr algn="l"/>
            <a:r>
              <a:rPr sz="1600" b="0" i="0">
                <a:solidFill>
                  <a:srgbClr val="1E2A3B"/>
                </a:solidFill>
                <a:latin typeface="Consolas"/>
              </a:rPr>
              <a:t>0x5A5A_0002</a:t>
            </a:r>
          </a:p>
        </p:txBody>
      </p:sp>
      <p:sp>
        <p:nvSpPr>
          <p:cNvPr id="25" name="TextBox 24"/>
          <p:cNvSpPr txBox="1"/>
          <p:nvPr/>
        </p:nvSpPr>
        <p:spPr>
          <a:xfrm>
            <a:off x="3657600" y="4709160"/>
            <a:ext cx="2148840" cy="365760"/>
          </a:xfrm>
          <a:prstGeom prst="rect">
            <a:avLst/>
          </a:prstGeom>
          <a:noFill/>
        </p:spPr>
        <p:txBody>
          <a:bodyPr wrap="square" lIns="0" rIns="0" tIns="0" bIns="0" anchor="t">
            <a:spAutoFit/>
          </a:bodyPr>
          <a:lstStyle/>
          <a:p>
            <a:pPr algn="l"/>
            <a:r>
              <a:rPr sz="1400" b="0" i="0">
                <a:solidFill>
                  <a:srgbClr val="4F5F74"/>
                </a:solidFill>
                <a:latin typeface="Calibri"/>
              </a:rPr>
              <a:t>WLAST = 0</a:t>
            </a:r>
          </a:p>
        </p:txBody>
      </p:sp>
      <p:sp>
        <p:nvSpPr>
          <p:cNvPr id="26" name="Rounded Rectangle 25"/>
          <p:cNvSpPr/>
          <p:nvPr/>
        </p:nvSpPr>
        <p:spPr>
          <a:xfrm>
            <a:off x="6163056" y="3108960"/>
            <a:ext cx="2606040" cy="2103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19088" y="3291840"/>
            <a:ext cx="2148840" cy="365760"/>
          </a:xfrm>
          <a:prstGeom prst="rect">
            <a:avLst/>
          </a:prstGeom>
          <a:noFill/>
        </p:spPr>
        <p:txBody>
          <a:bodyPr wrap="square" lIns="0" rIns="0" tIns="0" bIns="0" anchor="t">
            <a:spAutoFit/>
          </a:bodyPr>
          <a:lstStyle/>
          <a:p>
            <a:pPr algn="l"/>
            <a:r>
              <a:rPr sz="1500" b="0" i="0">
                <a:solidFill>
                  <a:srgbClr val="4F5F74"/>
                </a:solidFill>
                <a:latin typeface="Calibri"/>
              </a:rPr>
              <a:t>beat 2</a:t>
            </a:r>
          </a:p>
        </p:txBody>
      </p:sp>
      <p:sp>
        <p:nvSpPr>
          <p:cNvPr id="28" name="TextBox 27"/>
          <p:cNvSpPr txBox="1"/>
          <p:nvPr/>
        </p:nvSpPr>
        <p:spPr>
          <a:xfrm>
            <a:off x="6419088" y="3703320"/>
            <a:ext cx="2148840" cy="457200"/>
          </a:xfrm>
          <a:prstGeom prst="rect">
            <a:avLst/>
          </a:prstGeom>
          <a:noFill/>
        </p:spPr>
        <p:txBody>
          <a:bodyPr wrap="square" lIns="0" rIns="0" tIns="0" bIns="0" anchor="t">
            <a:spAutoFit/>
          </a:bodyPr>
          <a:lstStyle/>
          <a:p>
            <a:pPr algn="l"/>
            <a:r>
              <a:rPr sz="2600" b="1" i="0">
                <a:solidFill>
                  <a:srgbClr val="1E2A3B"/>
                </a:solidFill>
                <a:latin typeface="Consolas"/>
              </a:rPr>
              <a:t>0x18</a:t>
            </a:r>
          </a:p>
        </p:txBody>
      </p:sp>
      <p:sp>
        <p:nvSpPr>
          <p:cNvPr id="29" name="TextBox 28"/>
          <p:cNvSpPr txBox="1"/>
          <p:nvPr/>
        </p:nvSpPr>
        <p:spPr>
          <a:xfrm>
            <a:off x="6419088" y="4297680"/>
            <a:ext cx="2148840" cy="365760"/>
          </a:xfrm>
          <a:prstGeom prst="rect">
            <a:avLst/>
          </a:prstGeom>
          <a:noFill/>
        </p:spPr>
        <p:txBody>
          <a:bodyPr wrap="square" lIns="0" rIns="0" tIns="0" bIns="0" anchor="t">
            <a:spAutoFit/>
          </a:bodyPr>
          <a:lstStyle/>
          <a:p>
            <a:pPr algn="l"/>
            <a:r>
              <a:rPr sz="1600" b="0" i="0">
                <a:solidFill>
                  <a:srgbClr val="1E2A3B"/>
                </a:solidFill>
                <a:latin typeface="Consolas"/>
              </a:rPr>
              <a:t>0xDEAD_BEEF</a:t>
            </a:r>
          </a:p>
        </p:txBody>
      </p:sp>
      <p:sp>
        <p:nvSpPr>
          <p:cNvPr id="30" name="TextBox 29"/>
          <p:cNvSpPr txBox="1"/>
          <p:nvPr/>
        </p:nvSpPr>
        <p:spPr>
          <a:xfrm>
            <a:off x="6419088" y="4709160"/>
            <a:ext cx="2148840" cy="365760"/>
          </a:xfrm>
          <a:prstGeom prst="rect">
            <a:avLst/>
          </a:prstGeom>
          <a:noFill/>
        </p:spPr>
        <p:txBody>
          <a:bodyPr wrap="square" lIns="0" rIns="0" tIns="0" bIns="0" anchor="t">
            <a:spAutoFit/>
          </a:bodyPr>
          <a:lstStyle/>
          <a:p>
            <a:pPr algn="l"/>
            <a:r>
              <a:rPr sz="1400" b="0" i="0">
                <a:solidFill>
                  <a:srgbClr val="4F5F74"/>
                </a:solidFill>
                <a:latin typeface="Calibri"/>
              </a:rPr>
              <a:t>WLAST = 0</a:t>
            </a:r>
          </a:p>
        </p:txBody>
      </p:sp>
      <p:sp>
        <p:nvSpPr>
          <p:cNvPr id="31" name="Rounded Rectangle 30"/>
          <p:cNvSpPr/>
          <p:nvPr/>
        </p:nvSpPr>
        <p:spPr>
          <a:xfrm>
            <a:off x="8924544" y="3108960"/>
            <a:ext cx="2606040" cy="2103120"/>
          </a:xfrm>
          <a:prstGeom prst="roundRect">
            <a:avLst>
              <a:gd name="adj" fmla="val 6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180576" y="3291840"/>
            <a:ext cx="2148840" cy="365760"/>
          </a:xfrm>
          <a:prstGeom prst="rect">
            <a:avLst/>
          </a:prstGeom>
          <a:noFill/>
        </p:spPr>
        <p:txBody>
          <a:bodyPr wrap="square" lIns="0" rIns="0" tIns="0" bIns="0" anchor="t">
            <a:spAutoFit/>
          </a:bodyPr>
          <a:lstStyle/>
          <a:p>
            <a:pPr algn="l"/>
            <a:r>
              <a:rPr sz="1500" b="0" i="0">
                <a:solidFill>
                  <a:srgbClr val="4F5F74"/>
                </a:solidFill>
                <a:latin typeface="Calibri"/>
              </a:rPr>
              <a:t>beat 3</a:t>
            </a:r>
          </a:p>
        </p:txBody>
      </p:sp>
      <p:sp>
        <p:nvSpPr>
          <p:cNvPr id="33" name="TextBox 32"/>
          <p:cNvSpPr txBox="1"/>
          <p:nvPr/>
        </p:nvSpPr>
        <p:spPr>
          <a:xfrm>
            <a:off x="9180576" y="3703320"/>
            <a:ext cx="2148840" cy="457200"/>
          </a:xfrm>
          <a:prstGeom prst="rect">
            <a:avLst/>
          </a:prstGeom>
          <a:noFill/>
        </p:spPr>
        <p:txBody>
          <a:bodyPr wrap="square" lIns="0" rIns="0" tIns="0" bIns="0" anchor="t">
            <a:spAutoFit/>
          </a:bodyPr>
          <a:lstStyle/>
          <a:p>
            <a:pPr algn="l"/>
            <a:r>
              <a:rPr sz="2600" b="1" i="0">
                <a:solidFill>
                  <a:srgbClr val="1E2A3B"/>
                </a:solidFill>
                <a:latin typeface="Consolas"/>
              </a:rPr>
              <a:t>0x1C</a:t>
            </a:r>
          </a:p>
        </p:txBody>
      </p:sp>
      <p:sp>
        <p:nvSpPr>
          <p:cNvPr id="34" name="TextBox 33"/>
          <p:cNvSpPr txBox="1"/>
          <p:nvPr/>
        </p:nvSpPr>
        <p:spPr>
          <a:xfrm>
            <a:off x="9180576" y="4297680"/>
            <a:ext cx="2148840" cy="365760"/>
          </a:xfrm>
          <a:prstGeom prst="rect">
            <a:avLst/>
          </a:prstGeom>
          <a:noFill/>
        </p:spPr>
        <p:txBody>
          <a:bodyPr wrap="square" lIns="0" rIns="0" tIns="0" bIns="0" anchor="t">
            <a:spAutoFit/>
          </a:bodyPr>
          <a:lstStyle/>
          <a:p>
            <a:pPr algn="l"/>
            <a:r>
              <a:rPr sz="1600" b="0" i="0">
                <a:solidFill>
                  <a:srgbClr val="1E2A3B"/>
                </a:solidFill>
                <a:latin typeface="Consolas"/>
              </a:rPr>
              <a:t>0x0BAD_F00D</a:t>
            </a:r>
          </a:p>
        </p:txBody>
      </p:sp>
      <p:sp>
        <p:nvSpPr>
          <p:cNvPr id="35" name="TextBox 34"/>
          <p:cNvSpPr txBox="1"/>
          <p:nvPr/>
        </p:nvSpPr>
        <p:spPr>
          <a:xfrm>
            <a:off x="9180576" y="4709160"/>
            <a:ext cx="2148840" cy="365760"/>
          </a:xfrm>
          <a:prstGeom prst="rect">
            <a:avLst/>
          </a:prstGeom>
          <a:noFill/>
        </p:spPr>
        <p:txBody>
          <a:bodyPr wrap="square" lIns="0" rIns="0" tIns="0" bIns="0" anchor="t">
            <a:spAutoFit/>
          </a:bodyPr>
          <a:lstStyle/>
          <a:p>
            <a:pPr algn="l"/>
            <a:r>
              <a:rPr sz="1400" b="1" i="0">
                <a:solidFill>
                  <a:srgbClr val="8F5C00"/>
                </a:solidFill>
                <a:latin typeface="Calibri"/>
              </a:rPr>
              <a:t>WLAST = 1 on this beat</a:t>
            </a:r>
          </a:p>
        </p:txBody>
      </p:sp>
      <p:sp>
        <p:nvSpPr>
          <p:cNvPr id="36" name="TextBox 35"/>
          <p:cNvSpPr txBox="1"/>
          <p:nvPr/>
        </p:nvSpPr>
        <p:spPr>
          <a:xfrm>
            <a:off x="640080" y="5532120"/>
            <a:ext cx="10881360" cy="457200"/>
          </a:xfrm>
          <a:prstGeom prst="rect">
            <a:avLst/>
          </a:prstGeom>
          <a:noFill/>
        </p:spPr>
        <p:txBody>
          <a:bodyPr wrap="square" lIns="0" rIns="0" tIns="0" bIns="0" anchor="t">
            <a:spAutoFit/>
          </a:bodyPr>
          <a:lstStyle/>
          <a:p>
            <a:pPr algn="l"/>
            <a:r>
              <a:rPr sz="1600" b="0" i="1">
                <a:solidFill>
                  <a:srgbClr val="4F5F74"/>
                </a:solidFill>
                <a:latin typeface="Calibri"/>
              </a:rPr>
              <a:t>The address goes up by 4 for each beat, because each word is 4 bytes.</a:t>
            </a:r>
          </a:p>
        </p:txBody>
      </p:sp>
      <p:sp>
        <p:nvSpPr>
          <p:cNvPr id="37"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a master, D flip-flop stages and a memory, in Verilog</a:t>
            </a:r>
          </a:p>
        </p:txBody>
      </p:sp>
      <p:sp>
        <p:nvSpPr>
          <p:cNvPr id="38"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System architecture</a:t>
            </a:r>
          </a:p>
        </p:txBody>
      </p:sp>
      <p:pic>
        <p:nvPicPr>
          <p:cNvPr id="3" name="Picture 2" descr="Block diagram: axi4_master, a D flip-flop stage at each end of every one of the five channels with signal names, axi4_slave with write engine, read engine and 4 KiB memory."/>
          <p:cNvPicPr>
            <a:picLocks noChangeAspect="1"/>
          </p:cNvPicPr>
          <p:nvPr/>
        </p:nvPicPr>
        <p:blipFill>
          <a:blip r:embed="rId3"/>
          <a:stretch>
            <a:fillRect/>
          </a:stretch>
        </p:blipFill>
        <p:spPr>
          <a:xfrm>
            <a:off x="822960" y="1325880"/>
            <a:ext cx="10515600" cy="4673600"/>
          </a:xfrm>
          <a:prstGeom prst="rect">
            <a:avLst/>
          </a:prstGeom>
        </p:spPr>
      </p:pic>
      <p:sp>
        <p:nvSpPr>
          <p:cNvPr id="4" name="TextBox 3"/>
          <p:cNvSpPr txBox="1"/>
          <p:nvPr/>
        </p:nvSpPr>
        <p:spPr>
          <a:xfrm>
            <a:off x="640080" y="6080760"/>
            <a:ext cx="10881360" cy="274320"/>
          </a:xfrm>
          <a:prstGeom prst="rect">
            <a:avLst/>
          </a:prstGeom>
          <a:noFill/>
        </p:spPr>
        <p:txBody>
          <a:bodyPr wrap="square" lIns="0" rIns="0" tIns="0" bIns="0" anchor="t">
            <a:spAutoFit/>
          </a:bodyPr>
          <a:lstStyle/>
          <a:p>
            <a:pPr algn="l"/>
            <a:r>
              <a:rPr sz="1400" b="0" i="1">
                <a:solidFill>
                  <a:srgbClr val="4F5F74"/>
                </a:solidFill>
                <a:latin typeface="Calibri"/>
              </a:rPr>
              <a:t>Amber boxes are the D flip-flop stages: ten in total, two on every channel.</a:t>
            </a:r>
          </a:p>
        </p:txBody>
      </p:sp>
      <p:sp>
        <p:nvSpPr>
          <p:cNvPr id="5"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a master, D flip-flop stages and a memory, in Verilog</a:t>
            </a:r>
          </a:p>
        </p:txBody>
      </p:sp>
      <p:sp>
        <p:nvSpPr>
          <p:cNvPr id="6"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The master, step by step</a:t>
            </a:r>
          </a:p>
        </p:txBody>
      </p:sp>
      <p:sp>
        <p:nvSpPr>
          <p:cNvPr id="3" name="Rounded Rectangle 2"/>
          <p:cNvSpPr/>
          <p:nvPr/>
        </p:nvSpPr>
        <p:spPr>
          <a:xfrm>
            <a:off x="640080" y="1463040"/>
            <a:ext cx="1666189" cy="26517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627632"/>
            <a:ext cx="1391869" cy="457200"/>
          </a:xfrm>
          <a:prstGeom prst="rect">
            <a:avLst/>
          </a:prstGeom>
          <a:noFill/>
        </p:spPr>
        <p:txBody>
          <a:bodyPr wrap="square" lIns="0" rIns="0" tIns="0" bIns="0" anchor="t">
            <a:spAutoFit/>
          </a:bodyPr>
          <a:lstStyle/>
          <a:p>
            <a:pPr algn="l"/>
            <a:r>
              <a:rPr sz="1900" b="1" i="0">
                <a:solidFill>
                  <a:srgbClr val="1E2A3B"/>
                </a:solidFill>
                <a:latin typeface="Consolas"/>
              </a:rPr>
              <a:t>S_AW</a:t>
            </a:r>
          </a:p>
        </p:txBody>
      </p:sp>
      <p:sp>
        <p:nvSpPr>
          <p:cNvPr id="5" name="TextBox 4"/>
          <p:cNvSpPr txBox="1"/>
          <p:nvPr/>
        </p:nvSpPr>
        <p:spPr>
          <a:xfrm>
            <a:off x="777240" y="2194560"/>
            <a:ext cx="1391869" cy="1828800"/>
          </a:xfrm>
          <a:prstGeom prst="rect">
            <a:avLst/>
          </a:prstGeom>
          <a:noFill/>
        </p:spPr>
        <p:txBody>
          <a:bodyPr wrap="square" lIns="0" rIns="0" tIns="0" bIns="0" anchor="t">
            <a:spAutoFit/>
          </a:bodyPr>
          <a:lstStyle/>
          <a:p>
            <a:pPr algn="l"/>
            <a:r>
              <a:rPr sz="1500" b="0" i="0">
                <a:solidFill>
                  <a:srgbClr val="1E2A3B"/>
                </a:solidFill>
                <a:latin typeface="Calibri"/>
              </a:rPr>
              <a:t>Sends the write address: 0x10, four beats.</a:t>
            </a:r>
          </a:p>
        </p:txBody>
      </p:sp>
      <p:cxnSp>
        <p:nvCxnSpPr>
          <p:cNvPr id="6" name="Connector 5"/>
          <p:cNvCxnSpPr/>
          <p:nvPr/>
        </p:nvCxnSpPr>
        <p:spPr>
          <a:xfrm>
            <a:off x="2324557" y="2788920"/>
            <a:ext cx="14630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489149" y="1463040"/>
            <a:ext cx="1666189" cy="26517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626309" y="1627632"/>
            <a:ext cx="1391869" cy="457200"/>
          </a:xfrm>
          <a:prstGeom prst="rect">
            <a:avLst/>
          </a:prstGeom>
          <a:noFill/>
        </p:spPr>
        <p:txBody>
          <a:bodyPr wrap="square" lIns="0" rIns="0" tIns="0" bIns="0" anchor="t">
            <a:spAutoFit/>
          </a:bodyPr>
          <a:lstStyle/>
          <a:p>
            <a:pPr algn="l"/>
            <a:r>
              <a:rPr sz="1900" b="1" i="0">
                <a:solidFill>
                  <a:srgbClr val="1E2A3B"/>
                </a:solidFill>
                <a:latin typeface="Consolas"/>
              </a:rPr>
              <a:t>S_W</a:t>
            </a:r>
          </a:p>
        </p:txBody>
      </p:sp>
      <p:sp>
        <p:nvSpPr>
          <p:cNvPr id="9" name="TextBox 8"/>
          <p:cNvSpPr txBox="1"/>
          <p:nvPr/>
        </p:nvSpPr>
        <p:spPr>
          <a:xfrm>
            <a:off x="2626309" y="2194560"/>
            <a:ext cx="1391869" cy="1828800"/>
          </a:xfrm>
          <a:prstGeom prst="rect">
            <a:avLst/>
          </a:prstGeom>
          <a:noFill/>
        </p:spPr>
        <p:txBody>
          <a:bodyPr wrap="square" lIns="0" rIns="0" tIns="0" bIns="0" anchor="t">
            <a:spAutoFit/>
          </a:bodyPr>
          <a:lstStyle/>
          <a:p>
            <a:pPr algn="l"/>
            <a:r>
              <a:rPr sz="1500" b="0" i="0">
                <a:solidFill>
                  <a:srgbClr val="1E2A3B"/>
                </a:solidFill>
                <a:latin typeface="Calibri"/>
              </a:rPr>
              <a:t>Sends the four words from the data registers. WLAST on the fourth.</a:t>
            </a:r>
          </a:p>
        </p:txBody>
      </p:sp>
      <p:cxnSp>
        <p:nvCxnSpPr>
          <p:cNvPr id="10" name="Connector 9"/>
          <p:cNvCxnSpPr/>
          <p:nvPr/>
        </p:nvCxnSpPr>
        <p:spPr>
          <a:xfrm>
            <a:off x="4173626" y="2788920"/>
            <a:ext cx="14630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38218" y="1463040"/>
            <a:ext cx="1666189" cy="26517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75378" y="1627632"/>
            <a:ext cx="1391869" cy="457200"/>
          </a:xfrm>
          <a:prstGeom prst="rect">
            <a:avLst/>
          </a:prstGeom>
          <a:noFill/>
        </p:spPr>
        <p:txBody>
          <a:bodyPr wrap="square" lIns="0" rIns="0" tIns="0" bIns="0" anchor="t">
            <a:spAutoFit/>
          </a:bodyPr>
          <a:lstStyle/>
          <a:p>
            <a:pPr algn="l"/>
            <a:r>
              <a:rPr sz="1900" b="1" i="0">
                <a:solidFill>
                  <a:srgbClr val="1E2A3B"/>
                </a:solidFill>
                <a:latin typeface="Consolas"/>
              </a:rPr>
              <a:t>S_B</a:t>
            </a:r>
          </a:p>
        </p:txBody>
      </p:sp>
      <p:sp>
        <p:nvSpPr>
          <p:cNvPr id="13" name="TextBox 12"/>
          <p:cNvSpPr txBox="1"/>
          <p:nvPr/>
        </p:nvSpPr>
        <p:spPr>
          <a:xfrm>
            <a:off x="4475378" y="2194560"/>
            <a:ext cx="1391869" cy="1828800"/>
          </a:xfrm>
          <a:prstGeom prst="rect">
            <a:avLst/>
          </a:prstGeom>
          <a:noFill/>
        </p:spPr>
        <p:txBody>
          <a:bodyPr wrap="square" lIns="0" rIns="0" tIns="0" bIns="0" anchor="t">
            <a:spAutoFit/>
          </a:bodyPr>
          <a:lstStyle/>
          <a:p>
            <a:pPr algn="l"/>
            <a:r>
              <a:rPr sz="1500" b="0" i="0">
                <a:solidFill>
                  <a:srgbClr val="1E2A3B"/>
                </a:solidFill>
                <a:latin typeface="Calibri"/>
              </a:rPr>
              <a:t>Waits for the one write response.</a:t>
            </a:r>
          </a:p>
        </p:txBody>
      </p:sp>
      <p:cxnSp>
        <p:nvCxnSpPr>
          <p:cNvPr id="14" name="Connector 13"/>
          <p:cNvCxnSpPr/>
          <p:nvPr/>
        </p:nvCxnSpPr>
        <p:spPr>
          <a:xfrm>
            <a:off x="6022695" y="2788920"/>
            <a:ext cx="14630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87287" y="1463040"/>
            <a:ext cx="1666189" cy="265176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24447" y="1627632"/>
            <a:ext cx="1391869" cy="457200"/>
          </a:xfrm>
          <a:prstGeom prst="rect">
            <a:avLst/>
          </a:prstGeom>
          <a:noFill/>
        </p:spPr>
        <p:txBody>
          <a:bodyPr wrap="square" lIns="0" rIns="0" tIns="0" bIns="0" anchor="t">
            <a:spAutoFit/>
          </a:bodyPr>
          <a:lstStyle/>
          <a:p>
            <a:pPr algn="l"/>
            <a:r>
              <a:rPr sz="1900" b="1" i="0">
                <a:solidFill>
                  <a:srgbClr val="1E2A3B"/>
                </a:solidFill>
                <a:latin typeface="Consolas"/>
              </a:rPr>
              <a:t>S_AR</a:t>
            </a:r>
          </a:p>
        </p:txBody>
      </p:sp>
      <p:sp>
        <p:nvSpPr>
          <p:cNvPr id="17" name="TextBox 16"/>
          <p:cNvSpPr txBox="1"/>
          <p:nvPr/>
        </p:nvSpPr>
        <p:spPr>
          <a:xfrm>
            <a:off x="6324447" y="2194560"/>
            <a:ext cx="1391869" cy="1828800"/>
          </a:xfrm>
          <a:prstGeom prst="rect">
            <a:avLst/>
          </a:prstGeom>
          <a:noFill/>
        </p:spPr>
        <p:txBody>
          <a:bodyPr wrap="square" lIns="0" rIns="0" tIns="0" bIns="0" anchor="t">
            <a:spAutoFit/>
          </a:bodyPr>
          <a:lstStyle/>
          <a:p>
            <a:pPr algn="l"/>
            <a:r>
              <a:rPr sz="1500" b="0" i="0">
                <a:solidFill>
                  <a:srgbClr val="1E2A3B"/>
                </a:solidFill>
                <a:latin typeface="Calibri"/>
              </a:rPr>
              <a:t>Sends the read address: 0x10, four beats.</a:t>
            </a:r>
          </a:p>
        </p:txBody>
      </p:sp>
      <p:cxnSp>
        <p:nvCxnSpPr>
          <p:cNvPr id="18" name="Connector 17"/>
          <p:cNvCxnSpPr/>
          <p:nvPr/>
        </p:nvCxnSpPr>
        <p:spPr>
          <a:xfrm>
            <a:off x="7871764" y="2788920"/>
            <a:ext cx="14630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036356" y="1463040"/>
            <a:ext cx="1666189" cy="265176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73516" y="1627632"/>
            <a:ext cx="1391869" cy="457200"/>
          </a:xfrm>
          <a:prstGeom prst="rect">
            <a:avLst/>
          </a:prstGeom>
          <a:noFill/>
        </p:spPr>
        <p:txBody>
          <a:bodyPr wrap="square" lIns="0" rIns="0" tIns="0" bIns="0" anchor="t">
            <a:spAutoFit/>
          </a:bodyPr>
          <a:lstStyle/>
          <a:p>
            <a:pPr algn="l"/>
            <a:r>
              <a:rPr sz="1900" b="1" i="0">
                <a:solidFill>
                  <a:srgbClr val="1E2A3B"/>
                </a:solidFill>
                <a:latin typeface="Consolas"/>
              </a:rPr>
              <a:t>S_R</a:t>
            </a:r>
          </a:p>
        </p:txBody>
      </p:sp>
      <p:sp>
        <p:nvSpPr>
          <p:cNvPr id="21" name="TextBox 20"/>
          <p:cNvSpPr txBox="1"/>
          <p:nvPr/>
        </p:nvSpPr>
        <p:spPr>
          <a:xfrm>
            <a:off x="8173516" y="2194560"/>
            <a:ext cx="1391869" cy="1828800"/>
          </a:xfrm>
          <a:prstGeom prst="rect">
            <a:avLst/>
          </a:prstGeom>
          <a:noFill/>
        </p:spPr>
        <p:txBody>
          <a:bodyPr wrap="square" lIns="0" rIns="0" tIns="0" bIns="0" anchor="t">
            <a:spAutoFit/>
          </a:bodyPr>
          <a:lstStyle/>
          <a:p>
            <a:pPr algn="l"/>
            <a:r>
              <a:rPr sz="1500" b="0" i="0">
                <a:solidFill>
                  <a:srgbClr val="1E2A3B"/>
                </a:solidFill>
                <a:latin typeface="Calibri"/>
              </a:rPr>
              <a:t>Takes four beats into the read registers. Ends on RLAST.</a:t>
            </a:r>
          </a:p>
        </p:txBody>
      </p:sp>
      <p:cxnSp>
        <p:nvCxnSpPr>
          <p:cNvPr id="22" name="Connector 21"/>
          <p:cNvCxnSpPr/>
          <p:nvPr/>
        </p:nvCxnSpPr>
        <p:spPr>
          <a:xfrm>
            <a:off x="9720834" y="2788920"/>
            <a:ext cx="14630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885426" y="1463040"/>
            <a:ext cx="1666189" cy="2651760"/>
          </a:xfrm>
          <a:prstGeom prst="roundRect">
            <a:avLst>
              <a:gd name="adj" fmla="val 6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022586" y="1627632"/>
            <a:ext cx="1391869" cy="457200"/>
          </a:xfrm>
          <a:prstGeom prst="rect">
            <a:avLst/>
          </a:prstGeom>
          <a:noFill/>
        </p:spPr>
        <p:txBody>
          <a:bodyPr wrap="square" lIns="0" rIns="0" tIns="0" bIns="0" anchor="t">
            <a:spAutoFit/>
          </a:bodyPr>
          <a:lstStyle/>
          <a:p>
            <a:pPr algn="l"/>
            <a:r>
              <a:rPr sz="1900" b="1" i="0">
                <a:solidFill>
                  <a:srgbClr val="1E2A3B"/>
                </a:solidFill>
                <a:latin typeface="Consolas"/>
              </a:rPr>
              <a:t>S_DONE</a:t>
            </a:r>
          </a:p>
        </p:txBody>
      </p:sp>
      <p:sp>
        <p:nvSpPr>
          <p:cNvPr id="25" name="TextBox 24"/>
          <p:cNvSpPr txBox="1"/>
          <p:nvPr/>
        </p:nvSpPr>
        <p:spPr>
          <a:xfrm>
            <a:off x="10022586" y="2194560"/>
            <a:ext cx="1391869" cy="1828800"/>
          </a:xfrm>
          <a:prstGeom prst="rect">
            <a:avLst/>
          </a:prstGeom>
          <a:noFill/>
        </p:spPr>
        <p:txBody>
          <a:bodyPr wrap="square" lIns="0" rIns="0" tIns="0" bIns="0" anchor="t">
            <a:spAutoFit/>
          </a:bodyPr>
          <a:lstStyle/>
          <a:p>
            <a:pPr algn="l"/>
            <a:r>
              <a:rPr sz="1500" b="0" i="0">
                <a:solidFill>
                  <a:srgbClr val="1E2A3B"/>
                </a:solidFill>
                <a:latin typeface="Calibri"/>
              </a:rPr>
              <a:t>done = 1. pass = 1 if read-back equals what was written.</a:t>
            </a:r>
          </a:p>
        </p:txBody>
      </p:sp>
      <p:sp>
        <p:nvSpPr>
          <p:cNvPr id="26" name="Rounded Rectangle 25"/>
          <p:cNvSpPr/>
          <p:nvPr/>
        </p:nvSpPr>
        <p:spPr>
          <a:xfrm>
            <a:off x="640080" y="4434840"/>
            <a:ext cx="5349240" cy="1645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14400" y="4572000"/>
            <a:ext cx="4846320" cy="365760"/>
          </a:xfrm>
          <a:prstGeom prst="rect">
            <a:avLst/>
          </a:prstGeom>
          <a:noFill/>
        </p:spPr>
        <p:txBody>
          <a:bodyPr wrap="square" lIns="0" rIns="0" tIns="0" bIns="0" anchor="t">
            <a:spAutoFit/>
          </a:bodyPr>
          <a:lstStyle/>
          <a:p>
            <a:pPr algn="l"/>
            <a:r>
              <a:rPr sz="1800" b="1" i="0">
                <a:solidFill>
                  <a:srgbClr val="1E2A3B"/>
                </a:solidFill>
                <a:latin typeface="Cambria"/>
              </a:rPr>
              <a:t>Data from D flip-flops</a:t>
            </a:r>
          </a:p>
        </p:txBody>
      </p:sp>
      <p:sp>
        <p:nvSpPr>
          <p:cNvPr id="28" name="TextBox 27"/>
          <p:cNvSpPr txBox="1"/>
          <p:nvPr/>
        </p:nvSpPr>
        <p:spPr>
          <a:xfrm>
            <a:off x="914400" y="5029200"/>
            <a:ext cx="4846320" cy="1005840"/>
          </a:xfrm>
          <a:prstGeom prst="rect">
            <a:avLst/>
          </a:prstGeom>
          <a:noFill/>
        </p:spPr>
        <p:txBody>
          <a:bodyPr wrap="square" lIns="0" rIns="0" tIns="0" bIns="0" anchor="t">
            <a:spAutoFit/>
          </a:bodyPr>
          <a:lstStyle/>
          <a:p>
            <a:pPr algn="l"/>
            <a:r>
              <a:rPr sz="1500" b="0" i="0">
                <a:solidFill>
                  <a:srgbClr val="1E2A3B"/>
                </a:solidFill>
                <a:latin typeface="Calibri"/>
              </a:rPr>
              <a:t>The address and four words sit in registers inside the master, set at reset. To send something else, change them in axi4_master.v.</a:t>
            </a:r>
          </a:p>
        </p:txBody>
      </p:sp>
      <p:sp>
        <p:nvSpPr>
          <p:cNvPr id="29" name="Rounded Rectangle 28"/>
          <p:cNvSpPr/>
          <p:nvPr/>
        </p:nvSpPr>
        <p:spPr>
          <a:xfrm>
            <a:off x="6172200" y="4434840"/>
            <a:ext cx="5349240" cy="1645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46520" y="4572000"/>
            <a:ext cx="4846320" cy="365760"/>
          </a:xfrm>
          <a:prstGeom prst="rect">
            <a:avLst/>
          </a:prstGeom>
          <a:noFill/>
        </p:spPr>
        <p:txBody>
          <a:bodyPr wrap="square" lIns="0" rIns="0" tIns="0" bIns="0" anchor="t">
            <a:spAutoFit/>
          </a:bodyPr>
          <a:lstStyle/>
          <a:p>
            <a:pPr algn="l"/>
            <a:r>
              <a:rPr sz="1800" b="1" i="0">
                <a:solidFill>
                  <a:srgbClr val="1E2A3B"/>
                </a:solidFill>
                <a:latin typeface="Cambria"/>
              </a:rPr>
              <a:t>No host interface</a:t>
            </a:r>
          </a:p>
        </p:txBody>
      </p:sp>
      <p:sp>
        <p:nvSpPr>
          <p:cNvPr id="31" name="TextBox 30"/>
          <p:cNvSpPr txBox="1"/>
          <p:nvPr/>
        </p:nvSpPr>
        <p:spPr>
          <a:xfrm>
            <a:off x="6446520" y="5029200"/>
            <a:ext cx="4846320" cy="1005840"/>
          </a:xfrm>
          <a:prstGeom prst="rect">
            <a:avLst/>
          </a:prstGeom>
          <a:noFill/>
        </p:spPr>
        <p:txBody>
          <a:bodyPr wrap="square" lIns="0" rIns="0" tIns="0" bIns="0" anchor="t">
            <a:spAutoFit/>
          </a:bodyPr>
          <a:lstStyle/>
          <a:p>
            <a:pPr algn="l"/>
            <a:r>
              <a:rPr sz="1500" b="0" i="0">
                <a:solidFill>
                  <a:srgbClr val="1E2A3B"/>
                </a:solidFill>
                <a:latin typeface="Calibri"/>
              </a:rPr>
              <a:t>Nothing tells the master what to do. After reset it runs the sequence by itself and reports done and pass.</a:t>
            </a:r>
          </a:p>
        </p:txBody>
      </p:sp>
      <p:sp>
        <p:nvSpPr>
          <p:cNvPr id="32"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a master, D flip-flop stages and a memory, in Verilog</a:t>
            </a:r>
          </a:p>
        </p:txBody>
      </p:sp>
      <p:sp>
        <p:nvSpPr>
          <p:cNvPr id="33"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The D flip-flop stage</a:t>
            </a:r>
          </a:p>
        </p:txBody>
      </p:sp>
      <p:sp>
        <p:nvSpPr>
          <p:cNvPr id="3" name="Rounded Rectangle 2"/>
          <p:cNvSpPr/>
          <p:nvPr/>
        </p:nvSpPr>
        <p:spPr>
          <a:xfrm>
            <a:off x="640080" y="1463040"/>
            <a:ext cx="3493008" cy="274320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645920"/>
            <a:ext cx="3017520" cy="457200"/>
          </a:xfrm>
          <a:prstGeom prst="rect">
            <a:avLst/>
          </a:prstGeom>
          <a:noFill/>
        </p:spPr>
        <p:txBody>
          <a:bodyPr wrap="square" lIns="0" rIns="0" tIns="0" bIns="0" anchor="t">
            <a:spAutoFit/>
          </a:bodyPr>
          <a:lstStyle/>
          <a:p>
            <a:pPr algn="l"/>
            <a:r>
              <a:rPr sz="2400" b="1" i="0">
                <a:solidFill>
                  <a:srgbClr val="1E2A3B"/>
                </a:solidFill>
                <a:latin typeface="Cambria"/>
              </a:rPr>
              <a:t>Empty</a:t>
            </a:r>
          </a:p>
        </p:txBody>
      </p:sp>
      <p:sp>
        <p:nvSpPr>
          <p:cNvPr id="5" name="TextBox 4"/>
          <p:cNvSpPr txBox="1"/>
          <p:nvPr/>
        </p:nvSpPr>
        <p:spPr>
          <a:xfrm>
            <a:off x="914400" y="2240280"/>
            <a:ext cx="3017520" cy="365760"/>
          </a:xfrm>
          <a:prstGeom prst="rect">
            <a:avLst/>
          </a:prstGeom>
          <a:noFill/>
        </p:spPr>
        <p:txBody>
          <a:bodyPr wrap="square" lIns="0" rIns="0" tIns="0" bIns="0" anchor="t">
            <a:spAutoFit/>
          </a:bodyPr>
          <a:lstStyle/>
          <a:p>
            <a:pPr algn="l"/>
            <a:r>
              <a:rPr sz="1800" b="1" i="0">
                <a:solidFill>
                  <a:srgbClr val="1E2A3B"/>
                </a:solidFill>
                <a:latin typeface="Consolas"/>
              </a:rPr>
              <a:t>in_ready = 1</a:t>
            </a:r>
          </a:p>
        </p:txBody>
      </p:sp>
      <p:sp>
        <p:nvSpPr>
          <p:cNvPr id="6" name="TextBox 5"/>
          <p:cNvSpPr txBox="1"/>
          <p:nvPr/>
        </p:nvSpPr>
        <p:spPr>
          <a:xfrm>
            <a:off x="914400" y="2788920"/>
            <a:ext cx="3017520" cy="1371600"/>
          </a:xfrm>
          <a:prstGeom prst="rect">
            <a:avLst/>
          </a:prstGeom>
          <a:noFill/>
        </p:spPr>
        <p:txBody>
          <a:bodyPr wrap="square" lIns="0" rIns="0" tIns="0" bIns="0" anchor="t">
            <a:spAutoFit/>
          </a:bodyPr>
          <a:lstStyle/>
          <a:p>
            <a:pPr algn="l"/>
            <a:r>
              <a:rPr sz="1600" b="0" i="0">
                <a:solidFill>
                  <a:srgbClr val="1E2A3B"/>
                </a:solidFill>
                <a:latin typeface="Calibri"/>
              </a:rPr>
              <a:t>The sender may hand over a beat. The beat is captured in the flip-flops.</a:t>
            </a:r>
          </a:p>
        </p:txBody>
      </p:sp>
      <p:sp>
        <p:nvSpPr>
          <p:cNvPr id="7" name="Rounded Rectangle 6"/>
          <p:cNvSpPr/>
          <p:nvPr/>
        </p:nvSpPr>
        <p:spPr>
          <a:xfrm>
            <a:off x="4334256" y="1463040"/>
            <a:ext cx="3493008" cy="2743200"/>
          </a:xfrm>
          <a:prstGeom prst="roundRect">
            <a:avLst>
              <a:gd name="adj" fmla="val 6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608576" y="1645920"/>
            <a:ext cx="3017520" cy="457200"/>
          </a:xfrm>
          <a:prstGeom prst="rect">
            <a:avLst/>
          </a:prstGeom>
          <a:noFill/>
        </p:spPr>
        <p:txBody>
          <a:bodyPr wrap="square" lIns="0" rIns="0" tIns="0" bIns="0" anchor="t">
            <a:spAutoFit/>
          </a:bodyPr>
          <a:lstStyle/>
          <a:p>
            <a:pPr algn="l"/>
            <a:r>
              <a:rPr sz="2400" b="1" i="0">
                <a:solidFill>
                  <a:srgbClr val="1E2A3B"/>
                </a:solidFill>
                <a:latin typeface="Cambria"/>
              </a:rPr>
              <a:t>Full</a:t>
            </a:r>
          </a:p>
        </p:txBody>
      </p:sp>
      <p:sp>
        <p:nvSpPr>
          <p:cNvPr id="9" name="TextBox 8"/>
          <p:cNvSpPr txBox="1"/>
          <p:nvPr/>
        </p:nvSpPr>
        <p:spPr>
          <a:xfrm>
            <a:off x="4608576" y="2240280"/>
            <a:ext cx="3017520" cy="365760"/>
          </a:xfrm>
          <a:prstGeom prst="rect">
            <a:avLst/>
          </a:prstGeom>
          <a:noFill/>
        </p:spPr>
        <p:txBody>
          <a:bodyPr wrap="square" lIns="0" rIns="0" tIns="0" bIns="0" anchor="t">
            <a:spAutoFit/>
          </a:bodyPr>
          <a:lstStyle/>
          <a:p>
            <a:pPr algn="l"/>
            <a:r>
              <a:rPr sz="1800" b="1" i="0">
                <a:solidFill>
                  <a:srgbClr val="1E2A3B"/>
                </a:solidFill>
                <a:latin typeface="Consolas"/>
              </a:rPr>
              <a:t>in_ready = 0</a:t>
            </a:r>
          </a:p>
        </p:txBody>
      </p:sp>
      <p:sp>
        <p:nvSpPr>
          <p:cNvPr id="10" name="TextBox 9"/>
          <p:cNvSpPr txBox="1"/>
          <p:nvPr/>
        </p:nvSpPr>
        <p:spPr>
          <a:xfrm>
            <a:off x="4608576" y="2788920"/>
            <a:ext cx="3017520" cy="1371600"/>
          </a:xfrm>
          <a:prstGeom prst="rect">
            <a:avLst/>
          </a:prstGeom>
          <a:noFill/>
        </p:spPr>
        <p:txBody>
          <a:bodyPr wrap="square" lIns="0" rIns="0" tIns="0" bIns="0" anchor="t">
            <a:spAutoFit/>
          </a:bodyPr>
          <a:lstStyle/>
          <a:p>
            <a:pPr algn="l"/>
            <a:r>
              <a:rPr sz="1600" b="0" i="0">
                <a:solidFill>
                  <a:srgbClr val="1E2A3B"/>
                </a:solidFill>
                <a:latin typeface="Calibri"/>
              </a:rPr>
              <a:t>The beat is offered on out_valid until the next side takes it. The sender waits.</a:t>
            </a:r>
          </a:p>
        </p:txBody>
      </p:sp>
      <p:sp>
        <p:nvSpPr>
          <p:cNvPr id="11" name="Rounded Rectangle 10"/>
          <p:cNvSpPr/>
          <p:nvPr/>
        </p:nvSpPr>
        <p:spPr>
          <a:xfrm>
            <a:off x="8028431" y="1463040"/>
            <a:ext cx="3493008" cy="274320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02752" y="1645920"/>
            <a:ext cx="3017520" cy="457200"/>
          </a:xfrm>
          <a:prstGeom prst="rect">
            <a:avLst/>
          </a:prstGeom>
          <a:noFill/>
        </p:spPr>
        <p:txBody>
          <a:bodyPr wrap="square" lIns="0" rIns="0" tIns="0" bIns="0" anchor="t">
            <a:spAutoFit/>
          </a:bodyPr>
          <a:lstStyle/>
          <a:p>
            <a:pPr algn="l"/>
            <a:r>
              <a:rPr sz="2400" b="1" i="0">
                <a:solidFill>
                  <a:srgbClr val="1E2A3B"/>
                </a:solidFill>
                <a:latin typeface="Cambria"/>
              </a:rPr>
              <a:t>Taken</a:t>
            </a:r>
          </a:p>
        </p:txBody>
      </p:sp>
      <p:sp>
        <p:nvSpPr>
          <p:cNvPr id="13" name="TextBox 12"/>
          <p:cNvSpPr txBox="1"/>
          <p:nvPr/>
        </p:nvSpPr>
        <p:spPr>
          <a:xfrm>
            <a:off x="8302752" y="2240280"/>
            <a:ext cx="3017520" cy="365760"/>
          </a:xfrm>
          <a:prstGeom prst="rect">
            <a:avLst/>
          </a:prstGeom>
          <a:noFill/>
        </p:spPr>
        <p:txBody>
          <a:bodyPr wrap="square" lIns="0" rIns="0" tIns="0" bIns="0" anchor="t">
            <a:spAutoFit/>
          </a:bodyPr>
          <a:lstStyle/>
          <a:p>
            <a:pPr algn="l"/>
            <a:r>
              <a:rPr sz="1800" b="1" i="0">
                <a:solidFill>
                  <a:srgbClr val="1E2A3B"/>
                </a:solidFill>
                <a:latin typeface="Consolas"/>
              </a:rPr>
              <a:t>out_ready = 1</a:t>
            </a:r>
          </a:p>
        </p:txBody>
      </p:sp>
      <p:sp>
        <p:nvSpPr>
          <p:cNvPr id="14" name="TextBox 13"/>
          <p:cNvSpPr txBox="1"/>
          <p:nvPr/>
        </p:nvSpPr>
        <p:spPr>
          <a:xfrm>
            <a:off x="8302752" y="2788920"/>
            <a:ext cx="3017520" cy="1371600"/>
          </a:xfrm>
          <a:prstGeom prst="rect">
            <a:avLst/>
          </a:prstGeom>
          <a:noFill/>
        </p:spPr>
        <p:txBody>
          <a:bodyPr wrap="square" lIns="0" rIns="0" tIns="0" bIns="0" anchor="t">
            <a:spAutoFit/>
          </a:bodyPr>
          <a:lstStyle/>
          <a:p>
            <a:pPr algn="l"/>
            <a:r>
              <a:rPr sz="1600" b="0" i="0">
                <a:solidFill>
                  <a:srgbClr val="1E2A3B"/>
                </a:solidFill>
                <a:latin typeface="Calibri"/>
              </a:rPr>
              <a:t>The next side has taken the beat. The stage is empty again.</a:t>
            </a:r>
          </a:p>
        </p:txBody>
      </p:sp>
      <p:sp>
        <p:nvSpPr>
          <p:cNvPr id="15" name="Rounded Rectangle 14"/>
          <p:cNvSpPr/>
          <p:nvPr/>
        </p:nvSpPr>
        <p:spPr>
          <a:xfrm>
            <a:off x="640080" y="4434840"/>
            <a:ext cx="5349240" cy="1645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4572000"/>
            <a:ext cx="4846320" cy="365760"/>
          </a:xfrm>
          <a:prstGeom prst="rect">
            <a:avLst/>
          </a:prstGeom>
          <a:noFill/>
        </p:spPr>
        <p:txBody>
          <a:bodyPr wrap="square" lIns="0" rIns="0" tIns="0" bIns="0" anchor="t">
            <a:spAutoFit/>
          </a:bodyPr>
          <a:lstStyle/>
          <a:p>
            <a:pPr algn="l"/>
            <a:r>
              <a:rPr sz="1800" b="1" i="0">
                <a:solidFill>
                  <a:srgbClr val="1E2A3B"/>
                </a:solidFill>
                <a:latin typeface="Cambria"/>
              </a:rPr>
              <a:t>Why not a bare flip-flop?</a:t>
            </a:r>
          </a:p>
        </p:txBody>
      </p:sp>
      <p:sp>
        <p:nvSpPr>
          <p:cNvPr id="17" name="TextBox 16"/>
          <p:cNvSpPr txBox="1"/>
          <p:nvPr/>
        </p:nvSpPr>
        <p:spPr>
          <a:xfrm>
            <a:off x="914400" y="5029200"/>
            <a:ext cx="4846320" cy="1005840"/>
          </a:xfrm>
          <a:prstGeom prst="rect">
            <a:avLst/>
          </a:prstGeom>
          <a:noFill/>
        </p:spPr>
        <p:txBody>
          <a:bodyPr wrap="square" lIns="0" rIns="0" tIns="0" bIns="0" anchor="t">
            <a:spAutoFit/>
          </a:bodyPr>
          <a:lstStyle/>
          <a:p>
            <a:pPr algn="l"/>
            <a:r>
              <a:rPr sz="1500" b="0" i="0">
                <a:solidFill>
                  <a:srgbClr val="1E2A3B"/>
                </a:solidFill>
                <a:latin typeface="Calibri"/>
              </a:rPr>
              <a:t>READY would arrive a cycle late, and the sender could send the same beat twice. Here in_ready comes straight from a flip-flop, so that cannot happen.</a:t>
            </a:r>
          </a:p>
        </p:txBody>
      </p:sp>
      <p:sp>
        <p:nvSpPr>
          <p:cNvPr id="18" name="Rounded Rectangle 17"/>
          <p:cNvSpPr/>
          <p:nvPr/>
        </p:nvSpPr>
        <p:spPr>
          <a:xfrm>
            <a:off x="6172200" y="4434840"/>
            <a:ext cx="5349240" cy="1645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46520" y="4572000"/>
            <a:ext cx="4846320" cy="365760"/>
          </a:xfrm>
          <a:prstGeom prst="rect">
            <a:avLst/>
          </a:prstGeom>
          <a:noFill/>
        </p:spPr>
        <p:txBody>
          <a:bodyPr wrap="square" lIns="0" rIns="0" tIns="0" bIns="0" anchor="t">
            <a:spAutoFit/>
          </a:bodyPr>
          <a:lstStyle/>
          <a:p>
            <a:pPr algn="l"/>
            <a:r>
              <a:rPr sz="1800" b="1" i="0">
                <a:solidFill>
                  <a:srgbClr val="1E2A3B"/>
                </a:solidFill>
                <a:latin typeface="Cambria"/>
              </a:rPr>
              <a:t>What it costs</a:t>
            </a:r>
          </a:p>
        </p:txBody>
      </p:sp>
      <p:sp>
        <p:nvSpPr>
          <p:cNvPr id="20" name="TextBox 19"/>
          <p:cNvSpPr txBox="1"/>
          <p:nvPr/>
        </p:nvSpPr>
        <p:spPr>
          <a:xfrm>
            <a:off x="6446520" y="5029200"/>
            <a:ext cx="4846320" cy="1005840"/>
          </a:xfrm>
          <a:prstGeom prst="rect">
            <a:avLst/>
          </a:prstGeom>
          <a:noFill/>
        </p:spPr>
        <p:txBody>
          <a:bodyPr wrap="square" lIns="0" rIns="0" tIns="0" bIns="0" anchor="t">
            <a:spAutoFit/>
          </a:bodyPr>
          <a:lstStyle/>
          <a:p>
            <a:pPr algn="l"/>
            <a:r>
              <a:rPr sz="1500" b="0" i="0">
                <a:solidFill>
                  <a:srgbClr val="1E2A3B"/>
                </a:solidFill>
                <a:latin typeface="Calibri"/>
              </a:rPr>
              <a:t>A beat sits in a stage for a clock, so one beat moves every two clocks. Correct and simple, but half rate.</a:t>
            </a:r>
          </a:p>
        </p:txBody>
      </p:sp>
      <p:sp>
        <p:nvSpPr>
          <p:cNvPr id="21"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a master, D flip-flop stages and a memory, in Verilog</a:t>
            </a:r>
          </a:p>
        </p:txBody>
      </p:sp>
      <p:sp>
        <p:nvSpPr>
          <p:cNvPr id="22"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The slave</a:t>
            </a:r>
          </a:p>
        </p:txBody>
      </p:sp>
      <p:sp>
        <p:nvSpPr>
          <p:cNvPr id="3" name="Rounded Rectangle 2"/>
          <p:cNvSpPr/>
          <p:nvPr/>
        </p:nvSpPr>
        <p:spPr>
          <a:xfrm>
            <a:off x="640080" y="1463040"/>
            <a:ext cx="3503066" cy="4480560"/>
          </a:xfrm>
          <a:prstGeom prst="roundRect">
            <a:avLst>
              <a:gd name="adj" fmla="val 6000"/>
            </a:avLst>
          </a:prstGeom>
          <a:solidFill>
            <a:srgbClr val="E6D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96112" y="1691640"/>
            <a:ext cx="2991002" cy="457200"/>
          </a:xfrm>
          <a:prstGeom prst="rect">
            <a:avLst/>
          </a:prstGeom>
          <a:noFill/>
        </p:spPr>
        <p:txBody>
          <a:bodyPr wrap="square" lIns="0" rIns="0" tIns="0" bIns="0" anchor="t">
            <a:spAutoFit/>
          </a:bodyPr>
          <a:lstStyle/>
          <a:p>
            <a:pPr algn="l"/>
            <a:r>
              <a:rPr sz="2200" b="1" i="0">
                <a:solidFill>
                  <a:srgbClr val="1E2A3B"/>
                </a:solidFill>
                <a:latin typeface="Cambria"/>
              </a:rPr>
              <a:t>Write engine</a:t>
            </a:r>
          </a:p>
        </p:txBody>
      </p:sp>
      <p:sp>
        <p:nvSpPr>
          <p:cNvPr id="5" name="TextBox 4"/>
          <p:cNvSpPr txBox="1"/>
          <p:nvPr/>
        </p:nvSpPr>
        <p:spPr>
          <a:xfrm>
            <a:off x="896112" y="2240280"/>
            <a:ext cx="2991002" cy="320040"/>
          </a:xfrm>
          <a:prstGeom prst="rect">
            <a:avLst/>
          </a:prstGeom>
          <a:noFill/>
        </p:spPr>
        <p:txBody>
          <a:bodyPr wrap="square" lIns="0" rIns="0" tIns="0" bIns="0" anchor="t">
            <a:spAutoFit/>
          </a:bodyPr>
          <a:lstStyle/>
          <a:p>
            <a:pPr algn="l"/>
            <a:r>
              <a:rPr sz="1300" b="0" i="0">
                <a:solidFill>
                  <a:srgbClr val="4F5F74"/>
                </a:solidFill>
                <a:latin typeface="Consolas"/>
              </a:rPr>
              <a:t>IDLE, DATA, RESP</a:t>
            </a:r>
          </a:p>
        </p:txBody>
      </p:sp>
      <p:sp>
        <p:nvSpPr>
          <p:cNvPr id="6" name="TextBox 5"/>
          <p:cNvSpPr txBox="1"/>
          <p:nvPr/>
        </p:nvSpPr>
        <p:spPr>
          <a:xfrm>
            <a:off x="896112" y="2697480"/>
            <a:ext cx="2991002" cy="3063240"/>
          </a:xfrm>
          <a:prstGeom prst="rect">
            <a:avLst/>
          </a:prstGeom>
          <a:noFill/>
        </p:spPr>
        <p:txBody>
          <a:bodyPr wrap="square" lIns="0" rIns="0" tIns="0" bIns="0" anchor="t">
            <a:spAutoFit/>
          </a:bodyPr>
          <a:lstStyle/>
          <a:p>
            <a:pPr algn="l"/>
            <a:r>
              <a:rPr sz="1700" b="0" i="0">
                <a:solidFill>
                  <a:srgbClr val="1E2A3B"/>
                </a:solidFill>
                <a:latin typeface="Calibri"/>
              </a:rPr>
              <a:t>Takes the address. Then takes beats until WLAST, writing each word and adding 4 to the address. WSTRB picks the bytes. Then sends one response.</a:t>
            </a:r>
          </a:p>
        </p:txBody>
      </p:sp>
      <p:sp>
        <p:nvSpPr>
          <p:cNvPr id="7" name="Rounded Rectangle 6"/>
          <p:cNvSpPr/>
          <p:nvPr/>
        </p:nvSpPr>
        <p:spPr>
          <a:xfrm>
            <a:off x="4344314" y="1463040"/>
            <a:ext cx="3503066" cy="448056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600346" y="1691640"/>
            <a:ext cx="2991002" cy="457200"/>
          </a:xfrm>
          <a:prstGeom prst="rect">
            <a:avLst/>
          </a:prstGeom>
          <a:noFill/>
        </p:spPr>
        <p:txBody>
          <a:bodyPr wrap="square" lIns="0" rIns="0" tIns="0" bIns="0" anchor="t">
            <a:spAutoFit/>
          </a:bodyPr>
          <a:lstStyle/>
          <a:p>
            <a:pPr algn="l"/>
            <a:r>
              <a:rPr sz="2200" b="1" i="0">
                <a:solidFill>
                  <a:srgbClr val="1E2A3B"/>
                </a:solidFill>
                <a:latin typeface="Cambria"/>
              </a:rPr>
              <a:t>Read engine</a:t>
            </a:r>
          </a:p>
        </p:txBody>
      </p:sp>
      <p:sp>
        <p:nvSpPr>
          <p:cNvPr id="9" name="TextBox 8"/>
          <p:cNvSpPr txBox="1"/>
          <p:nvPr/>
        </p:nvSpPr>
        <p:spPr>
          <a:xfrm>
            <a:off x="4600346" y="2240280"/>
            <a:ext cx="2991002" cy="320040"/>
          </a:xfrm>
          <a:prstGeom prst="rect">
            <a:avLst/>
          </a:prstGeom>
          <a:noFill/>
        </p:spPr>
        <p:txBody>
          <a:bodyPr wrap="square" lIns="0" rIns="0" tIns="0" bIns="0" anchor="t">
            <a:spAutoFit/>
          </a:bodyPr>
          <a:lstStyle/>
          <a:p>
            <a:pPr algn="l"/>
            <a:r>
              <a:rPr sz="1300" b="0" i="0">
                <a:solidFill>
                  <a:srgbClr val="4F5F74"/>
                </a:solidFill>
                <a:latin typeface="Consolas"/>
              </a:rPr>
              <a:t>IDLE, DATA</a:t>
            </a:r>
          </a:p>
        </p:txBody>
      </p:sp>
      <p:sp>
        <p:nvSpPr>
          <p:cNvPr id="10" name="TextBox 9"/>
          <p:cNvSpPr txBox="1"/>
          <p:nvPr/>
        </p:nvSpPr>
        <p:spPr>
          <a:xfrm>
            <a:off x="4600346" y="2697480"/>
            <a:ext cx="2991002" cy="3063240"/>
          </a:xfrm>
          <a:prstGeom prst="rect">
            <a:avLst/>
          </a:prstGeom>
          <a:noFill/>
        </p:spPr>
        <p:txBody>
          <a:bodyPr wrap="square" lIns="0" rIns="0" tIns="0" bIns="0" anchor="t">
            <a:spAutoFit/>
          </a:bodyPr>
          <a:lstStyle/>
          <a:p>
            <a:pPr algn="l"/>
            <a:r>
              <a:rPr sz="1700" b="0" i="0">
                <a:solidFill>
                  <a:srgbClr val="1E2A3B"/>
                </a:solidFill>
                <a:latin typeface="Calibri"/>
              </a:rPr>
              <a:t>Takes the address. Sends ARLEN + 1 beats, adding 4 each time, and marks the last with RLAST.</a:t>
            </a:r>
          </a:p>
        </p:txBody>
      </p:sp>
      <p:sp>
        <p:nvSpPr>
          <p:cNvPr id="11" name="Rounded Rectangle 10"/>
          <p:cNvSpPr/>
          <p:nvPr/>
        </p:nvSpPr>
        <p:spPr>
          <a:xfrm>
            <a:off x="8048548" y="1463040"/>
            <a:ext cx="3503066" cy="4480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04580" y="1691640"/>
            <a:ext cx="2991002" cy="457200"/>
          </a:xfrm>
          <a:prstGeom prst="rect">
            <a:avLst/>
          </a:prstGeom>
          <a:noFill/>
        </p:spPr>
        <p:txBody>
          <a:bodyPr wrap="square" lIns="0" rIns="0" tIns="0" bIns="0" anchor="t">
            <a:spAutoFit/>
          </a:bodyPr>
          <a:lstStyle/>
          <a:p>
            <a:pPr algn="l"/>
            <a:r>
              <a:rPr sz="2200" b="1" i="0">
                <a:solidFill>
                  <a:srgbClr val="1E2A3B"/>
                </a:solidFill>
                <a:latin typeface="Cambria"/>
              </a:rPr>
              <a:t>Responses</a:t>
            </a:r>
          </a:p>
        </p:txBody>
      </p:sp>
      <p:sp>
        <p:nvSpPr>
          <p:cNvPr id="13" name="TextBox 12"/>
          <p:cNvSpPr txBox="1"/>
          <p:nvPr/>
        </p:nvSpPr>
        <p:spPr>
          <a:xfrm>
            <a:off x="8304580" y="2240280"/>
            <a:ext cx="2991002" cy="3520440"/>
          </a:xfrm>
          <a:prstGeom prst="rect">
            <a:avLst/>
          </a:prstGeom>
          <a:noFill/>
        </p:spPr>
        <p:txBody>
          <a:bodyPr wrap="square" lIns="0" rIns="0" tIns="0" bIns="0" anchor="t">
            <a:spAutoFit/>
          </a:bodyPr>
          <a:lstStyle/>
          <a:p>
            <a:pPr algn="l"/>
            <a:r>
              <a:rPr sz="1700" b="0" i="0">
                <a:solidFill>
                  <a:srgbClr val="1E2A3B"/>
                </a:solidFill>
                <a:latin typeface="Calibri"/>
              </a:rPr>
              <a:t>BRESP and RRESP are always 00, OKAY. There is no request checking. An address beyond the 4 KiB wraps inside the memory.</a:t>
            </a:r>
          </a:p>
        </p:txBody>
      </p:sp>
      <p:sp>
        <p:nvSpPr>
          <p:cNvPr id="14"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a master, D flip-flop stages and a memory, in Verilog</a:t>
            </a:r>
          </a:p>
        </p:txBody>
      </p:sp>
      <p:sp>
        <p:nvSpPr>
          <p:cNvPr id="15"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One sequence, end to end</a:t>
            </a:r>
          </a:p>
        </p:txBody>
      </p:sp>
      <p:sp>
        <p:nvSpPr>
          <p:cNvPr id="3" name="TextBox 2"/>
          <p:cNvSpPr txBox="1"/>
          <p:nvPr/>
        </p:nvSpPr>
        <p:spPr>
          <a:xfrm>
            <a:off x="640080" y="1280160"/>
            <a:ext cx="10881360" cy="457200"/>
          </a:xfrm>
          <a:prstGeom prst="rect">
            <a:avLst/>
          </a:prstGeom>
          <a:noFill/>
        </p:spPr>
        <p:txBody>
          <a:bodyPr wrap="square" lIns="0" rIns="0" tIns="0" bIns="0" anchor="t">
            <a:spAutoFit/>
          </a:bodyPr>
          <a:lstStyle/>
          <a:p>
            <a:pPr algn="l"/>
            <a:r>
              <a:rPr sz="2000" b="0" i="0">
                <a:solidFill>
                  <a:srgbClr val="4F5F74"/>
                </a:solidFill>
                <a:latin typeface="Calibri"/>
              </a:rPr>
              <a:t>The master writes four words to 0x10, then reads them back.</a:t>
            </a:r>
          </a:p>
        </p:txBody>
      </p:sp>
      <p:sp>
        <p:nvSpPr>
          <p:cNvPr id="4" name="Rounded Rectangle 3"/>
          <p:cNvSpPr/>
          <p:nvPr/>
        </p:nvSpPr>
        <p:spPr>
          <a:xfrm>
            <a:off x="640080" y="2057400"/>
            <a:ext cx="1993392" cy="33832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59" y="2240280"/>
            <a:ext cx="1627632" cy="822960"/>
          </a:xfrm>
          <a:prstGeom prst="rect">
            <a:avLst/>
          </a:prstGeom>
          <a:noFill/>
        </p:spPr>
        <p:txBody>
          <a:bodyPr wrap="square" lIns="0" rIns="0" tIns="0" bIns="0" anchor="t">
            <a:spAutoFit/>
          </a:bodyPr>
          <a:lstStyle/>
          <a:p>
            <a:pPr algn="l"/>
            <a:r>
              <a:rPr sz="2000" b="1" i="0">
                <a:solidFill>
                  <a:srgbClr val="1E2A3B"/>
                </a:solidFill>
                <a:latin typeface="Cambria"/>
              </a:rPr>
              <a:t>1  Write address</a:t>
            </a:r>
          </a:p>
        </p:txBody>
      </p:sp>
      <p:sp>
        <p:nvSpPr>
          <p:cNvPr id="6" name="TextBox 5"/>
          <p:cNvSpPr txBox="1"/>
          <p:nvPr/>
        </p:nvSpPr>
        <p:spPr>
          <a:xfrm>
            <a:off x="822959" y="3154680"/>
            <a:ext cx="1627632" cy="2194560"/>
          </a:xfrm>
          <a:prstGeom prst="rect">
            <a:avLst/>
          </a:prstGeom>
          <a:noFill/>
        </p:spPr>
        <p:txBody>
          <a:bodyPr wrap="square" lIns="0" rIns="0" tIns="0" bIns="0" anchor="t">
            <a:spAutoFit/>
          </a:bodyPr>
          <a:lstStyle/>
          <a:p>
            <a:pPr algn="l"/>
            <a:r>
              <a:rPr sz="1600" b="0" i="0">
                <a:solidFill>
                  <a:srgbClr val="1E2A3B"/>
                </a:solidFill>
                <a:latin typeface="Calibri"/>
              </a:rPr>
              <a:t>AW taken at cycle 1. It reaches the slave at cycle 3.</a:t>
            </a:r>
          </a:p>
        </p:txBody>
      </p:sp>
      <p:cxnSp>
        <p:nvCxnSpPr>
          <p:cNvPr id="7" name="Connector 6"/>
          <p:cNvCxnSpPr/>
          <p:nvPr/>
        </p:nvCxnSpPr>
        <p:spPr>
          <a:xfrm>
            <a:off x="2651760" y="3749039"/>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62072" y="2057400"/>
            <a:ext cx="1993392" cy="33832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044952" y="2240280"/>
            <a:ext cx="1627632" cy="822960"/>
          </a:xfrm>
          <a:prstGeom prst="rect">
            <a:avLst/>
          </a:prstGeom>
          <a:noFill/>
        </p:spPr>
        <p:txBody>
          <a:bodyPr wrap="square" lIns="0" rIns="0" tIns="0" bIns="0" anchor="t">
            <a:spAutoFit/>
          </a:bodyPr>
          <a:lstStyle/>
          <a:p>
            <a:pPr algn="l"/>
            <a:r>
              <a:rPr sz="2000" b="1" i="0">
                <a:solidFill>
                  <a:srgbClr val="1E2A3B"/>
                </a:solidFill>
                <a:latin typeface="Cambria"/>
              </a:rPr>
              <a:t>2  Write data</a:t>
            </a:r>
          </a:p>
        </p:txBody>
      </p:sp>
      <p:sp>
        <p:nvSpPr>
          <p:cNvPr id="10" name="TextBox 9"/>
          <p:cNvSpPr txBox="1"/>
          <p:nvPr/>
        </p:nvSpPr>
        <p:spPr>
          <a:xfrm>
            <a:off x="3044952" y="3154680"/>
            <a:ext cx="1627632" cy="2194560"/>
          </a:xfrm>
          <a:prstGeom prst="rect">
            <a:avLst/>
          </a:prstGeom>
          <a:noFill/>
        </p:spPr>
        <p:txBody>
          <a:bodyPr wrap="square" lIns="0" rIns="0" tIns="0" bIns="0" anchor="t">
            <a:spAutoFit/>
          </a:bodyPr>
          <a:lstStyle/>
          <a:p>
            <a:pPr algn="l"/>
            <a:r>
              <a:rPr sz="1600" b="0" i="0">
                <a:solidFill>
                  <a:srgbClr val="1E2A3B"/>
                </a:solidFill>
                <a:latin typeface="Calibri"/>
              </a:rPr>
              <a:t>Four beats taken at cycles 2, 4, 6, 8. WLAST on the fourth.</a:t>
            </a:r>
          </a:p>
        </p:txBody>
      </p:sp>
      <p:cxnSp>
        <p:nvCxnSpPr>
          <p:cNvPr id="11" name="Connector 10"/>
          <p:cNvCxnSpPr/>
          <p:nvPr/>
        </p:nvCxnSpPr>
        <p:spPr>
          <a:xfrm>
            <a:off x="4873752" y="3749039"/>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84064" y="2057400"/>
            <a:ext cx="1993392" cy="3383280"/>
          </a:xfrm>
          <a:prstGeom prst="roundRect">
            <a:avLst>
              <a:gd name="adj" fmla="val 6000"/>
            </a:avLst>
          </a:prstGeom>
          <a:solidFill>
            <a:srgbClr val="E6D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266944" y="2240280"/>
            <a:ext cx="1627632" cy="822960"/>
          </a:xfrm>
          <a:prstGeom prst="rect">
            <a:avLst/>
          </a:prstGeom>
          <a:noFill/>
        </p:spPr>
        <p:txBody>
          <a:bodyPr wrap="square" lIns="0" rIns="0" tIns="0" bIns="0" anchor="t">
            <a:spAutoFit/>
          </a:bodyPr>
          <a:lstStyle/>
          <a:p>
            <a:pPr algn="l"/>
            <a:r>
              <a:rPr sz="2000" b="1" i="0">
                <a:solidFill>
                  <a:srgbClr val="1E2A3B"/>
                </a:solidFill>
                <a:latin typeface="Cambria"/>
              </a:rPr>
              <a:t>3  Response</a:t>
            </a:r>
          </a:p>
        </p:txBody>
      </p:sp>
      <p:sp>
        <p:nvSpPr>
          <p:cNvPr id="14" name="TextBox 13"/>
          <p:cNvSpPr txBox="1"/>
          <p:nvPr/>
        </p:nvSpPr>
        <p:spPr>
          <a:xfrm>
            <a:off x="5266944" y="3154680"/>
            <a:ext cx="1627632" cy="2194560"/>
          </a:xfrm>
          <a:prstGeom prst="rect">
            <a:avLst/>
          </a:prstGeom>
          <a:noFill/>
        </p:spPr>
        <p:txBody>
          <a:bodyPr wrap="square" lIns="0" rIns="0" tIns="0" bIns="0" anchor="t">
            <a:spAutoFit/>
          </a:bodyPr>
          <a:lstStyle/>
          <a:p>
            <a:pPr algn="l"/>
            <a:r>
              <a:rPr sz="1600" b="0" i="0">
                <a:solidFill>
                  <a:srgbClr val="1E2A3B"/>
                </a:solidFill>
                <a:latin typeface="Calibri"/>
              </a:rPr>
              <a:t>B comes back through two stages and is taken at cycle 13.</a:t>
            </a:r>
          </a:p>
        </p:txBody>
      </p:sp>
      <p:cxnSp>
        <p:nvCxnSpPr>
          <p:cNvPr id="15" name="Connector 14"/>
          <p:cNvCxnSpPr/>
          <p:nvPr/>
        </p:nvCxnSpPr>
        <p:spPr>
          <a:xfrm>
            <a:off x="7095744" y="3749039"/>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06056" y="2057400"/>
            <a:ext cx="1993392" cy="338328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88936" y="2240280"/>
            <a:ext cx="1627632" cy="822960"/>
          </a:xfrm>
          <a:prstGeom prst="rect">
            <a:avLst/>
          </a:prstGeom>
          <a:noFill/>
        </p:spPr>
        <p:txBody>
          <a:bodyPr wrap="square" lIns="0" rIns="0" tIns="0" bIns="0" anchor="t">
            <a:spAutoFit/>
          </a:bodyPr>
          <a:lstStyle/>
          <a:p>
            <a:pPr algn="l"/>
            <a:r>
              <a:rPr sz="2000" b="1" i="0">
                <a:solidFill>
                  <a:srgbClr val="1E2A3B"/>
                </a:solidFill>
                <a:latin typeface="Cambria"/>
              </a:rPr>
              <a:t>4  Read</a:t>
            </a:r>
          </a:p>
        </p:txBody>
      </p:sp>
      <p:sp>
        <p:nvSpPr>
          <p:cNvPr id="18" name="TextBox 17"/>
          <p:cNvSpPr txBox="1"/>
          <p:nvPr/>
        </p:nvSpPr>
        <p:spPr>
          <a:xfrm>
            <a:off x="7488936" y="3154680"/>
            <a:ext cx="1627632" cy="2194560"/>
          </a:xfrm>
          <a:prstGeom prst="rect">
            <a:avLst/>
          </a:prstGeom>
          <a:noFill/>
        </p:spPr>
        <p:txBody>
          <a:bodyPr wrap="square" lIns="0" rIns="0" tIns="0" bIns="0" anchor="t">
            <a:spAutoFit/>
          </a:bodyPr>
          <a:lstStyle/>
          <a:p>
            <a:pPr algn="l"/>
            <a:r>
              <a:rPr sz="1600" b="0" i="0">
                <a:solidFill>
                  <a:srgbClr val="1E2A3B"/>
                </a:solidFill>
                <a:latin typeface="Calibri"/>
              </a:rPr>
              <a:t>AR, then four beats every two clocks. RLAST on the fourth.</a:t>
            </a:r>
          </a:p>
        </p:txBody>
      </p:sp>
      <p:cxnSp>
        <p:nvCxnSpPr>
          <p:cNvPr id="19" name="Connector 18"/>
          <p:cNvCxnSpPr/>
          <p:nvPr/>
        </p:nvCxnSpPr>
        <p:spPr>
          <a:xfrm>
            <a:off x="9317736" y="3749039"/>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528048" y="2057400"/>
            <a:ext cx="1993392" cy="3383280"/>
          </a:xfrm>
          <a:prstGeom prst="roundRect">
            <a:avLst>
              <a:gd name="adj" fmla="val 6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710928" y="2240280"/>
            <a:ext cx="1627632" cy="822960"/>
          </a:xfrm>
          <a:prstGeom prst="rect">
            <a:avLst/>
          </a:prstGeom>
          <a:noFill/>
        </p:spPr>
        <p:txBody>
          <a:bodyPr wrap="square" lIns="0" rIns="0" tIns="0" bIns="0" anchor="t">
            <a:spAutoFit/>
          </a:bodyPr>
          <a:lstStyle/>
          <a:p>
            <a:pPr algn="l"/>
            <a:r>
              <a:rPr sz="2000" b="1" i="0">
                <a:solidFill>
                  <a:srgbClr val="1E2A3B"/>
                </a:solidFill>
                <a:latin typeface="Cambria"/>
              </a:rPr>
              <a:t>5  Done</a:t>
            </a:r>
          </a:p>
        </p:txBody>
      </p:sp>
      <p:sp>
        <p:nvSpPr>
          <p:cNvPr id="22" name="TextBox 21"/>
          <p:cNvSpPr txBox="1"/>
          <p:nvPr/>
        </p:nvSpPr>
        <p:spPr>
          <a:xfrm>
            <a:off x="9710928" y="3154680"/>
            <a:ext cx="1627632" cy="2194560"/>
          </a:xfrm>
          <a:prstGeom prst="rect">
            <a:avLst/>
          </a:prstGeom>
          <a:noFill/>
        </p:spPr>
        <p:txBody>
          <a:bodyPr wrap="square" lIns="0" rIns="0" tIns="0" bIns="0" anchor="t">
            <a:spAutoFit/>
          </a:bodyPr>
          <a:lstStyle/>
          <a:p>
            <a:pPr algn="l"/>
            <a:r>
              <a:rPr sz="1600" b="0" i="0">
                <a:solidFill>
                  <a:srgbClr val="1E2A3B"/>
                </a:solidFill>
                <a:latin typeface="Calibri"/>
              </a:rPr>
              <a:t>done = 1, pass = 1. The whole sequence took 27 cycles.</a:t>
            </a:r>
          </a:p>
        </p:txBody>
      </p:sp>
      <p:sp>
        <p:nvSpPr>
          <p:cNvPr id="23" name="TextBox 22"/>
          <p:cNvSpPr txBox="1"/>
          <p:nvPr/>
        </p:nvSpPr>
        <p:spPr>
          <a:xfrm>
            <a:off x="640080" y="5760720"/>
            <a:ext cx="10881360" cy="457200"/>
          </a:xfrm>
          <a:prstGeom prst="rect">
            <a:avLst/>
          </a:prstGeom>
          <a:noFill/>
        </p:spPr>
        <p:txBody>
          <a:bodyPr wrap="square" lIns="0" rIns="0" tIns="0" bIns="0" anchor="t">
            <a:spAutoFit/>
          </a:bodyPr>
          <a:lstStyle/>
          <a:p>
            <a:pPr algn="l"/>
            <a:r>
              <a:rPr sz="1600" b="0" i="1">
                <a:solidFill>
                  <a:srgbClr val="4F5F74"/>
                </a:solidFill>
                <a:latin typeface="Calibri"/>
              </a:rPr>
              <a:t>The next two slides show the write and the read as waveforms.</a:t>
            </a:r>
          </a:p>
        </p:txBody>
      </p:sp>
      <p:sp>
        <p:nvSpPr>
          <p:cNvPr id="24"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a master, D flip-flop stages and a memory, in Verilog</a:t>
            </a:r>
          </a:p>
        </p:txBody>
      </p:sp>
      <p:sp>
        <p:nvSpPr>
          <p:cNvPr id="25"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Write: four words, recorded from the simulation</a:t>
            </a:r>
          </a:p>
        </p:txBody>
      </p:sp>
      <p:pic>
        <p:nvPicPr>
          <p:cNvPr id="3" name="Picture 2" descr="Waveform of the master writing four words through the flip-flop stages."/>
          <p:cNvPicPr>
            <a:picLocks noChangeAspect="1"/>
          </p:cNvPicPr>
          <p:nvPr/>
        </p:nvPicPr>
        <p:blipFill>
          <a:blip r:embed="rId3"/>
          <a:stretch>
            <a:fillRect/>
          </a:stretch>
        </p:blipFill>
        <p:spPr>
          <a:xfrm>
            <a:off x="640080" y="1325880"/>
            <a:ext cx="10881360" cy="3881392"/>
          </a:xfrm>
          <a:prstGeom prst="rect">
            <a:avLst/>
          </a:prstGeom>
        </p:spPr>
      </p:pic>
      <p:sp>
        <p:nvSpPr>
          <p:cNvPr id="4" name="Rounded Rectangle 3"/>
          <p:cNvSpPr/>
          <p:nvPr/>
        </p:nvSpPr>
        <p:spPr>
          <a:xfrm>
            <a:off x="640080" y="5349240"/>
            <a:ext cx="2590723"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59" y="5440680"/>
            <a:ext cx="2224963" cy="822960"/>
          </a:xfrm>
          <a:prstGeom prst="rect">
            <a:avLst/>
          </a:prstGeom>
          <a:noFill/>
        </p:spPr>
        <p:txBody>
          <a:bodyPr wrap="square" lIns="0" rIns="0" tIns="0" bIns="0" anchor="t">
            <a:spAutoFit/>
          </a:bodyPr>
          <a:lstStyle/>
          <a:p>
            <a:pPr algn="l">
              <a:spcAft>
                <a:spcPts val="200"/>
              </a:spcAft>
            </a:pPr>
            <a:r>
              <a:rPr sz="1500" b="1" i="0">
                <a:solidFill>
                  <a:srgbClr val="1E2A3B"/>
                </a:solidFill>
                <a:latin typeface="Calibri"/>
              </a:rPr>
              <a:t>Amber dots</a:t>
            </a:r>
          </a:p>
          <a:p>
            <a:pPr algn="l"/>
            <a:r>
              <a:rPr sz="1400" b="0" i="0">
                <a:solidFill>
                  <a:srgbClr val="4F5F74"/>
                </a:solidFill>
                <a:latin typeface="Calibri"/>
              </a:rPr>
              <a:t>are handshakes.</a:t>
            </a:r>
          </a:p>
        </p:txBody>
      </p:sp>
      <p:sp>
        <p:nvSpPr>
          <p:cNvPr id="6" name="Rounded Rectangle 5"/>
          <p:cNvSpPr/>
          <p:nvPr/>
        </p:nvSpPr>
        <p:spPr>
          <a:xfrm>
            <a:off x="3413683" y="5349240"/>
            <a:ext cx="2590723"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96563" y="5440680"/>
            <a:ext cx="2224963" cy="822960"/>
          </a:xfrm>
          <a:prstGeom prst="rect">
            <a:avLst/>
          </a:prstGeom>
          <a:noFill/>
        </p:spPr>
        <p:txBody>
          <a:bodyPr wrap="square" lIns="0" rIns="0" tIns="0" bIns="0" anchor="t">
            <a:spAutoFit/>
          </a:bodyPr>
          <a:lstStyle/>
          <a:p>
            <a:pPr algn="l">
              <a:spcAft>
                <a:spcPts val="200"/>
              </a:spcAft>
            </a:pPr>
            <a:r>
              <a:rPr sz="1500" b="1" i="0">
                <a:solidFill>
                  <a:srgbClr val="1E2A3B"/>
                </a:solidFill>
                <a:latin typeface="Calibri"/>
              </a:rPr>
              <a:t>Address</a:t>
            </a:r>
          </a:p>
          <a:p>
            <a:pPr algn="l"/>
            <a:r>
              <a:rPr sz="1400" b="0" i="0">
                <a:solidFill>
                  <a:srgbClr val="4F5F74"/>
                </a:solidFill>
                <a:latin typeface="Calibri"/>
              </a:rPr>
              <a:t>taken at 1, reaches the slave at 3: two stages.</a:t>
            </a:r>
          </a:p>
        </p:txBody>
      </p:sp>
      <p:sp>
        <p:nvSpPr>
          <p:cNvPr id="8" name="Rounded Rectangle 7"/>
          <p:cNvSpPr/>
          <p:nvPr/>
        </p:nvSpPr>
        <p:spPr>
          <a:xfrm>
            <a:off x="6187287" y="5349240"/>
            <a:ext cx="2590723"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70167" y="5440680"/>
            <a:ext cx="2224963" cy="822960"/>
          </a:xfrm>
          <a:prstGeom prst="rect">
            <a:avLst/>
          </a:prstGeom>
          <a:noFill/>
        </p:spPr>
        <p:txBody>
          <a:bodyPr wrap="square" lIns="0" rIns="0" tIns="0" bIns="0" anchor="t">
            <a:spAutoFit/>
          </a:bodyPr>
          <a:lstStyle/>
          <a:p>
            <a:pPr algn="l">
              <a:spcAft>
                <a:spcPts val="200"/>
              </a:spcAft>
            </a:pPr>
            <a:r>
              <a:rPr sz="1500" b="1" i="0">
                <a:solidFill>
                  <a:srgbClr val="1E2A3B"/>
                </a:solidFill>
                <a:latin typeface="Calibri"/>
              </a:rPr>
              <a:t>Data beats</a:t>
            </a:r>
          </a:p>
          <a:p>
            <a:pPr algn="l"/>
            <a:r>
              <a:rPr sz="1400" b="0" i="0">
                <a:solidFill>
                  <a:srgbClr val="4F5F74"/>
                </a:solidFill>
                <a:latin typeface="Calibri"/>
              </a:rPr>
              <a:t>taken at 2, 4, 6, 8: one every two clocks.</a:t>
            </a:r>
          </a:p>
        </p:txBody>
      </p:sp>
      <p:sp>
        <p:nvSpPr>
          <p:cNvPr id="10" name="Rounded Rectangle 9"/>
          <p:cNvSpPr/>
          <p:nvPr/>
        </p:nvSpPr>
        <p:spPr>
          <a:xfrm>
            <a:off x="8960891" y="5349240"/>
            <a:ext cx="2590723" cy="9144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3771" y="5440680"/>
            <a:ext cx="2224963" cy="822960"/>
          </a:xfrm>
          <a:prstGeom prst="rect">
            <a:avLst/>
          </a:prstGeom>
          <a:noFill/>
        </p:spPr>
        <p:txBody>
          <a:bodyPr wrap="square" lIns="0" rIns="0" tIns="0" bIns="0" anchor="t">
            <a:spAutoFit/>
          </a:bodyPr>
          <a:lstStyle/>
          <a:p>
            <a:pPr algn="l">
              <a:spcAft>
                <a:spcPts val="200"/>
              </a:spcAft>
            </a:pPr>
            <a:r>
              <a:rPr sz="1500" b="1" i="0">
                <a:solidFill>
                  <a:srgbClr val="1E2A3B"/>
                </a:solidFill>
                <a:latin typeface="Calibri"/>
              </a:rPr>
              <a:t>Response</a:t>
            </a:r>
          </a:p>
          <a:p>
            <a:pPr algn="l"/>
            <a:r>
              <a:rPr sz="1400" b="0" i="0">
                <a:solidFill>
                  <a:srgbClr val="4F5F74"/>
                </a:solidFill>
                <a:latin typeface="Calibri"/>
              </a:rPr>
              <a:t>taken at 13, after two stages back.</a:t>
            </a:r>
          </a:p>
        </p:txBody>
      </p:sp>
      <p:sp>
        <p:nvSpPr>
          <p:cNvPr id="12"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a master, D flip-flop stages and a memory, in Verilog</a:t>
            </a:r>
          </a:p>
        </p:txBody>
      </p:sp>
      <p:sp>
        <p:nvSpPr>
          <p:cNvPr id="13"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Read: the same four words, from the simulation</a:t>
            </a:r>
          </a:p>
        </p:txBody>
      </p:sp>
      <p:pic>
        <p:nvPicPr>
          <p:cNvPr id="3" name="Picture 2" descr="Waveform of the master reading four words back through the flip-flop stages."/>
          <p:cNvPicPr>
            <a:picLocks noChangeAspect="1"/>
          </p:cNvPicPr>
          <p:nvPr/>
        </p:nvPicPr>
        <p:blipFill>
          <a:blip r:embed="rId3"/>
          <a:stretch>
            <a:fillRect/>
          </a:stretch>
        </p:blipFill>
        <p:spPr>
          <a:xfrm>
            <a:off x="640080" y="1463040"/>
            <a:ext cx="10881360" cy="3163447"/>
          </a:xfrm>
          <a:prstGeom prst="rect">
            <a:avLst/>
          </a:prstGeom>
        </p:spPr>
      </p:pic>
      <p:sp>
        <p:nvSpPr>
          <p:cNvPr id="4" name="Rounded Rectangle 3"/>
          <p:cNvSpPr/>
          <p:nvPr/>
        </p:nvSpPr>
        <p:spPr>
          <a:xfrm>
            <a:off x="640080" y="5029200"/>
            <a:ext cx="2590723" cy="10972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59" y="5138928"/>
            <a:ext cx="2224963" cy="914400"/>
          </a:xfrm>
          <a:prstGeom prst="rect">
            <a:avLst/>
          </a:prstGeom>
          <a:noFill/>
        </p:spPr>
        <p:txBody>
          <a:bodyPr wrap="square" lIns="0" rIns="0" tIns="0" bIns="0" anchor="t">
            <a:spAutoFit/>
          </a:bodyPr>
          <a:lstStyle/>
          <a:p>
            <a:pPr algn="l">
              <a:spcAft>
                <a:spcPts val="200"/>
              </a:spcAft>
            </a:pPr>
            <a:r>
              <a:rPr sz="1500" b="1" i="0">
                <a:solidFill>
                  <a:srgbClr val="1E2A3B"/>
                </a:solidFill>
                <a:latin typeface="Calibri"/>
              </a:rPr>
              <a:t>Address</a:t>
            </a:r>
          </a:p>
          <a:p>
            <a:pPr algn="l"/>
            <a:r>
              <a:rPr sz="1400" b="0" i="0">
                <a:solidFill>
                  <a:srgbClr val="4F5F74"/>
                </a:solidFill>
                <a:latin typeface="Calibri"/>
              </a:rPr>
              <a:t>taken at 1, reaches the slave at 3.</a:t>
            </a:r>
          </a:p>
        </p:txBody>
      </p:sp>
      <p:sp>
        <p:nvSpPr>
          <p:cNvPr id="6" name="Rounded Rectangle 5"/>
          <p:cNvSpPr/>
          <p:nvPr/>
        </p:nvSpPr>
        <p:spPr>
          <a:xfrm>
            <a:off x="3413683" y="5029200"/>
            <a:ext cx="2590723" cy="10972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96563" y="5138928"/>
            <a:ext cx="2224963" cy="914400"/>
          </a:xfrm>
          <a:prstGeom prst="rect">
            <a:avLst/>
          </a:prstGeom>
          <a:noFill/>
        </p:spPr>
        <p:txBody>
          <a:bodyPr wrap="square" lIns="0" rIns="0" tIns="0" bIns="0" anchor="t">
            <a:spAutoFit/>
          </a:bodyPr>
          <a:lstStyle/>
          <a:p>
            <a:pPr algn="l">
              <a:spcAft>
                <a:spcPts val="200"/>
              </a:spcAft>
            </a:pPr>
            <a:r>
              <a:rPr sz="1500" b="1" i="0">
                <a:solidFill>
                  <a:srgbClr val="1E2A3B"/>
                </a:solidFill>
                <a:latin typeface="Calibri"/>
              </a:rPr>
              <a:t>Data beats</a:t>
            </a:r>
          </a:p>
          <a:p>
            <a:pPr algn="l"/>
            <a:r>
              <a:rPr sz="1400" b="0" i="0">
                <a:solidFill>
                  <a:srgbClr val="4F5F74"/>
                </a:solidFill>
                <a:latin typeface="Calibri"/>
              </a:rPr>
              <a:t>taken at 6, 8, 10, 12: one every two clocks.</a:t>
            </a:r>
          </a:p>
        </p:txBody>
      </p:sp>
      <p:sp>
        <p:nvSpPr>
          <p:cNvPr id="8" name="Rounded Rectangle 7"/>
          <p:cNvSpPr/>
          <p:nvPr/>
        </p:nvSpPr>
        <p:spPr>
          <a:xfrm>
            <a:off x="6187287" y="5029200"/>
            <a:ext cx="2590723" cy="10972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70167" y="5138928"/>
            <a:ext cx="2224963" cy="914400"/>
          </a:xfrm>
          <a:prstGeom prst="rect">
            <a:avLst/>
          </a:prstGeom>
          <a:noFill/>
        </p:spPr>
        <p:txBody>
          <a:bodyPr wrap="square" lIns="0" rIns="0" tIns="0" bIns="0" anchor="t">
            <a:spAutoFit/>
          </a:bodyPr>
          <a:lstStyle/>
          <a:p>
            <a:pPr algn="l">
              <a:spcAft>
                <a:spcPts val="200"/>
              </a:spcAft>
            </a:pPr>
            <a:r>
              <a:rPr sz="1500" b="1" i="0">
                <a:solidFill>
                  <a:srgbClr val="1E2A3B"/>
                </a:solidFill>
                <a:latin typeface="Calibri"/>
              </a:rPr>
              <a:t>RLAST</a:t>
            </a:r>
          </a:p>
          <a:p>
            <a:pPr algn="l"/>
            <a:r>
              <a:rPr sz="1400" b="0" i="0">
                <a:solidFill>
                  <a:srgbClr val="4F5F74"/>
                </a:solidFill>
                <a:latin typeface="Calibri"/>
              </a:rPr>
              <a:t>rides on the fourth beat, at cycle 12.</a:t>
            </a:r>
          </a:p>
        </p:txBody>
      </p:sp>
      <p:sp>
        <p:nvSpPr>
          <p:cNvPr id="10" name="Rounded Rectangle 9"/>
          <p:cNvSpPr/>
          <p:nvPr/>
        </p:nvSpPr>
        <p:spPr>
          <a:xfrm>
            <a:off x="8960891" y="5029200"/>
            <a:ext cx="2590723" cy="10972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3771" y="5138928"/>
            <a:ext cx="2224963" cy="914400"/>
          </a:xfrm>
          <a:prstGeom prst="rect">
            <a:avLst/>
          </a:prstGeom>
          <a:noFill/>
        </p:spPr>
        <p:txBody>
          <a:bodyPr wrap="square" lIns="0" rIns="0" tIns="0" bIns="0" anchor="t">
            <a:spAutoFit/>
          </a:bodyPr>
          <a:lstStyle/>
          <a:p>
            <a:pPr algn="l">
              <a:spcAft>
                <a:spcPts val="200"/>
              </a:spcAft>
            </a:pPr>
            <a:r>
              <a:rPr sz="1500" b="1" i="0">
                <a:solidFill>
                  <a:srgbClr val="1E2A3B"/>
                </a:solidFill>
                <a:latin typeface="Calibri"/>
              </a:rPr>
              <a:t>done</a:t>
            </a:r>
          </a:p>
          <a:p>
            <a:pPr algn="l"/>
            <a:r>
              <a:rPr sz="1400" b="0" i="0">
                <a:solidFill>
                  <a:srgbClr val="4F5F74"/>
                </a:solidFill>
                <a:latin typeface="Calibri"/>
              </a:rPr>
              <a:t>goes high at 13. The sequence took 27 cycles.</a:t>
            </a:r>
          </a:p>
        </p:txBody>
      </p:sp>
      <p:sp>
        <p:nvSpPr>
          <p:cNvPr id="12"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a master, D flip-flop stages and a memory, in Verilog</a:t>
            </a:r>
          </a:p>
        </p:txBody>
      </p:sp>
      <p:sp>
        <p:nvSpPr>
          <p:cNvPr id="13"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How it was verified</a:t>
            </a:r>
          </a:p>
        </p:txBody>
      </p:sp>
      <p:sp>
        <p:nvSpPr>
          <p:cNvPr id="3" name="Rounded Rectangle 2"/>
          <p:cNvSpPr/>
          <p:nvPr/>
        </p:nvSpPr>
        <p:spPr>
          <a:xfrm>
            <a:off x="640080" y="1417320"/>
            <a:ext cx="5355183" cy="40233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96112" y="1645920"/>
            <a:ext cx="4843119" cy="457200"/>
          </a:xfrm>
          <a:prstGeom prst="rect">
            <a:avLst/>
          </a:prstGeom>
          <a:noFill/>
        </p:spPr>
        <p:txBody>
          <a:bodyPr wrap="square" lIns="0" rIns="0" tIns="0" bIns="0" anchor="t">
            <a:spAutoFit/>
          </a:bodyPr>
          <a:lstStyle/>
          <a:p>
            <a:pPr algn="l"/>
            <a:r>
              <a:rPr sz="2200" b="1" i="0">
                <a:solidFill>
                  <a:srgbClr val="1E2A3B"/>
                </a:solidFill>
                <a:latin typeface="Cambria"/>
              </a:rPr>
              <a:t>Slave on its own</a:t>
            </a:r>
          </a:p>
        </p:txBody>
      </p:sp>
      <p:sp>
        <p:nvSpPr>
          <p:cNvPr id="5" name="TextBox 4"/>
          <p:cNvSpPr txBox="1"/>
          <p:nvPr/>
        </p:nvSpPr>
        <p:spPr>
          <a:xfrm>
            <a:off x="896112" y="2194560"/>
            <a:ext cx="4843119" cy="320040"/>
          </a:xfrm>
          <a:prstGeom prst="rect">
            <a:avLst/>
          </a:prstGeom>
          <a:noFill/>
        </p:spPr>
        <p:txBody>
          <a:bodyPr wrap="square" lIns="0" rIns="0" tIns="0" bIns="0" anchor="t">
            <a:spAutoFit/>
          </a:bodyPr>
          <a:lstStyle/>
          <a:p>
            <a:pPr algn="l"/>
            <a:r>
              <a:rPr sz="1300" b="0" i="0">
                <a:solidFill>
                  <a:srgbClr val="4F5F74"/>
                </a:solidFill>
                <a:latin typeface="Consolas"/>
              </a:rPr>
              <a:t>tb_axi4_slave.v</a:t>
            </a:r>
          </a:p>
        </p:txBody>
      </p:sp>
      <p:sp>
        <p:nvSpPr>
          <p:cNvPr id="6" name="TextBox 5"/>
          <p:cNvSpPr txBox="1"/>
          <p:nvPr/>
        </p:nvSpPr>
        <p:spPr>
          <a:xfrm>
            <a:off x="896112" y="2651760"/>
            <a:ext cx="4843119" cy="2606040"/>
          </a:xfrm>
          <a:prstGeom prst="rect">
            <a:avLst/>
          </a:prstGeom>
          <a:noFill/>
        </p:spPr>
        <p:txBody>
          <a:bodyPr wrap="square" lIns="0" rIns="0" tIns="0" bIns="0" anchor="t">
            <a:spAutoFit/>
          </a:bodyPr>
          <a:lstStyle/>
          <a:p>
            <a:pPr algn="l"/>
            <a:r>
              <a:rPr sz="1500" b="0" i="0">
                <a:solidFill>
                  <a:srgbClr val="1E2A3B"/>
                </a:solidFill>
                <a:latin typeface="Calibri"/>
              </a:rPr>
              <a:t>The testbench plays the master. 33 checks: single and multi-beat bursts, data first or address first, held-off responses, byte strobes, ID echo, 256 beats, reset mid-burst.</a:t>
            </a:r>
          </a:p>
        </p:txBody>
      </p:sp>
      <p:sp>
        <p:nvSpPr>
          <p:cNvPr id="7" name="Rounded Rectangle 6"/>
          <p:cNvSpPr/>
          <p:nvPr/>
        </p:nvSpPr>
        <p:spPr>
          <a:xfrm>
            <a:off x="6196431" y="1417320"/>
            <a:ext cx="5355183" cy="402336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52463" y="1645920"/>
            <a:ext cx="4843119" cy="457200"/>
          </a:xfrm>
          <a:prstGeom prst="rect">
            <a:avLst/>
          </a:prstGeom>
          <a:noFill/>
        </p:spPr>
        <p:txBody>
          <a:bodyPr wrap="square" lIns="0" rIns="0" tIns="0" bIns="0" anchor="t">
            <a:spAutoFit/>
          </a:bodyPr>
          <a:lstStyle/>
          <a:p>
            <a:pPr algn="l"/>
            <a:r>
              <a:rPr sz="2200" b="1" i="0">
                <a:solidFill>
                  <a:srgbClr val="1E2A3B"/>
                </a:solidFill>
                <a:latin typeface="Cambria"/>
              </a:rPr>
              <a:t>Whole system</a:t>
            </a:r>
          </a:p>
        </p:txBody>
      </p:sp>
      <p:sp>
        <p:nvSpPr>
          <p:cNvPr id="9" name="TextBox 8"/>
          <p:cNvSpPr txBox="1"/>
          <p:nvPr/>
        </p:nvSpPr>
        <p:spPr>
          <a:xfrm>
            <a:off x="6452463" y="2194560"/>
            <a:ext cx="4843119" cy="320040"/>
          </a:xfrm>
          <a:prstGeom prst="rect">
            <a:avLst/>
          </a:prstGeom>
          <a:noFill/>
        </p:spPr>
        <p:txBody>
          <a:bodyPr wrap="square" lIns="0" rIns="0" tIns="0" bIns="0" anchor="t">
            <a:spAutoFit/>
          </a:bodyPr>
          <a:lstStyle/>
          <a:p>
            <a:pPr algn="l"/>
            <a:r>
              <a:rPr sz="1300" b="0" i="0">
                <a:solidFill>
                  <a:srgbClr val="4F5F74"/>
                </a:solidFill>
                <a:latin typeface="Consolas"/>
              </a:rPr>
              <a:t>tb_axi4_top.v</a:t>
            </a:r>
          </a:p>
        </p:txBody>
      </p:sp>
      <p:sp>
        <p:nvSpPr>
          <p:cNvPr id="10" name="TextBox 9"/>
          <p:cNvSpPr txBox="1"/>
          <p:nvPr/>
        </p:nvSpPr>
        <p:spPr>
          <a:xfrm>
            <a:off x="6452463" y="2651760"/>
            <a:ext cx="4843119" cy="2606040"/>
          </a:xfrm>
          <a:prstGeom prst="rect">
            <a:avLst/>
          </a:prstGeom>
          <a:noFill/>
        </p:spPr>
        <p:txBody>
          <a:bodyPr wrap="square" lIns="0" rIns="0" tIns="0" bIns="0" anchor="t">
            <a:spAutoFit/>
          </a:bodyPr>
          <a:lstStyle/>
          <a:p>
            <a:pPr algn="l"/>
            <a:r>
              <a:rPr sz="1500" b="0" i="0">
                <a:solidFill>
                  <a:srgbClr val="1E2A3B"/>
                </a:solidFill>
                <a:latin typeface="Calibri"/>
              </a:rPr>
              <a:t>The master runs by itself. 13 checks: it finishes and passes, the words are in memory, responses are OKAY, VALID and data hold steady, reset mid-sequence then runs again.</a:t>
            </a:r>
          </a:p>
        </p:txBody>
      </p:sp>
      <p:sp>
        <p:nvSpPr>
          <p:cNvPr id="11" name="Rounded Rectangle 10"/>
          <p:cNvSpPr/>
          <p:nvPr/>
        </p:nvSpPr>
        <p:spPr>
          <a:xfrm>
            <a:off x="640080" y="5623560"/>
            <a:ext cx="10881360" cy="566928"/>
          </a:xfrm>
          <a:prstGeom prst="roundRect">
            <a:avLst>
              <a:gd name="adj" fmla="val 6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5623560"/>
            <a:ext cx="10332720" cy="566928"/>
          </a:xfrm>
          <a:prstGeom prst="rect">
            <a:avLst/>
          </a:prstGeom>
          <a:noFill/>
        </p:spPr>
        <p:txBody>
          <a:bodyPr wrap="square" lIns="0" rIns="0" tIns="0" bIns="0" anchor="ctr">
            <a:spAutoFit/>
          </a:bodyPr>
          <a:lstStyle/>
          <a:p>
            <a:pPr algn="l"/>
            <a:r>
              <a:rPr sz="1700" b="1" i="0">
                <a:solidFill>
                  <a:srgbClr val="1E2A3B"/>
                </a:solidFill>
                <a:latin typeface="Calibri"/>
              </a:rPr>
              <a:t>Total: 33 + 13 = 46 checks, 0 failing.   Run it:  .\run_tests.ps1</a:t>
            </a:r>
          </a:p>
        </p:txBody>
      </p:sp>
      <p:sp>
        <p:nvSpPr>
          <p:cNvPr id="13"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a master, D flip-flop stages and a memory, in Verilog</a:t>
            </a:r>
          </a:p>
        </p:txBody>
      </p:sp>
      <p:sp>
        <p:nvSpPr>
          <p:cNvPr id="14"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Limits, stated plainly</a:t>
            </a:r>
          </a:p>
        </p:txBody>
      </p:sp>
      <p:sp>
        <p:nvSpPr>
          <p:cNvPr id="3" name="Rounded Rectangle 2"/>
          <p:cNvSpPr/>
          <p:nvPr/>
        </p:nvSpPr>
        <p:spPr>
          <a:xfrm>
            <a:off x="640080" y="141732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581912"/>
            <a:ext cx="4846320" cy="365760"/>
          </a:xfrm>
          <a:prstGeom prst="rect">
            <a:avLst/>
          </a:prstGeom>
          <a:noFill/>
        </p:spPr>
        <p:txBody>
          <a:bodyPr wrap="square" lIns="0" rIns="0" tIns="0" bIns="0" anchor="t">
            <a:spAutoFit/>
          </a:bodyPr>
          <a:lstStyle/>
          <a:p>
            <a:pPr algn="l"/>
            <a:r>
              <a:rPr sz="1800" b="1" i="0">
                <a:solidFill>
                  <a:srgbClr val="1E2A3B"/>
                </a:solidFill>
                <a:latin typeface="Cambria"/>
              </a:rPr>
              <a:t>Half rate</a:t>
            </a:r>
          </a:p>
        </p:txBody>
      </p:sp>
      <p:sp>
        <p:nvSpPr>
          <p:cNvPr id="5" name="TextBox 4"/>
          <p:cNvSpPr txBox="1"/>
          <p:nvPr/>
        </p:nvSpPr>
        <p:spPr>
          <a:xfrm>
            <a:off x="914400" y="2039112"/>
            <a:ext cx="4846320" cy="685800"/>
          </a:xfrm>
          <a:prstGeom prst="rect">
            <a:avLst/>
          </a:prstGeom>
          <a:noFill/>
        </p:spPr>
        <p:txBody>
          <a:bodyPr wrap="square" lIns="0" rIns="0" tIns="0" bIns="0" anchor="t">
            <a:spAutoFit/>
          </a:bodyPr>
          <a:lstStyle/>
          <a:p>
            <a:pPr algn="l"/>
            <a:r>
              <a:rPr sz="1400" b="0" i="0">
                <a:solidFill>
                  <a:srgbClr val="4F5F74"/>
                </a:solidFill>
                <a:latin typeface="Calibri"/>
              </a:rPr>
              <a:t>One beat every two clocks, because each stage holds one beat at a time.</a:t>
            </a:r>
          </a:p>
        </p:txBody>
      </p:sp>
      <p:sp>
        <p:nvSpPr>
          <p:cNvPr id="6" name="Rounded Rectangle 5"/>
          <p:cNvSpPr/>
          <p:nvPr/>
        </p:nvSpPr>
        <p:spPr>
          <a:xfrm>
            <a:off x="6172200" y="141732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46520" y="1581912"/>
            <a:ext cx="4846320" cy="365760"/>
          </a:xfrm>
          <a:prstGeom prst="rect">
            <a:avLst/>
          </a:prstGeom>
          <a:noFill/>
        </p:spPr>
        <p:txBody>
          <a:bodyPr wrap="square" lIns="0" rIns="0" tIns="0" bIns="0" anchor="t">
            <a:spAutoFit/>
          </a:bodyPr>
          <a:lstStyle/>
          <a:p>
            <a:pPr algn="l"/>
            <a:r>
              <a:rPr sz="1800" b="1" i="0">
                <a:solidFill>
                  <a:srgbClr val="1E2A3B"/>
                </a:solidFill>
                <a:latin typeface="Cambria"/>
              </a:rPr>
              <a:t>Fixed data</a:t>
            </a:r>
          </a:p>
        </p:txBody>
      </p:sp>
      <p:sp>
        <p:nvSpPr>
          <p:cNvPr id="8" name="TextBox 7"/>
          <p:cNvSpPr txBox="1"/>
          <p:nvPr/>
        </p:nvSpPr>
        <p:spPr>
          <a:xfrm>
            <a:off x="6446520" y="2039112"/>
            <a:ext cx="4846320" cy="685800"/>
          </a:xfrm>
          <a:prstGeom prst="rect">
            <a:avLst/>
          </a:prstGeom>
          <a:noFill/>
        </p:spPr>
        <p:txBody>
          <a:bodyPr wrap="square" lIns="0" rIns="0" tIns="0" bIns="0" anchor="t">
            <a:spAutoFit/>
          </a:bodyPr>
          <a:lstStyle/>
          <a:p>
            <a:pPr algn="l"/>
            <a:r>
              <a:rPr sz="1400" b="0" i="0">
                <a:solidFill>
                  <a:srgbClr val="4F5F74"/>
                </a:solidFill>
                <a:latin typeface="Calibri"/>
              </a:rPr>
              <a:t>The master sends four built-in words to 0x10. Changing them means editing the file.</a:t>
            </a:r>
          </a:p>
        </p:txBody>
      </p:sp>
      <p:sp>
        <p:nvSpPr>
          <p:cNvPr id="9" name="Rounded Rectangle 8"/>
          <p:cNvSpPr/>
          <p:nvPr/>
        </p:nvSpPr>
        <p:spPr>
          <a:xfrm>
            <a:off x="640080" y="297180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400" y="3136392"/>
            <a:ext cx="4846320" cy="365760"/>
          </a:xfrm>
          <a:prstGeom prst="rect">
            <a:avLst/>
          </a:prstGeom>
          <a:noFill/>
        </p:spPr>
        <p:txBody>
          <a:bodyPr wrap="square" lIns="0" rIns="0" tIns="0" bIns="0" anchor="t">
            <a:spAutoFit/>
          </a:bodyPr>
          <a:lstStyle/>
          <a:p>
            <a:pPr algn="l"/>
            <a:r>
              <a:rPr sz="1800" b="1" i="0">
                <a:solidFill>
                  <a:srgbClr val="1E2A3B"/>
                </a:solidFill>
                <a:latin typeface="Cambria"/>
              </a:rPr>
              <a:t>Counting-up bursts only</a:t>
            </a:r>
          </a:p>
        </p:txBody>
      </p:sp>
      <p:sp>
        <p:nvSpPr>
          <p:cNvPr id="11" name="TextBox 10"/>
          <p:cNvSpPr txBox="1"/>
          <p:nvPr/>
        </p:nvSpPr>
        <p:spPr>
          <a:xfrm>
            <a:off x="914400" y="3593592"/>
            <a:ext cx="4846320" cy="685800"/>
          </a:xfrm>
          <a:prstGeom prst="rect">
            <a:avLst/>
          </a:prstGeom>
          <a:noFill/>
        </p:spPr>
        <p:txBody>
          <a:bodyPr wrap="square" lIns="0" rIns="0" tIns="0" bIns="0" anchor="t">
            <a:spAutoFit/>
          </a:bodyPr>
          <a:lstStyle/>
          <a:p>
            <a:pPr algn="l"/>
            <a:r>
              <a:rPr sz="1400" b="0" i="0">
                <a:solidFill>
                  <a:srgbClr val="4F5F74"/>
                </a:solidFill>
                <a:latin typeface="Calibri"/>
              </a:rPr>
              <a:t>No FIXED or WRAP bursts and no narrow beats. The address adds 4 per beat.</a:t>
            </a:r>
          </a:p>
        </p:txBody>
      </p:sp>
      <p:sp>
        <p:nvSpPr>
          <p:cNvPr id="12" name="Rounded Rectangle 11"/>
          <p:cNvSpPr/>
          <p:nvPr/>
        </p:nvSpPr>
        <p:spPr>
          <a:xfrm>
            <a:off x="6172200" y="297180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46520" y="3136392"/>
            <a:ext cx="4846320" cy="365760"/>
          </a:xfrm>
          <a:prstGeom prst="rect">
            <a:avLst/>
          </a:prstGeom>
          <a:noFill/>
        </p:spPr>
        <p:txBody>
          <a:bodyPr wrap="square" lIns="0" rIns="0" tIns="0" bIns="0" anchor="t">
            <a:spAutoFit/>
          </a:bodyPr>
          <a:lstStyle/>
          <a:p>
            <a:pPr algn="l"/>
            <a:r>
              <a:rPr sz="1800" b="1" i="0">
                <a:solidFill>
                  <a:srgbClr val="1E2A3B"/>
                </a:solidFill>
                <a:latin typeface="Cambria"/>
              </a:rPr>
              <a:t>Always OKAY</a:t>
            </a:r>
          </a:p>
        </p:txBody>
      </p:sp>
      <p:sp>
        <p:nvSpPr>
          <p:cNvPr id="14" name="TextBox 13"/>
          <p:cNvSpPr txBox="1"/>
          <p:nvPr/>
        </p:nvSpPr>
        <p:spPr>
          <a:xfrm>
            <a:off x="6446520" y="3593592"/>
            <a:ext cx="4846320" cy="685800"/>
          </a:xfrm>
          <a:prstGeom prst="rect">
            <a:avLst/>
          </a:prstGeom>
          <a:noFill/>
        </p:spPr>
        <p:txBody>
          <a:bodyPr wrap="square" lIns="0" rIns="0" tIns="0" bIns="0" anchor="t">
            <a:spAutoFit/>
          </a:bodyPr>
          <a:lstStyle/>
          <a:p>
            <a:pPr algn="l"/>
            <a:r>
              <a:rPr sz="1400" b="0" i="0">
                <a:solidFill>
                  <a:srgbClr val="4F5F74"/>
                </a:solidFill>
                <a:latin typeface="Calibri"/>
              </a:rPr>
              <a:t>No error responses. An address beyond the 4 KiB wraps inside the memory.</a:t>
            </a:r>
          </a:p>
        </p:txBody>
      </p:sp>
      <p:sp>
        <p:nvSpPr>
          <p:cNvPr id="15" name="Rounded Rectangle 14"/>
          <p:cNvSpPr/>
          <p:nvPr/>
        </p:nvSpPr>
        <p:spPr>
          <a:xfrm>
            <a:off x="640080" y="452628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4690872"/>
            <a:ext cx="4846320" cy="365760"/>
          </a:xfrm>
          <a:prstGeom prst="rect">
            <a:avLst/>
          </a:prstGeom>
          <a:noFill/>
        </p:spPr>
        <p:txBody>
          <a:bodyPr wrap="square" lIns="0" rIns="0" tIns="0" bIns="0" anchor="t">
            <a:spAutoFit/>
          </a:bodyPr>
          <a:lstStyle/>
          <a:p>
            <a:pPr algn="l"/>
            <a:r>
              <a:rPr sz="1800" b="1" i="0">
                <a:solidFill>
                  <a:srgbClr val="1E2A3B"/>
                </a:solidFill>
                <a:latin typeface="Cambria"/>
              </a:rPr>
              <a:t>One burst at a time</a:t>
            </a:r>
          </a:p>
        </p:txBody>
      </p:sp>
      <p:sp>
        <p:nvSpPr>
          <p:cNvPr id="17" name="TextBox 16"/>
          <p:cNvSpPr txBox="1"/>
          <p:nvPr/>
        </p:nvSpPr>
        <p:spPr>
          <a:xfrm>
            <a:off x="914400" y="5148072"/>
            <a:ext cx="4846320" cy="685800"/>
          </a:xfrm>
          <a:prstGeom prst="rect">
            <a:avLst/>
          </a:prstGeom>
          <a:noFill/>
        </p:spPr>
        <p:txBody>
          <a:bodyPr wrap="square" lIns="0" rIns="0" tIns="0" bIns="0" anchor="t">
            <a:spAutoFit/>
          </a:bodyPr>
          <a:lstStyle/>
          <a:p>
            <a:pPr algn="l"/>
            <a:r>
              <a:rPr sz="1400" b="0" i="0">
                <a:solidFill>
                  <a:srgbClr val="4F5F74"/>
                </a:solidFill>
                <a:latin typeface="Calibri"/>
              </a:rPr>
              <a:t>One write or one read in progress. IDs are echoed, never used to reorder.</a:t>
            </a:r>
          </a:p>
        </p:txBody>
      </p:sp>
      <p:sp>
        <p:nvSpPr>
          <p:cNvPr id="18" name="Rounded Rectangle 17"/>
          <p:cNvSpPr/>
          <p:nvPr/>
        </p:nvSpPr>
        <p:spPr>
          <a:xfrm>
            <a:off x="6172200" y="452628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46520" y="4690872"/>
            <a:ext cx="4846320" cy="365760"/>
          </a:xfrm>
          <a:prstGeom prst="rect">
            <a:avLst/>
          </a:prstGeom>
          <a:noFill/>
        </p:spPr>
        <p:txBody>
          <a:bodyPr wrap="square" lIns="0" rIns="0" tIns="0" bIns="0" anchor="t">
            <a:spAutoFit/>
          </a:bodyPr>
          <a:lstStyle/>
          <a:p>
            <a:pPr algn="l"/>
            <a:r>
              <a:rPr sz="1800" b="1" i="0">
                <a:solidFill>
                  <a:srgbClr val="1E2A3B"/>
                </a:solidFill>
                <a:latin typeface="Cambria"/>
              </a:rPr>
              <a:t>No attribute signals</a:t>
            </a:r>
          </a:p>
        </p:txBody>
      </p:sp>
      <p:sp>
        <p:nvSpPr>
          <p:cNvPr id="20" name="TextBox 19"/>
          <p:cNvSpPr txBox="1"/>
          <p:nvPr/>
        </p:nvSpPr>
        <p:spPr>
          <a:xfrm>
            <a:off x="6446520" y="5148072"/>
            <a:ext cx="4846320" cy="685800"/>
          </a:xfrm>
          <a:prstGeom prst="rect">
            <a:avLst/>
          </a:prstGeom>
          <a:noFill/>
        </p:spPr>
        <p:txBody>
          <a:bodyPr wrap="square" lIns="0" rIns="0" tIns="0" bIns="0" anchor="t">
            <a:spAutoFit/>
          </a:bodyPr>
          <a:lstStyle/>
          <a:p>
            <a:pPr algn="l"/>
            <a:r>
              <a:rPr sz="1400" b="0" i="0">
                <a:solidFill>
                  <a:srgbClr val="4F5F74"/>
                </a:solidFill>
                <a:latin typeface="Calibri"/>
              </a:rPr>
              <a:t>AxLOCK, AxCACHE, AxPROT and AxQOS are not included.</a:t>
            </a:r>
          </a:p>
        </p:txBody>
      </p:sp>
      <p:sp>
        <p:nvSpPr>
          <p:cNvPr id="21"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a master, D flip-flop stages and a memory, in Verilog</a:t>
            </a:r>
          </a:p>
        </p:txBody>
      </p:sp>
      <p:sp>
        <p:nvSpPr>
          <p:cNvPr id="22"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2033"/>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EEF2F8"/>
                </a:solidFill>
                <a:latin typeface="Cambria"/>
              </a:rPr>
              <a:t>Live demo</a:t>
            </a:r>
          </a:p>
        </p:txBody>
      </p:sp>
      <p:sp>
        <p:nvSpPr>
          <p:cNvPr id="3" name="Rounded Rectangle 2"/>
          <p:cNvSpPr/>
          <p:nvPr/>
        </p:nvSpPr>
        <p:spPr>
          <a:xfrm>
            <a:off x="640080" y="1463040"/>
            <a:ext cx="6766560" cy="2743200"/>
          </a:xfrm>
          <a:prstGeom prst="roundRect">
            <a:avLst>
              <a:gd name="adj" fmla="val 6000"/>
            </a:avLst>
          </a:prstGeom>
          <a:solidFill>
            <a:srgbClr val="0F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1691640"/>
            <a:ext cx="6217920" cy="2377440"/>
          </a:xfrm>
          <a:prstGeom prst="rect">
            <a:avLst/>
          </a:prstGeom>
          <a:noFill/>
        </p:spPr>
        <p:txBody>
          <a:bodyPr wrap="square" lIns="0" rIns="0" tIns="0" bIns="0" anchor="t">
            <a:spAutoFit/>
          </a:bodyPr>
          <a:lstStyle/>
          <a:p>
            <a:pPr algn="l">
              <a:spcAft>
                <a:spcPts val="1400"/>
              </a:spcAft>
            </a:pPr>
            <a:r>
              <a:rPr sz="1800" b="0" i="0">
                <a:solidFill>
                  <a:srgbClr val="EEF2F8"/>
                </a:solidFill>
                <a:latin typeface="Consolas"/>
              </a:rPr>
              <a:t>cd E:\FPGA_Project</a:t>
            </a:r>
          </a:p>
          <a:p>
            <a:pPr algn="l">
              <a:spcAft>
                <a:spcPts val="1400"/>
              </a:spcAft>
            </a:pPr>
            <a:r>
              <a:rPr sz="1800" b="0" i="0">
                <a:solidFill>
                  <a:srgbClr val="FFC845"/>
                </a:solidFill>
                <a:latin typeface="Consolas"/>
              </a:rPr>
              <a:t>.\run_tests.ps1</a:t>
            </a:r>
          </a:p>
          <a:p>
            <a:pPr algn="l">
              <a:spcAft>
                <a:spcPts val="0"/>
              </a:spcAft>
            </a:pPr>
            <a:r>
              <a:rPr sz="1800" b="0" i="0">
                <a:solidFill>
                  <a:srgbClr val="FFC845"/>
                </a:solidFill>
                <a:latin typeface="Consolas"/>
              </a:rPr>
              <a:t>.\run_tests.ps1 -Suite top -Wave</a:t>
            </a:r>
          </a:p>
        </p:txBody>
      </p:sp>
      <p:sp>
        <p:nvSpPr>
          <p:cNvPr id="5" name="TextBox 4"/>
          <p:cNvSpPr txBox="1"/>
          <p:nvPr/>
        </p:nvSpPr>
        <p:spPr>
          <a:xfrm>
            <a:off x="7955279" y="1463040"/>
            <a:ext cx="3566160" cy="365760"/>
          </a:xfrm>
          <a:prstGeom prst="rect">
            <a:avLst/>
          </a:prstGeom>
          <a:noFill/>
        </p:spPr>
        <p:txBody>
          <a:bodyPr wrap="square" lIns="0" rIns="0" tIns="0" bIns="0" anchor="t">
            <a:spAutoFit/>
          </a:bodyPr>
          <a:lstStyle/>
          <a:p>
            <a:pPr algn="l"/>
            <a:r>
              <a:rPr sz="2000" b="1" i="0">
                <a:solidFill>
                  <a:srgbClr val="FFC845"/>
                </a:solidFill>
                <a:latin typeface="Cambria"/>
              </a:rPr>
              <a:t>What to point at</a:t>
            </a:r>
          </a:p>
        </p:txBody>
      </p:sp>
      <p:sp>
        <p:nvSpPr>
          <p:cNvPr id="6" name="TextBox 5"/>
          <p:cNvSpPr txBox="1"/>
          <p:nvPr/>
        </p:nvSpPr>
        <p:spPr>
          <a:xfrm>
            <a:off x="7955279" y="1965960"/>
            <a:ext cx="3566160" cy="2743200"/>
          </a:xfrm>
          <a:prstGeom prst="rect">
            <a:avLst/>
          </a:prstGeom>
          <a:noFill/>
        </p:spPr>
        <p:txBody>
          <a:bodyPr wrap="square" lIns="0" rIns="0" tIns="0" bIns="0" anchor="t">
            <a:spAutoFit/>
          </a:bodyPr>
          <a:lstStyle/>
          <a:p>
            <a:pPr algn="l">
              <a:spcAft>
                <a:spcPts val="1000"/>
              </a:spcAft>
            </a:pPr>
            <a:r>
              <a:rPr sz="1600" b="0" i="0">
                <a:solidFill>
                  <a:srgbClr val="EEF2F8"/>
                </a:solidFill>
                <a:latin typeface="Calibri"/>
              </a:rPr>
              <a:t>Two suites, each ending TEST PASSED</a:t>
            </a:r>
          </a:p>
          <a:p>
            <a:pPr algn="l">
              <a:spcAft>
                <a:spcPts val="1000"/>
              </a:spcAft>
            </a:pPr>
            <a:r>
              <a:rPr sz="1600" b="0" i="0">
                <a:solidFill>
                  <a:srgbClr val="EEF2F8"/>
                </a:solidFill>
                <a:latin typeface="Calibri"/>
              </a:rPr>
              <a:t>Check counts: 33 and 13</a:t>
            </a:r>
          </a:p>
          <a:p>
            <a:pPr algn="l">
              <a:spcAft>
                <a:spcPts val="0"/>
              </a:spcAft>
            </a:pPr>
            <a:r>
              <a:rPr sz="1600" b="0" i="0">
                <a:solidFill>
                  <a:srgbClr val="EEF2F8"/>
                </a:solidFill>
                <a:latin typeface="Calibri"/>
              </a:rPr>
              <a:t>"the whole sequence took 27 clock cycles"</a:t>
            </a:r>
          </a:p>
        </p:txBody>
      </p:sp>
      <p:sp>
        <p:nvSpPr>
          <p:cNvPr id="7" name="Rounded Rectangle 6"/>
          <p:cNvSpPr/>
          <p:nvPr/>
        </p:nvSpPr>
        <p:spPr>
          <a:xfrm>
            <a:off x="640080" y="4572000"/>
            <a:ext cx="10881360" cy="1371600"/>
          </a:xfrm>
          <a:prstGeom prst="roundRect">
            <a:avLst>
              <a:gd name="adj" fmla="val 6000"/>
            </a:avLst>
          </a:prstGeom>
          <a:solidFill>
            <a:srgbClr val="22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5840" y="4754880"/>
            <a:ext cx="10149840" cy="1097280"/>
          </a:xfrm>
          <a:prstGeom prst="rect">
            <a:avLst/>
          </a:prstGeom>
          <a:noFill/>
        </p:spPr>
        <p:txBody>
          <a:bodyPr wrap="square" lIns="0" rIns="0" tIns="0" bIns="0" anchor="t">
            <a:spAutoFit/>
          </a:bodyPr>
          <a:lstStyle/>
          <a:p>
            <a:pPr algn="l">
              <a:spcAft>
                <a:spcPts val="600"/>
              </a:spcAft>
            </a:pPr>
            <a:r>
              <a:rPr sz="1700" b="1" i="0">
                <a:solidFill>
                  <a:srgbClr val="FFC845"/>
                </a:solidFill>
                <a:latin typeface="Calibri"/>
              </a:rPr>
              <a:t>If the live run fails</a:t>
            </a:r>
          </a:p>
          <a:p>
            <a:pPr algn="l"/>
            <a:r>
              <a:rPr sz="1600" b="0" i="0">
                <a:solidFill>
                  <a:srgbClr val="EEF2F8"/>
                </a:solidFill>
                <a:latin typeface="Calibri"/>
              </a:rPr>
              <a:t>Slides 11 and 12 are recorded from this same simulation. Logs and waveforms are written to the build folder.</a:t>
            </a:r>
          </a:p>
        </p:txBody>
      </p:sp>
      <p:sp>
        <p:nvSpPr>
          <p:cNvPr id="9"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B7C3D6"/>
                </a:solidFill>
                <a:latin typeface="Calibri"/>
              </a:rPr>
              <a:t>AXI4: a master, D flip-flop stages and a memory, in Verilog</a:t>
            </a:r>
          </a:p>
        </p:txBody>
      </p:sp>
      <p:sp>
        <p:nvSpPr>
          <p:cNvPr id="10"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B7C3D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Questions we expect</a:t>
            </a:r>
          </a:p>
        </p:txBody>
      </p:sp>
      <p:sp>
        <p:nvSpPr>
          <p:cNvPr id="3" name="Rounded Rectangle 2"/>
          <p:cNvSpPr/>
          <p:nvPr/>
        </p:nvSpPr>
        <p:spPr>
          <a:xfrm>
            <a:off x="640080" y="1417320"/>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572768"/>
            <a:ext cx="4846320" cy="365760"/>
          </a:xfrm>
          <a:prstGeom prst="rect">
            <a:avLst/>
          </a:prstGeom>
          <a:noFill/>
        </p:spPr>
        <p:txBody>
          <a:bodyPr wrap="square" lIns="0" rIns="0" tIns="0" bIns="0" anchor="t">
            <a:spAutoFit/>
          </a:bodyPr>
          <a:lstStyle/>
          <a:p>
            <a:pPr algn="l"/>
            <a:r>
              <a:rPr sz="1700" b="1" i="0">
                <a:solidFill>
                  <a:srgbClr val="1E2A3B"/>
                </a:solidFill>
                <a:latin typeface="Cambria"/>
              </a:rPr>
              <a:t>Why five channels?</a:t>
            </a:r>
          </a:p>
        </p:txBody>
      </p:sp>
      <p:sp>
        <p:nvSpPr>
          <p:cNvPr id="5" name="TextBox 4"/>
          <p:cNvSpPr txBox="1"/>
          <p:nvPr/>
        </p:nvSpPr>
        <p:spPr>
          <a:xfrm>
            <a:off x="914400" y="2020824"/>
            <a:ext cx="4846320" cy="777240"/>
          </a:xfrm>
          <a:prstGeom prst="rect">
            <a:avLst/>
          </a:prstGeom>
          <a:noFill/>
        </p:spPr>
        <p:txBody>
          <a:bodyPr wrap="square" lIns="0" rIns="0" tIns="0" bIns="0" anchor="t">
            <a:spAutoFit/>
          </a:bodyPr>
          <a:lstStyle/>
          <a:p>
            <a:pPr algn="l"/>
            <a:r>
              <a:rPr sz="1500" b="0" i="0">
                <a:solidFill>
                  <a:srgbClr val="4F5F74"/>
                </a:solidFill>
                <a:latin typeface="Calibri"/>
              </a:rPr>
              <a:t>Address, data and response move independently, so a slow response never blocks the next address.</a:t>
            </a:r>
          </a:p>
        </p:txBody>
      </p:sp>
      <p:sp>
        <p:nvSpPr>
          <p:cNvPr id="6" name="Rounded Rectangle 5"/>
          <p:cNvSpPr/>
          <p:nvPr/>
        </p:nvSpPr>
        <p:spPr>
          <a:xfrm>
            <a:off x="6172200" y="1417320"/>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46520" y="1572768"/>
            <a:ext cx="4846320" cy="365760"/>
          </a:xfrm>
          <a:prstGeom prst="rect">
            <a:avLst/>
          </a:prstGeom>
          <a:noFill/>
        </p:spPr>
        <p:txBody>
          <a:bodyPr wrap="square" lIns="0" rIns="0" tIns="0" bIns="0" anchor="t">
            <a:spAutoFit/>
          </a:bodyPr>
          <a:lstStyle/>
          <a:p>
            <a:pPr algn="l"/>
            <a:r>
              <a:rPr sz="1700" b="1" i="0">
                <a:solidFill>
                  <a:srgbClr val="1E2A3B"/>
                </a:solidFill>
                <a:latin typeface="Cambria"/>
              </a:rPr>
              <a:t>Why not a bare flip-flop?</a:t>
            </a:r>
          </a:p>
        </p:txBody>
      </p:sp>
      <p:sp>
        <p:nvSpPr>
          <p:cNvPr id="8" name="TextBox 7"/>
          <p:cNvSpPr txBox="1"/>
          <p:nvPr/>
        </p:nvSpPr>
        <p:spPr>
          <a:xfrm>
            <a:off x="6446520" y="2020824"/>
            <a:ext cx="4846320" cy="777240"/>
          </a:xfrm>
          <a:prstGeom prst="rect">
            <a:avLst/>
          </a:prstGeom>
          <a:noFill/>
        </p:spPr>
        <p:txBody>
          <a:bodyPr wrap="square" lIns="0" rIns="0" tIns="0" bIns="0" anchor="t">
            <a:spAutoFit/>
          </a:bodyPr>
          <a:lstStyle/>
          <a:p>
            <a:pPr algn="l"/>
            <a:r>
              <a:rPr sz="1500" b="0" i="0">
                <a:solidFill>
                  <a:srgbClr val="4F5F74"/>
                </a:solidFill>
                <a:latin typeface="Calibri"/>
              </a:rPr>
              <a:t>READY would arrive late and a beat could be sent twice. The stage reports full from a flip-flop.</a:t>
            </a:r>
          </a:p>
        </p:txBody>
      </p:sp>
      <p:sp>
        <p:nvSpPr>
          <p:cNvPr id="9" name="Rounded Rectangle 8"/>
          <p:cNvSpPr/>
          <p:nvPr/>
        </p:nvSpPr>
        <p:spPr>
          <a:xfrm>
            <a:off x="640080" y="2990088"/>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400" y="3145536"/>
            <a:ext cx="4846320" cy="365760"/>
          </a:xfrm>
          <a:prstGeom prst="rect">
            <a:avLst/>
          </a:prstGeom>
          <a:noFill/>
        </p:spPr>
        <p:txBody>
          <a:bodyPr wrap="square" lIns="0" rIns="0" tIns="0" bIns="0" anchor="t">
            <a:spAutoFit/>
          </a:bodyPr>
          <a:lstStyle/>
          <a:p>
            <a:pPr algn="l"/>
            <a:r>
              <a:rPr sz="1700" b="1" i="0">
                <a:solidFill>
                  <a:srgbClr val="1E2A3B"/>
                </a:solidFill>
                <a:latin typeface="Cambria"/>
              </a:rPr>
              <a:t>What does the stage cost?</a:t>
            </a:r>
          </a:p>
        </p:txBody>
      </p:sp>
      <p:sp>
        <p:nvSpPr>
          <p:cNvPr id="11" name="TextBox 10"/>
          <p:cNvSpPr txBox="1"/>
          <p:nvPr/>
        </p:nvSpPr>
        <p:spPr>
          <a:xfrm>
            <a:off x="914400" y="3593592"/>
            <a:ext cx="4846320" cy="777240"/>
          </a:xfrm>
          <a:prstGeom prst="rect">
            <a:avLst/>
          </a:prstGeom>
          <a:noFill/>
        </p:spPr>
        <p:txBody>
          <a:bodyPr wrap="square" lIns="0" rIns="0" tIns="0" bIns="0" anchor="t">
            <a:spAutoFit/>
          </a:bodyPr>
          <a:lstStyle/>
          <a:p>
            <a:pPr algn="l"/>
            <a:r>
              <a:rPr sz="1500" b="0" i="0">
                <a:solidFill>
                  <a:srgbClr val="4F5F74"/>
                </a:solidFill>
                <a:latin typeface="Calibri"/>
              </a:rPr>
              <a:t>One beat moves every two clocks, because a stage holds one beat at a time.</a:t>
            </a:r>
          </a:p>
        </p:txBody>
      </p:sp>
      <p:sp>
        <p:nvSpPr>
          <p:cNvPr id="12" name="Rounded Rectangle 11"/>
          <p:cNvSpPr/>
          <p:nvPr/>
        </p:nvSpPr>
        <p:spPr>
          <a:xfrm>
            <a:off x="6172200" y="2990088"/>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46520" y="3145536"/>
            <a:ext cx="4846320" cy="365760"/>
          </a:xfrm>
          <a:prstGeom prst="rect">
            <a:avLst/>
          </a:prstGeom>
          <a:noFill/>
        </p:spPr>
        <p:txBody>
          <a:bodyPr wrap="square" lIns="0" rIns="0" tIns="0" bIns="0" anchor="t">
            <a:spAutoFit/>
          </a:bodyPr>
          <a:lstStyle/>
          <a:p>
            <a:pPr algn="l"/>
            <a:r>
              <a:rPr sz="1700" b="1" i="0">
                <a:solidFill>
                  <a:srgbClr val="1E2A3B"/>
                </a:solidFill>
                <a:latin typeface="Cambria"/>
              </a:rPr>
              <a:t>Where does the data come from?</a:t>
            </a:r>
          </a:p>
        </p:txBody>
      </p:sp>
      <p:sp>
        <p:nvSpPr>
          <p:cNvPr id="14" name="TextBox 13"/>
          <p:cNvSpPr txBox="1"/>
          <p:nvPr/>
        </p:nvSpPr>
        <p:spPr>
          <a:xfrm>
            <a:off x="6446520" y="3593592"/>
            <a:ext cx="4846320" cy="777240"/>
          </a:xfrm>
          <a:prstGeom prst="rect">
            <a:avLst/>
          </a:prstGeom>
          <a:noFill/>
        </p:spPr>
        <p:txBody>
          <a:bodyPr wrap="square" lIns="0" rIns="0" tIns="0" bIns="0" anchor="t">
            <a:spAutoFit/>
          </a:bodyPr>
          <a:lstStyle/>
          <a:p>
            <a:pPr algn="l"/>
            <a:r>
              <a:rPr sz="1500" b="0" i="0">
                <a:solidFill>
                  <a:srgbClr val="4F5F74"/>
                </a:solidFill>
                <a:latin typeface="Calibri"/>
              </a:rPr>
              <a:t>D flip-flop registers inside the master, set at reset and sent beat by beat.</a:t>
            </a:r>
          </a:p>
        </p:txBody>
      </p:sp>
      <p:sp>
        <p:nvSpPr>
          <p:cNvPr id="15" name="Rounded Rectangle 14"/>
          <p:cNvSpPr/>
          <p:nvPr/>
        </p:nvSpPr>
        <p:spPr>
          <a:xfrm>
            <a:off x="640080" y="4562856"/>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4718304"/>
            <a:ext cx="4846320" cy="365760"/>
          </a:xfrm>
          <a:prstGeom prst="rect">
            <a:avLst/>
          </a:prstGeom>
          <a:noFill/>
        </p:spPr>
        <p:txBody>
          <a:bodyPr wrap="square" lIns="0" rIns="0" tIns="0" bIns="0" anchor="t">
            <a:spAutoFit/>
          </a:bodyPr>
          <a:lstStyle/>
          <a:p>
            <a:pPr algn="l"/>
            <a:r>
              <a:rPr sz="1700" b="1" i="0">
                <a:solidFill>
                  <a:srgbClr val="1E2A3B"/>
                </a:solidFill>
                <a:latin typeface="Cambria"/>
              </a:rPr>
              <a:t>How do we know it worked?</a:t>
            </a:r>
          </a:p>
        </p:txBody>
      </p:sp>
      <p:sp>
        <p:nvSpPr>
          <p:cNvPr id="17" name="TextBox 16"/>
          <p:cNvSpPr txBox="1"/>
          <p:nvPr/>
        </p:nvSpPr>
        <p:spPr>
          <a:xfrm>
            <a:off x="914400" y="5166360"/>
            <a:ext cx="4846320" cy="777240"/>
          </a:xfrm>
          <a:prstGeom prst="rect">
            <a:avLst/>
          </a:prstGeom>
          <a:noFill/>
        </p:spPr>
        <p:txBody>
          <a:bodyPr wrap="square" lIns="0" rIns="0" tIns="0" bIns="0" anchor="t">
            <a:spAutoFit/>
          </a:bodyPr>
          <a:lstStyle/>
          <a:p>
            <a:pPr algn="l"/>
            <a:r>
              <a:rPr sz="1500" b="0" i="0">
                <a:solidFill>
                  <a:srgbClr val="4F5F74"/>
                </a:solidFill>
                <a:latin typeface="Calibri"/>
              </a:rPr>
              <a:t>The master reads the words back and compares. The testbench also checks the slave's memory.</a:t>
            </a:r>
          </a:p>
        </p:txBody>
      </p:sp>
      <p:sp>
        <p:nvSpPr>
          <p:cNvPr id="18" name="Rounded Rectangle 17"/>
          <p:cNvSpPr/>
          <p:nvPr/>
        </p:nvSpPr>
        <p:spPr>
          <a:xfrm>
            <a:off x="6172200" y="4562856"/>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46520" y="4718304"/>
            <a:ext cx="4846320" cy="365760"/>
          </a:xfrm>
          <a:prstGeom prst="rect">
            <a:avLst/>
          </a:prstGeom>
          <a:noFill/>
        </p:spPr>
        <p:txBody>
          <a:bodyPr wrap="square" lIns="0" rIns="0" tIns="0" bIns="0" anchor="t">
            <a:spAutoFit/>
          </a:bodyPr>
          <a:lstStyle/>
          <a:p>
            <a:pPr algn="l"/>
            <a:r>
              <a:rPr sz="1700" b="1" i="0">
                <a:solidFill>
                  <a:srgbClr val="1E2A3B"/>
                </a:solidFill>
                <a:latin typeface="Cambria"/>
              </a:rPr>
              <a:t>How does the slave know the end?</a:t>
            </a:r>
          </a:p>
        </p:txBody>
      </p:sp>
      <p:sp>
        <p:nvSpPr>
          <p:cNvPr id="20" name="TextBox 19"/>
          <p:cNvSpPr txBox="1"/>
          <p:nvPr/>
        </p:nvSpPr>
        <p:spPr>
          <a:xfrm>
            <a:off x="6446520" y="5166360"/>
            <a:ext cx="4846320" cy="777240"/>
          </a:xfrm>
          <a:prstGeom prst="rect">
            <a:avLst/>
          </a:prstGeom>
          <a:noFill/>
        </p:spPr>
        <p:txBody>
          <a:bodyPr wrap="square" lIns="0" rIns="0" tIns="0" bIns="0" anchor="t">
            <a:spAutoFit/>
          </a:bodyPr>
          <a:lstStyle/>
          <a:p>
            <a:pPr algn="l"/>
            <a:r>
              <a:rPr sz="1500" b="0" i="0">
                <a:solidFill>
                  <a:srgbClr val="4F5F74"/>
                </a:solidFill>
                <a:latin typeface="Calibri"/>
              </a:rPr>
              <a:t>On writes, from WLAST. On reads, by counting ARLEN + 1 beats.</a:t>
            </a:r>
          </a:p>
        </p:txBody>
      </p:sp>
      <p:sp>
        <p:nvSpPr>
          <p:cNvPr id="21"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a master, D flip-flop stages and a memory, in Verilog</a:t>
            </a:r>
          </a:p>
        </p:txBody>
      </p:sp>
      <p:sp>
        <p:nvSpPr>
          <p:cNvPr id="22"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