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one-sentence summary: we built both ends of an AXI4 connection in Verilog. A manager that issues bursts, and a subordinate that is a 4 KiB memory. They are connected through five registered channels. Everything shown today comes from the simulation in the project folder, so every number can be reproduced live. The five amber pills are the five AXI channels; we come back to each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The manager is the active side: your logic gives it a simple request and it runs the whole AXI conversation. The subordinate is a small memory that understands that conversation. The flip-flop stages sit between them. Stress that this is full AXI4: bursts, IDs and the LAST signals, not the single-word AXI4-Lite.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AXI separates a transaction into five independent one-way channels, so a read can proceed while a write waits, and a slow response never blocks the next address. A write uses AW for the address, W for the data beats, and B for one response at the end. A read uses AR for the address and R for the data coming back. Notice B and R point the other way.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channel uses the same handshake. The sender raises VALID when its data is real. The receiver raises READY when it can take it. The transfer happens in the one clock cycle where both are high. Two rules keep it safe. First, once VALID is up the data must not change until the handshake completes. Second, a sender may not wait for READY before raising VALID, or two sides could wait on each other forever. Our testbenches check both rules on every run.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burst is one address followed by many beats. LEN says how many beats minus one, SIZE says how wide each beat is, BURST says how the address moves, and LAST marks the final beat so the receiver knows where it ends. The three burst types, starting at 0x208 with four 4-byte beats: INCR counts up. FIXED stays on one address, like pushing into a FIFO register, and the last beat wins. WRAP counts up inside a 16-byte window and loops back to its start; a CPU uses it to fetch a cache line with the needed word first.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Your logic uses a command port and two data streams. The manager turns those into the five AXI channels. Every channel passes through its own amber flip-flop stage. AW, W and AR carry requests forward; B and R carry responses back. Inside the subordinate there is a write engine, a read engine and a 4 KiB memory. The three notes at the bottom are the three design decisions we will justify.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host side of the manager is deliberately simple. You pulse a start signal with a burst description; for a write you push beats into the write stream, for a read you pull them from the read stream. cmd_done is a one-cycle pulse when the burst finishes. Two rules: a start pulse is ignored while cmd_busy is high, and if both starts are high at once the write wins. The manager copies the description into registers, so you may change cmd_addr straight after the pulse.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manager is a five-state machine. IDLE waits for a start and copies the burst description into its own registers. WRITE sends the address and streams the beats together, counting them and raising WLAST on the last; the address and data channels are independent so either may finish first. B waits for the single response. For a read, RADDR sends the address and RDATA passes beats to the host until RLAST. Two decisions to defend: registering the description, and generating WLAST inside the manager.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subordinate has two independent state machines because reads and writes use different channels. The write engine takes the address first and only then raises WREADY, applies WSTRB byte by byte, steps the address per beat, and sends one B response. The read engine fetches the first word on the address handshake and each following word on the previous beat's handshake, which is why beats come out one per clock. Errors: DECERR for an address outside the 4 KiB, SLVERR for a malformed request. Importantly, a failing write is still fully accepted and a failing read still returns every beat, so the manager never hangs.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 asked for the modules to communicate only through flip-flops. A single flip-flop per wire loses data: the receiver's READY arrives one cycle late, so the sender can push a beat the flip-flop has already used. The skid buffer fixes that with a spare slot: if the output is stuck, the next beat parks in the slot and in_ready drops at once, so a third beat can never arrive. Cost: one clock per stage, so two cycles per transaction in total, and throughput stays at one beat per clock.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waveform was recorded from our simulation of the full system with the flip-flop stages: a 4-beat write to address 0x10. Cycle 0, the host pulses start. Cycle 1, AWVALID and WVALID go up together and handshake straight away at the stage. Cycle 2, the address reaches the subordinate, one cycle later: that is the stage. The subordinate raises WREADY only after it has the address, so on the manager side WREADY dips for one cycle at 3 while the stage absorbs the wait. The four beats then flow, WLAST on the fourth, the response arrives at cycle 8 and cmd_done pulses at 9.</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address read back. One address goes out at cycle 2 and reaches the subordinate at 3. The manager raises RREADY as soon as the address is accepted. Data starts arriving at cycle 5 and the four beats come back to back, one per clock, with RLAST on the last at cycle 8; cmd_done at 9. After the first beat there are no gaps: that is the point of fetching the next word on each read handshake.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verified at three levels so that a failure points at one place. Level 1 plays the manager against the subordinate alone and forces awkward cases that a real manager would not produce. Level 2 runs the manager against a mock subordinate whose delays we control, with always-on monitors that fail the test if VALID drops early or any payload bit changes while stalled. Level 3 runs the whole system, once with the flip-flop stages and once without, including a reset in the middle of a burst.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to remember. All 251 checks pass. The flip-flop stages add a fixed two cycles per transaction, which we measured by running the same stimulus with and without them: a 32-beat write took 37 cycles against 35. Thirty-two beats cannot take fewer than 32 cycles, so the extra cycles are the whole cost, and it does not grow with burst length. Throughput stays at one beat per clock.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these before you are asked. One burst at a time per direction, so IDs are echoed but never used to reorder. No exclusive access. Narrow reads return the whole word and the manager picks its lanes. Only the start address is range-checked, which is safe for legal bursts because a legal burst cannot cross a 4 KiB boundary. The host streams inside the manager are a combinational pass-through with a state gate; the flip-flop stages sit immediately after, so the module boundary is clean, but it is not true that every manager output is a flip-flop. A reset in mid-burst discards beats still in the stages.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about two minutes. Open PowerShell in E:\FPGA_Project and run .\run_tests.ps1. It compiles and runs four suites. Point at the three result lines and the summary. Then run the top suite with -Wave to open the waveform in GTKWave and show the same shape as the recorded slides: the one-cycle shift from master side to slave side, and the WREADY dip. If the live run fails for any reason, the slides 11 and 12 are recorded from this exact simulation.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Likely questions with short answers. Why five channels: so address, data and response move independently and in both directions. Why not a single flip-flop: READY arrives late and a beat is lost; the spare slot catches it. Why does the subordinate use WLAST when it knows the length: it cross-checks and reports SLVERR instead of hanging. Why latch the command: the bus payload must stay stable until the handshake completes. What about a bad address mid-burst: the burst is still drained and DECERR is returned once.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033"/>
        </a:solidFill>
        <a:effectLst/>
      </p:bgPr>
    </p:bg>
    <p:spTree>
      <p:nvGrpSpPr>
        <p:cNvPr id="1" name=""/>
        <p:cNvGrpSpPr/>
        <p:nvPr/>
      </p:nvGrpSpPr>
      <p:grpSpPr/>
      <p:sp>
        <p:nvSpPr>
          <p:cNvPr id="2" name="Eyebrow"/>
          <p:cNvSpPr txBox="1"/>
          <p:nvPr/>
        </p:nvSpPr>
        <p:spPr>
          <a:xfrm>
            <a:off x="822960" y="1371600"/>
            <a:ext cx="10058400" cy="365760"/>
          </a:xfrm>
          <a:prstGeom prst="rect">
            <a:avLst/>
          </a:prstGeom>
          <a:noFill/>
        </p:spPr>
        <p:txBody>
          <a:bodyPr wrap="square" lIns="0" rIns="0" tIns="0" bIns="0" anchor="t">
            <a:spAutoFit/>
          </a:bodyPr>
          <a:lstStyle/>
          <a:p>
            <a:pPr algn="l"/>
            <a:r>
              <a:rPr sz="1800" b="1" i="0">
                <a:solidFill>
                  <a:srgbClr val="FFC845"/>
                </a:solidFill>
                <a:latin typeface="Calibri"/>
              </a:rPr>
              <a:t>VIVA DEMONSTRATION</a:t>
            </a:r>
          </a:p>
        </p:txBody>
      </p:sp>
      <p:sp>
        <p:nvSpPr>
          <p:cNvPr id="3" name="Title"/>
          <p:cNvSpPr txBox="1"/>
          <p:nvPr/>
        </p:nvSpPr>
        <p:spPr>
          <a:xfrm>
            <a:off x="822960" y="1874519"/>
            <a:ext cx="10241280" cy="2194560"/>
          </a:xfrm>
          <a:prstGeom prst="rect">
            <a:avLst/>
          </a:prstGeom>
          <a:noFill/>
        </p:spPr>
        <p:txBody>
          <a:bodyPr wrap="square" lIns="0" rIns="0" tIns="0" bIns="0" anchor="t">
            <a:spAutoFit/>
          </a:bodyPr>
          <a:lstStyle/>
          <a:p>
            <a:pPr algn="l"/>
            <a:r>
              <a:rPr sz="6000" b="1" i="0">
                <a:solidFill>
                  <a:srgbClr val="EEF2F8"/>
                </a:solidFill>
                <a:latin typeface="Cambria"/>
              </a:rPr>
              <a:t>AXI4 manager and subordinate in Verilog</a:t>
            </a:r>
          </a:p>
        </p:txBody>
      </p:sp>
      <p:sp>
        <p:nvSpPr>
          <p:cNvPr id="4" name="TextBox 3"/>
          <p:cNvSpPr txBox="1"/>
          <p:nvPr/>
        </p:nvSpPr>
        <p:spPr>
          <a:xfrm>
            <a:off x="822960" y="3886200"/>
            <a:ext cx="9601200" cy="914400"/>
          </a:xfrm>
          <a:prstGeom prst="rect">
            <a:avLst/>
          </a:prstGeom>
          <a:noFill/>
        </p:spPr>
        <p:txBody>
          <a:bodyPr wrap="square" lIns="0" rIns="0" tIns="0" bIns="0" anchor="t">
            <a:spAutoFit/>
          </a:bodyPr>
          <a:lstStyle/>
          <a:p>
            <a:pPr algn="l"/>
            <a:r>
              <a:rPr sz="2400" b="0" i="0">
                <a:solidFill>
                  <a:srgbClr val="B7C3D6"/>
                </a:solidFill>
                <a:latin typeface="Calibri"/>
              </a:rPr>
              <a:t>Burst transfers over five registered channels, with 251 checks passing in simulation.</a:t>
            </a:r>
          </a:p>
        </p:txBody>
      </p:sp>
      <p:sp>
        <p:nvSpPr>
          <p:cNvPr id="5" name="Rounded Rectangle 4"/>
          <p:cNvSpPr/>
          <p:nvPr/>
        </p:nvSpPr>
        <p:spPr>
          <a:xfrm>
            <a:off x="822960" y="4892040"/>
            <a:ext cx="822960" cy="457200"/>
          </a:xfrm>
          <a:prstGeom prst="roundRect">
            <a:avLst>
              <a:gd name="adj" fmla="val 50000"/>
            </a:avLst>
          </a:prstGeom>
          <a:solidFill>
            <a:srgbClr val="FFC845"/>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800" b="1">
                <a:solidFill>
                  <a:srgbClr val="172033"/>
                </a:solidFill>
                <a:latin typeface="Calibri"/>
              </a:rPr>
              <a:t>AW</a:t>
            </a:r>
          </a:p>
        </p:txBody>
      </p:sp>
      <p:sp>
        <p:nvSpPr>
          <p:cNvPr id="6" name="Rounded Rectangle 5"/>
          <p:cNvSpPr/>
          <p:nvPr/>
        </p:nvSpPr>
        <p:spPr>
          <a:xfrm>
            <a:off x="1810512" y="4892040"/>
            <a:ext cx="731520" cy="457200"/>
          </a:xfrm>
          <a:prstGeom prst="roundRect">
            <a:avLst>
              <a:gd name="adj" fmla="val 50000"/>
            </a:avLst>
          </a:prstGeom>
          <a:solidFill>
            <a:srgbClr val="FFC845"/>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800" b="1">
                <a:solidFill>
                  <a:srgbClr val="172033"/>
                </a:solidFill>
                <a:latin typeface="Calibri"/>
              </a:rPr>
              <a:t>W</a:t>
            </a:r>
          </a:p>
        </p:txBody>
      </p:sp>
      <p:sp>
        <p:nvSpPr>
          <p:cNvPr id="7" name="Rounded Rectangle 6"/>
          <p:cNvSpPr/>
          <p:nvPr/>
        </p:nvSpPr>
        <p:spPr>
          <a:xfrm>
            <a:off x="2706624" y="4892040"/>
            <a:ext cx="731520" cy="457200"/>
          </a:xfrm>
          <a:prstGeom prst="roundRect">
            <a:avLst>
              <a:gd name="adj" fmla="val 50000"/>
            </a:avLst>
          </a:prstGeom>
          <a:solidFill>
            <a:srgbClr val="FFC845"/>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800" b="1">
                <a:solidFill>
                  <a:srgbClr val="172033"/>
                </a:solidFill>
                <a:latin typeface="Calibri"/>
              </a:rPr>
              <a:t>B</a:t>
            </a:r>
          </a:p>
        </p:txBody>
      </p:sp>
      <p:sp>
        <p:nvSpPr>
          <p:cNvPr id="8" name="Rounded Rectangle 7"/>
          <p:cNvSpPr/>
          <p:nvPr/>
        </p:nvSpPr>
        <p:spPr>
          <a:xfrm>
            <a:off x="3602736" y="4892040"/>
            <a:ext cx="822960" cy="457200"/>
          </a:xfrm>
          <a:prstGeom prst="roundRect">
            <a:avLst>
              <a:gd name="adj" fmla="val 50000"/>
            </a:avLst>
          </a:prstGeom>
          <a:solidFill>
            <a:srgbClr val="FFC845"/>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800" b="1">
                <a:solidFill>
                  <a:srgbClr val="172033"/>
                </a:solidFill>
                <a:latin typeface="Calibri"/>
              </a:rPr>
              <a:t>AR</a:t>
            </a:r>
          </a:p>
        </p:txBody>
      </p:sp>
      <p:sp>
        <p:nvSpPr>
          <p:cNvPr id="9" name="Rounded Rectangle 8"/>
          <p:cNvSpPr/>
          <p:nvPr/>
        </p:nvSpPr>
        <p:spPr>
          <a:xfrm>
            <a:off x="4590288" y="4892040"/>
            <a:ext cx="731520" cy="457200"/>
          </a:xfrm>
          <a:prstGeom prst="roundRect">
            <a:avLst>
              <a:gd name="adj" fmla="val 50000"/>
            </a:avLst>
          </a:prstGeom>
          <a:solidFill>
            <a:srgbClr val="FFC845"/>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800" b="1">
                <a:solidFill>
                  <a:srgbClr val="172033"/>
                </a:solidFill>
                <a:latin typeface="Calibri"/>
              </a:rPr>
              <a:t>R</a:t>
            </a:r>
          </a:p>
        </p:txBody>
      </p:sp>
      <p:sp>
        <p:nvSpPr>
          <p:cNvPr id="10" name="Presenter"/>
          <p:cNvSpPr txBox="1"/>
          <p:nvPr/>
        </p:nvSpPr>
        <p:spPr>
          <a:xfrm>
            <a:off x="822960" y="6126480"/>
            <a:ext cx="10058400" cy="365760"/>
          </a:xfrm>
          <a:prstGeom prst="rect">
            <a:avLst/>
          </a:prstGeom>
          <a:noFill/>
        </p:spPr>
        <p:txBody>
          <a:bodyPr wrap="square" lIns="0" rIns="0" tIns="0" bIns="0" anchor="t">
            <a:spAutoFit/>
          </a:bodyPr>
          <a:lstStyle/>
          <a:p>
            <a:pPr algn="l"/>
            <a:r>
              <a:rPr sz="1600" b="0" i="0">
                <a:solidFill>
                  <a:srgbClr val="B7C3D6"/>
                </a:solidFill>
                <a:latin typeface="Calibri"/>
              </a:rPr>
              <a:t>[Your name]   ·   [Course and institution]   ·   [Date]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What we built</a:t>
            </a:r>
          </a:p>
        </p:txBody>
      </p:sp>
      <p:sp>
        <p:nvSpPr>
          <p:cNvPr id="3" name="TextBox 2"/>
          <p:cNvSpPr txBox="1"/>
          <p:nvPr/>
        </p:nvSpPr>
        <p:spPr>
          <a:xfrm>
            <a:off x="640080" y="1280160"/>
            <a:ext cx="10881360" cy="457200"/>
          </a:xfrm>
          <a:prstGeom prst="rect">
            <a:avLst/>
          </a:prstGeom>
          <a:noFill/>
        </p:spPr>
        <p:txBody>
          <a:bodyPr wrap="square" lIns="0" rIns="0" tIns="0" bIns="0" anchor="t">
            <a:spAutoFit/>
          </a:bodyPr>
          <a:lstStyle/>
          <a:p>
            <a:pPr algn="l"/>
            <a:r>
              <a:rPr sz="2000" b="0" i="0">
                <a:solidFill>
                  <a:srgbClr val="4F5F74"/>
                </a:solidFill>
                <a:latin typeface="Calibri"/>
              </a:rPr>
              <a:t>Both ends of an AXI4 connection, and the registers between them.</a:t>
            </a:r>
          </a:p>
        </p:txBody>
      </p:sp>
      <p:sp>
        <p:nvSpPr>
          <p:cNvPr id="4" name="Rounded Rectangle 3"/>
          <p:cNvSpPr/>
          <p:nvPr/>
        </p:nvSpPr>
        <p:spPr>
          <a:xfrm>
            <a:off x="640080" y="2057400"/>
            <a:ext cx="3493008" cy="356616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60119" y="2331720"/>
            <a:ext cx="2834640" cy="457200"/>
          </a:xfrm>
          <a:prstGeom prst="rect">
            <a:avLst/>
          </a:prstGeom>
          <a:noFill/>
        </p:spPr>
        <p:txBody>
          <a:bodyPr wrap="square" lIns="0" rIns="0" tIns="0" bIns="0" anchor="t">
            <a:spAutoFit/>
          </a:bodyPr>
          <a:lstStyle/>
          <a:p>
            <a:pPr algn="l"/>
            <a:r>
              <a:rPr sz="2600" b="1" i="0">
                <a:solidFill>
                  <a:srgbClr val="1E2A3B"/>
                </a:solidFill>
                <a:latin typeface="Cambria"/>
              </a:rPr>
              <a:t>Manager</a:t>
            </a:r>
          </a:p>
        </p:txBody>
      </p:sp>
      <p:sp>
        <p:nvSpPr>
          <p:cNvPr id="6" name="TextBox 5"/>
          <p:cNvSpPr txBox="1"/>
          <p:nvPr/>
        </p:nvSpPr>
        <p:spPr>
          <a:xfrm>
            <a:off x="960119" y="2880360"/>
            <a:ext cx="2834640" cy="320040"/>
          </a:xfrm>
          <a:prstGeom prst="rect">
            <a:avLst/>
          </a:prstGeom>
          <a:noFill/>
        </p:spPr>
        <p:txBody>
          <a:bodyPr wrap="square" lIns="0" rIns="0" tIns="0" bIns="0" anchor="t">
            <a:spAutoFit/>
          </a:bodyPr>
          <a:lstStyle/>
          <a:p>
            <a:pPr algn="l"/>
            <a:r>
              <a:rPr sz="1400" b="0" i="0">
                <a:solidFill>
                  <a:srgbClr val="4F5F74"/>
                </a:solidFill>
                <a:latin typeface="Consolas"/>
              </a:rPr>
              <a:t>axi4_master.v</a:t>
            </a:r>
          </a:p>
        </p:txBody>
      </p:sp>
      <p:sp>
        <p:nvSpPr>
          <p:cNvPr id="7" name="TextBox 6"/>
          <p:cNvSpPr txBox="1"/>
          <p:nvPr/>
        </p:nvSpPr>
        <p:spPr>
          <a:xfrm>
            <a:off x="960119" y="3429000"/>
            <a:ext cx="2834640" cy="2011680"/>
          </a:xfrm>
          <a:prstGeom prst="rect">
            <a:avLst/>
          </a:prstGeom>
          <a:noFill/>
        </p:spPr>
        <p:txBody>
          <a:bodyPr wrap="square" lIns="0" rIns="0" tIns="0" bIns="0" anchor="t">
            <a:spAutoFit/>
          </a:bodyPr>
          <a:lstStyle/>
          <a:p>
            <a:pPr algn="l"/>
            <a:r>
              <a:rPr sz="1700" b="0" i="0">
                <a:solidFill>
                  <a:srgbClr val="1E2A3B"/>
                </a:solidFill>
                <a:latin typeface="Calibri"/>
              </a:rPr>
              <a:t>Takes a simple burst request from your logic and runs the full AXI4 exchange: address, data beats, response.</a:t>
            </a:r>
          </a:p>
        </p:txBody>
      </p:sp>
      <p:sp>
        <p:nvSpPr>
          <p:cNvPr id="8" name="Rounded Rectangle 7"/>
          <p:cNvSpPr/>
          <p:nvPr/>
        </p:nvSpPr>
        <p:spPr>
          <a:xfrm>
            <a:off x="4334256" y="2057400"/>
            <a:ext cx="3493008" cy="3566160"/>
          </a:xfrm>
          <a:prstGeom prst="roundRect">
            <a:avLst>
              <a:gd name="adj" fmla="val 6000"/>
            </a:avLst>
          </a:prstGeom>
          <a:solidFill>
            <a:srgbClr val="E6D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654296" y="2331720"/>
            <a:ext cx="2834640" cy="457200"/>
          </a:xfrm>
          <a:prstGeom prst="rect">
            <a:avLst/>
          </a:prstGeom>
          <a:noFill/>
        </p:spPr>
        <p:txBody>
          <a:bodyPr wrap="square" lIns="0" rIns="0" tIns="0" bIns="0" anchor="t">
            <a:spAutoFit/>
          </a:bodyPr>
          <a:lstStyle/>
          <a:p>
            <a:pPr algn="l"/>
            <a:r>
              <a:rPr sz="2600" b="1" i="0">
                <a:solidFill>
                  <a:srgbClr val="1E2A3B"/>
                </a:solidFill>
                <a:latin typeface="Cambria"/>
              </a:rPr>
              <a:t>Subordinate</a:t>
            </a:r>
          </a:p>
        </p:txBody>
      </p:sp>
      <p:sp>
        <p:nvSpPr>
          <p:cNvPr id="10" name="TextBox 9"/>
          <p:cNvSpPr txBox="1"/>
          <p:nvPr/>
        </p:nvSpPr>
        <p:spPr>
          <a:xfrm>
            <a:off x="4654296" y="2880360"/>
            <a:ext cx="2834640" cy="320040"/>
          </a:xfrm>
          <a:prstGeom prst="rect">
            <a:avLst/>
          </a:prstGeom>
          <a:noFill/>
        </p:spPr>
        <p:txBody>
          <a:bodyPr wrap="square" lIns="0" rIns="0" tIns="0" bIns="0" anchor="t">
            <a:spAutoFit/>
          </a:bodyPr>
          <a:lstStyle/>
          <a:p>
            <a:pPr algn="l"/>
            <a:r>
              <a:rPr sz="1400" b="0" i="0">
                <a:solidFill>
                  <a:srgbClr val="4F5F74"/>
                </a:solidFill>
                <a:latin typeface="Consolas"/>
              </a:rPr>
              <a:t>axi4_slave.v</a:t>
            </a:r>
          </a:p>
        </p:txBody>
      </p:sp>
      <p:sp>
        <p:nvSpPr>
          <p:cNvPr id="11" name="TextBox 10"/>
          <p:cNvSpPr txBox="1"/>
          <p:nvPr/>
        </p:nvSpPr>
        <p:spPr>
          <a:xfrm>
            <a:off x="4654296" y="3429000"/>
            <a:ext cx="2834640" cy="2011680"/>
          </a:xfrm>
          <a:prstGeom prst="rect">
            <a:avLst/>
          </a:prstGeom>
          <a:noFill/>
        </p:spPr>
        <p:txBody>
          <a:bodyPr wrap="square" lIns="0" rIns="0" tIns="0" bIns="0" anchor="t">
            <a:spAutoFit/>
          </a:bodyPr>
          <a:lstStyle/>
          <a:p>
            <a:pPr algn="l"/>
            <a:r>
              <a:rPr sz="1700" b="0" i="0">
                <a:solidFill>
                  <a:srgbClr val="1E2A3B"/>
                </a:solidFill>
                <a:latin typeface="Calibri"/>
              </a:rPr>
              <a:t>A 4 KiB memory. Accepts bursts of 1 to 256 beats in FIXED, INCR or WRAP order, and answers OKAY or an error.</a:t>
            </a:r>
          </a:p>
        </p:txBody>
      </p:sp>
      <p:sp>
        <p:nvSpPr>
          <p:cNvPr id="12" name="Rounded Rectangle 11"/>
          <p:cNvSpPr/>
          <p:nvPr/>
        </p:nvSpPr>
        <p:spPr>
          <a:xfrm>
            <a:off x="8028432" y="2057400"/>
            <a:ext cx="3493008" cy="3566160"/>
          </a:xfrm>
          <a:prstGeom prst="roundRect">
            <a:avLst>
              <a:gd name="adj" fmla="val 6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348472" y="2331720"/>
            <a:ext cx="2834640" cy="457200"/>
          </a:xfrm>
          <a:prstGeom prst="rect">
            <a:avLst/>
          </a:prstGeom>
          <a:noFill/>
        </p:spPr>
        <p:txBody>
          <a:bodyPr wrap="square" lIns="0" rIns="0" tIns="0" bIns="0" anchor="t">
            <a:spAutoFit/>
          </a:bodyPr>
          <a:lstStyle/>
          <a:p>
            <a:pPr algn="l"/>
            <a:r>
              <a:rPr sz="2600" b="1" i="0">
                <a:solidFill>
                  <a:srgbClr val="1E2A3B"/>
                </a:solidFill>
                <a:latin typeface="Cambria"/>
              </a:rPr>
              <a:t>Flip-flop stages</a:t>
            </a:r>
          </a:p>
        </p:txBody>
      </p:sp>
      <p:sp>
        <p:nvSpPr>
          <p:cNvPr id="14" name="TextBox 13"/>
          <p:cNvSpPr txBox="1"/>
          <p:nvPr/>
        </p:nvSpPr>
        <p:spPr>
          <a:xfrm>
            <a:off x="8348472" y="2880360"/>
            <a:ext cx="2834640" cy="320040"/>
          </a:xfrm>
          <a:prstGeom prst="rect">
            <a:avLst/>
          </a:prstGeom>
          <a:noFill/>
        </p:spPr>
        <p:txBody>
          <a:bodyPr wrap="square" lIns="0" rIns="0" tIns="0" bIns="0" anchor="t">
            <a:spAutoFit/>
          </a:bodyPr>
          <a:lstStyle/>
          <a:p>
            <a:pPr algn="l"/>
            <a:r>
              <a:rPr sz="1400" b="0" i="0">
                <a:solidFill>
                  <a:srgbClr val="4F5F74"/>
                </a:solidFill>
                <a:latin typeface="Consolas"/>
              </a:rPr>
              <a:t>axi4_skid_buffer.v</a:t>
            </a:r>
          </a:p>
        </p:txBody>
      </p:sp>
      <p:sp>
        <p:nvSpPr>
          <p:cNvPr id="15" name="TextBox 14"/>
          <p:cNvSpPr txBox="1"/>
          <p:nvPr/>
        </p:nvSpPr>
        <p:spPr>
          <a:xfrm>
            <a:off x="8348472" y="3429000"/>
            <a:ext cx="2834640" cy="2011680"/>
          </a:xfrm>
          <a:prstGeom prst="rect">
            <a:avLst/>
          </a:prstGeom>
          <a:noFill/>
        </p:spPr>
        <p:txBody>
          <a:bodyPr wrap="square" lIns="0" rIns="0" tIns="0" bIns="0" anchor="t">
            <a:spAutoFit/>
          </a:bodyPr>
          <a:lstStyle/>
          <a:p>
            <a:pPr algn="l"/>
            <a:r>
              <a:rPr sz="1700" b="0" i="0">
                <a:solidFill>
                  <a:srgbClr val="1E2A3B"/>
                </a:solidFill>
                <a:latin typeface="Calibri"/>
              </a:rPr>
              <a:t>One registered stage per channel, so nothing crosses between the two modules combinationally.</a:t>
            </a:r>
          </a:p>
        </p:txBody>
      </p:sp>
      <p:sp>
        <p:nvSpPr>
          <p:cNvPr id="16" name="TextBox 15"/>
          <p:cNvSpPr txBox="1"/>
          <p:nvPr/>
        </p:nvSpPr>
        <p:spPr>
          <a:xfrm>
            <a:off x="640080" y="5852160"/>
            <a:ext cx="10881360" cy="365760"/>
          </a:xfrm>
          <a:prstGeom prst="rect">
            <a:avLst/>
          </a:prstGeom>
          <a:noFill/>
        </p:spPr>
        <p:txBody>
          <a:bodyPr wrap="square" lIns="0" rIns="0" tIns="0" bIns="0" anchor="t">
            <a:spAutoFit/>
          </a:bodyPr>
          <a:lstStyle/>
          <a:p>
            <a:pPr algn="l"/>
            <a:r>
              <a:rPr sz="1600" b="0" i="1">
                <a:solidFill>
                  <a:srgbClr val="4F5F74"/>
                </a:solidFill>
                <a:latin typeface="Calibri"/>
              </a:rPr>
              <a:t>Full AXI4 rather than AXI4-Lite: bursts, transaction IDs, WLAST and RLAST.</a:t>
            </a:r>
          </a:p>
        </p:txBody>
      </p:sp>
      <p:sp>
        <p:nvSpPr>
          <p:cNvPr id="17"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subordinate and registered channels</a:t>
            </a:r>
          </a:p>
        </p:txBody>
      </p:sp>
      <p:sp>
        <p:nvSpPr>
          <p:cNvPr id="18"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Five independent channels</a:t>
            </a:r>
          </a:p>
        </p:txBody>
      </p:sp>
      <p:sp>
        <p:nvSpPr>
          <p:cNvPr id="3" name="Rounded Rectangle 2"/>
          <p:cNvSpPr/>
          <p:nvPr/>
        </p:nvSpPr>
        <p:spPr>
          <a:xfrm>
            <a:off x="822960" y="1508760"/>
            <a:ext cx="2286000" cy="4526280"/>
          </a:xfrm>
          <a:prstGeom prst="roundRect">
            <a:avLst>
              <a:gd name="adj" fmla="val 6000"/>
            </a:avLst>
          </a:prstGeom>
          <a:solidFill>
            <a:srgbClr val="D6E6FF"/>
          </a:solidFill>
          <a:ln w="19050">
            <a:solidFill>
              <a:srgbClr val="3B6FD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3108960"/>
            <a:ext cx="2286000" cy="731520"/>
          </a:xfrm>
          <a:prstGeom prst="rect">
            <a:avLst/>
          </a:prstGeom>
          <a:noFill/>
        </p:spPr>
        <p:txBody>
          <a:bodyPr wrap="square" lIns="0" rIns="0" tIns="0" bIns="0" anchor="t">
            <a:spAutoFit/>
          </a:bodyPr>
          <a:lstStyle/>
          <a:p>
            <a:pPr algn="ctr"/>
            <a:r>
              <a:rPr sz="2400" b="1" i="0">
                <a:solidFill>
                  <a:srgbClr val="1E2A3B"/>
                </a:solidFill>
                <a:latin typeface="Cambria"/>
              </a:rPr>
              <a:t>Manager</a:t>
            </a:r>
          </a:p>
          <a:p>
            <a:pPr algn="ctr"/>
            <a:r>
              <a:rPr sz="1400" b="0" i="0">
                <a:solidFill>
                  <a:srgbClr val="4F5F74"/>
                </a:solidFill>
                <a:latin typeface="Consolas"/>
              </a:rPr>
              <a:t>axi4_master</a:t>
            </a:r>
          </a:p>
        </p:txBody>
      </p:sp>
      <p:sp>
        <p:nvSpPr>
          <p:cNvPr id="5" name="Rounded Rectangle 4"/>
          <p:cNvSpPr/>
          <p:nvPr/>
        </p:nvSpPr>
        <p:spPr>
          <a:xfrm>
            <a:off x="9079992" y="1508760"/>
            <a:ext cx="2286000" cy="4526280"/>
          </a:xfrm>
          <a:prstGeom prst="roundRect">
            <a:avLst>
              <a:gd name="adj" fmla="val 6000"/>
            </a:avLst>
          </a:prstGeom>
          <a:solidFill>
            <a:srgbClr val="E6DEFA"/>
          </a:solidFill>
          <a:ln w="19050">
            <a:solidFill>
              <a:srgbClr val="7152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079992" y="3108960"/>
            <a:ext cx="2286000" cy="731520"/>
          </a:xfrm>
          <a:prstGeom prst="rect">
            <a:avLst/>
          </a:prstGeom>
          <a:noFill/>
        </p:spPr>
        <p:txBody>
          <a:bodyPr wrap="square" lIns="0" rIns="0" tIns="0" bIns="0" anchor="t">
            <a:spAutoFit/>
          </a:bodyPr>
          <a:lstStyle/>
          <a:p>
            <a:pPr algn="ctr"/>
            <a:r>
              <a:rPr sz="2400" b="1" i="0">
                <a:solidFill>
                  <a:srgbClr val="1E2A3B"/>
                </a:solidFill>
                <a:latin typeface="Cambria"/>
              </a:rPr>
              <a:t>Subordinate</a:t>
            </a:r>
          </a:p>
          <a:p>
            <a:pPr algn="ctr"/>
            <a:r>
              <a:rPr sz="1400" b="0" i="0">
                <a:solidFill>
                  <a:srgbClr val="4F5F74"/>
                </a:solidFill>
                <a:latin typeface="Consolas"/>
              </a:rPr>
              <a:t>axi4_slave</a:t>
            </a:r>
          </a:p>
        </p:txBody>
      </p:sp>
      <p:sp>
        <p:nvSpPr>
          <p:cNvPr id="7" name="TextBox 6"/>
          <p:cNvSpPr txBox="1"/>
          <p:nvPr/>
        </p:nvSpPr>
        <p:spPr>
          <a:xfrm>
            <a:off x="3383280" y="1554480"/>
            <a:ext cx="1828800" cy="274320"/>
          </a:xfrm>
          <a:prstGeom prst="rect">
            <a:avLst/>
          </a:prstGeom>
          <a:noFill/>
        </p:spPr>
        <p:txBody>
          <a:bodyPr wrap="square" lIns="0" rIns="0" tIns="0" bIns="0" anchor="t">
            <a:spAutoFit/>
          </a:bodyPr>
          <a:lstStyle/>
          <a:p>
            <a:pPr algn="l"/>
            <a:r>
              <a:rPr sz="1200" b="1" i="0">
                <a:solidFill>
                  <a:srgbClr val="4F5F74"/>
                </a:solidFill>
                <a:latin typeface="Calibri"/>
              </a:rPr>
              <a:t>WRITE</a:t>
            </a:r>
          </a:p>
        </p:txBody>
      </p:sp>
      <p:sp>
        <p:nvSpPr>
          <p:cNvPr id="8" name="TextBox 7"/>
          <p:cNvSpPr txBox="1"/>
          <p:nvPr/>
        </p:nvSpPr>
        <p:spPr>
          <a:xfrm>
            <a:off x="3383280" y="4160520"/>
            <a:ext cx="1828800" cy="274320"/>
          </a:xfrm>
          <a:prstGeom prst="rect">
            <a:avLst/>
          </a:prstGeom>
          <a:noFill/>
        </p:spPr>
        <p:txBody>
          <a:bodyPr wrap="square" lIns="0" rIns="0" tIns="0" bIns="0" anchor="t">
            <a:spAutoFit/>
          </a:bodyPr>
          <a:lstStyle/>
          <a:p>
            <a:pPr algn="l"/>
            <a:r>
              <a:rPr sz="1200" b="1" i="0">
                <a:solidFill>
                  <a:srgbClr val="4F5F74"/>
                </a:solidFill>
                <a:latin typeface="Calibri"/>
              </a:rPr>
              <a:t>READ</a:t>
            </a:r>
          </a:p>
        </p:txBody>
      </p:sp>
      <p:cxnSp>
        <p:nvCxnSpPr>
          <p:cNvPr id="9" name="Connector 8"/>
          <p:cNvCxnSpPr/>
          <p:nvPr/>
        </p:nvCxnSpPr>
        <p:spPr>
          <a:xfrm>
            <a:off x="3154680" y="2194560"/>
            <a:ext cx="5879592" cy="0"/>
          </a:xfrm>
          <a:prstGeom prst="line">
            <a:avLst/>
          </a:prstGeom>
          <a:ln w="28575">
            <a:solidFill>
              <a:srgbClr val="1E2A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800600" y="1975104"/>
            <a:ext cx="3017520" cy="438912"/>
          </a:xfrm>
          <a:prstGeom prst="roundRect">
            <a:avLst>
              <a:gd name="adj" fmla="val 50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600" b="1">
                <a:solidFill>
                  <a:srgbClr val="1E2A3B"/>
                </a:solidFill>
                <a:latin typeface="Calibri"/>
              </a:rPr>
              <a:t>AW   write address</a:t>
            </a:r>
          </a:p>
        </p:txBody>
      </p:sp>
      <p:cxnSp>
        <p:nvCxnSpPr>
          <p:cNvPr id="11" name="Connector 10"/>
          <p:cNvCxnSpPr/>
          <p:nvPr/>
        </p:nvCxnSpPr>
        <p:spPr>
          <a:xfrm>
            <a:off x="3154680" y="2971800"/>
            <a:ext cx="5879592" cy="0"/>
          </a:xfrm>
          <a:prstGeom prst="line">
            <a:avLst/>
          </a:prstGeom>
          <a:ln w="28575">
            <a:solidFill>
              <a:srgbClr val="1E2A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800600" y="2752344"/>
            <a:ext cx="3017520" cy="438912"/>
          </a:xfrm>
          <a:prstGeom prst="roundRect">
            <a:avLst>
              <a:gd name="adj" fmla="val 50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600" b="1">
                <a:solidFill>
                  <a:srgbClr val="1E2A3B"/>
                </a:solidFill>
                <a:latin typeface="Calibri"/>
              </a:rPr>
              <a:t>W   write data</a:t>
            </a:r>
          </a:p>
        </p:txBody>
      </p:sp>
      <p:cxnSp>
        <p:nvCxnSpPr>
          <p:cNvPr id="13" name="Connector 12"/>
          <p:cNvCxnSpPr/>
          <p:nvPr/>
        </p:nvCxnSpPr>
        <p:spPr>
          <a:xfrm flipH="1">
            <a:off x="3154680" y="3749039"/>
            <a:ext cx="5879592" cy="0"/>
          </a:xfrm>
          <a:prstGeom prst="line">
            <a:avLst/>
          </a:prstGeom>
          <a:ln w="28575">
            <a:solidFill>
              <a:srgbClr val="1E2A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800600" y="3529583"/>
            <a:ext cx="3017520" cy="438912"/>
          </a:xfrm>
          <a:prstGeom prst="roundRect">
            <a:avLst>
              <a:gd name="adj" fmla="val 50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600" b="1">
                <a:solidFill>
                  <a:srgbClr val="1E2A3B"/>
                </a:solidFill>
                <a:latin typeface="Calibri"/>
              </a:rPr>
              <a:t>B   write response</a:t>
            </a:r>
          </a:p>
        </p:txBody>
      </p:sp>
      <p:cxnSp>
        <p:nvCxnSpPr>
          <p:cNvPr id="15" name="Connector 14"/>
          <p:cNvCxnSpPr/>
          <p:nvPr/>
        </p:nvCxnSpPr>
        <p:spPr>
          <a:xfrm>
            <a:off x="3154680" y="4754880"/>
            <a:ext cx="5879592" cy="0"/>
          </a:xfrm>
          <a:prstGeom prst="line">
            <a:avLst/>
          </a:prstGeom>
          <a:ln w="28575">
            <a:solidFill>
              <a:srgbClr val="1E2A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800600" y="4535424"/>
            <a:ext cx="3017520" cy="438912"/>
          </a:xfrm>
          <a:prstGeom prst="roundRect">
            <a:avLst>
              <a:gd name="adj" fmla="val 50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600" b="1">
                <a:solidFill>
                  <a:srgbClr val="1E2A3B"/>
                </a:solidFill>
                <a:latin typeface="Calibri"/>
              </a:rPr>
              <a:t>AR   read address</a:t>
            </a:r>
          </a:p>
        </p:txBody>
      </p:sp>
      <p:cxnSp>
        <p:nvCxnSpPr>
          <p:cNvPr id="17" name="Connector 16"/>
          <p:cNvCxnSpPr/>
          <p:nvPr/>
        </p:nvCxnSpPr>
        <p:spPr>
          <a:xfrm flipH="1">
            <a:off x="3154680" y="5532120"/>
            <a:ext cx="5879592" cy="0"/>
          </a:xfrm>
          <a:prstGeom prst="line">
            <a:avLst/>
          </a:prstGeom>
          <a:ln w="28575">
            <a:solidFill>
              <a:srgbClr val="1E2A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4800600" y="5312664"/>
            <a:ext cx="3017520" cy="438912"/>
          </a:xfrm>
          <a:prstGeom prst="roundRect">
            <a:avLst>
              <a:gd name="adj" fmla="val 50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lIns="73152" rIns="73152" tIns="0" bIns="0"/>
          <a:lstStyle/>
          <a:p>
            <a:pPr algn="ctr"/>
            <a:r>
              <a:rPr sz="1600" b="1">
                <a:solidFill>
                  <a:srgbClr val="1E2A3B"/>
                </a:solidFill>
                <a:latin typeface="Calibri"/>
              </a:rPr>
              <a:t>R   read data</a:t>
            </a:r>
          </a:p>
        </p:txBody>
      </p:sp>
      <p:sp>
        <p:nvSpPr>
          <p:cNvPr id="19"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subordinate and registered channels</a:t>
            </a:r>
          </a:p>
        </p:txBody>
      </p:sp>
      <p:sp>
        <p:nvSpPr>
          <p:cNvPr id="20"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The VALID and READY handshake</a:t>
            </a:r>
          </a:p>
        </p:txBody>
      </p:sp>
      <p:sp>
        <p:nvSpPr>
          <p:cNvPr id="3" name="Rounded Rectangle 2"/>
          <p:cNvSpPr/>
          <p:nvPr/>
        </p:nvSpPr>
        <p:spPr>
          <a:xfrm>
            <a:off x="640080" y="1508760"/>
            <a:ext cx="5120640" cy="201168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1691640"/>
            <a:ext cx="4572000" cy="365760"/>
          </a:xfrm>
          <a:prstGeom prst="rect">
            <a:avLst/>
          </a:prstGeom>
          <a:noFill/>
        </p:spPr>
        <p:txBody>
          <a:bodyPr wrap="square" lIns="0" rIns="0" tIns="0" bIns="0" anchor="t">
            <a:spAutoFit/>
          </a:bodyPr>
          <a:lstStyle/>
          <a:p>
            <a:pPr algn="l"/>
            <a:r>
              <a:rPr sz="2000" b="1" i="0">
                <a:solidFill>
                  <a:srgbClr val="1E2A3B"/>
                </a:solidFill>
                <a:latin typeface="Cambria"/>
              </a:rPr>
              <a:t>Transfer</a:t>
            </a:r>
          </a:p>
        </p:txBody>
      </p:sp>
      <p:sp>
        <p:nvSpPr>
          <p:cNvPr id="5" name="TextBox 4"/>
          <p:cNvSpPr txBox="1"/>
          <p:nvPr/>
        </p:nvSpPr>
        <p:spPr>
          <a:xfrm>
            <a:off x="914400" y="2148840"/>
            <a:ext cx="4572000" cy="1280160"/>
          </a:xfrm>
          <a:prstGeom prst="rect">
            <a:avLst/>
          </a:prstGeom>
          <a:noFill/>
        </p:spPr>
        <p:txBody>
          <a:bodyPr wrap="square" lIns="0" rIns="0" tIns="0" bIns="0" anchor="t">
            <a:spAutoFit/>
          </a:bodyPr>
          <a:lstStyle/>
          <a:p>
            <a:pPr algn="l"/>
            <a:r>
              <a:rPr sz="1600" b="0" i="0">
                <a:solidFill>
                  <a:srgbClr val="1E2A3B"/>
                </a:solidFill>
                <a:latin typeface="Calibri"/>
              </a:rPr>
              <a:t>The sender raises VALID when its data is real. The receiver raises READY when it can take it. The transfer happens in the cycle where both are high.</a:t>
            </a:r>
          </a:p>
        </p:txBody>
      </p:sp>
      <p:sp>
        <p:nvSpPr>
          <p:cNvPr id="6" name="Rounded Rectangle 5"/>
          <p:cNvSpPr/>
          <p:nvPr/>
        </p:nvSpPr>
        <p:spPr>
          <a:xfrm>
            <a:off x="640080" y="3703320"/>
            <a:ext cx="5120640" cy="23774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14400" y="3886200"/>
            <a:ext cx="4572000" cy="365760"/>
          </a:xfrm>
          <a:prstGeom prst="rect">
            <a:avLst/>
          </a:prstGeom>
          <a:noFill/>
        </p:spPr>
        <p:txBody>
          <a:bodyPr wrap="square" lIns="0" rIns="0" tIns="0" bIns="0" anchor="t">
            <a:spAutoFit/>
          </a:bodyPr>
          <a:lstStyle/>
          <a:p>
            <a:pPr algn="l"/>
            <a:r>
              <a:rPr sz="2000" b="1" i="0">
                <a:solidFill>
                  <a:srgbClr val="1E2A3B"/>
                </a:solidFill>
                <a:latin typeface="Cambria"/>
              </a:rPr>
              <a:t>Two rules</a:t>
            </a:r>
          </a:p>
        </p:txBody>
      </p:sp>
      <p:sp>
        <p:nvSpPr>
          <p:cNvPr id="8" name="TextBox 7"/>
          <p:cNvSpPr txBox="1"/>
          <p:nvPr/>
        </p:nvSpPr>
        <p:spPr>
          <a:xfrm>
            <a:off x="914400" y="4343400"/>
            <a:ext cx="4572000" cy="1645920"/>
          </a:xfrm>
          <a:prstGeom prst="rect">
            <a:avLst/>
          </a:prstGeom>
          <a:noFill/>
        </p:spPr>
        <p:txBody>
          <a:bodyPr wrap="square" lIns="0" rIns="0" tIns="0" bIns="0" anchor="t">
            <a:spAutoFit/>
          </a:bodyPr>
          <a:lstStyle/>
          <a:p>
            <a:pPr algn="l">
              <a:spcAft>
                <a:spcPts val="800"/>
              </a:spcAft>
            </a:pPr>
            <a:r>
              <a:rPr sz="1600" b="0" i="0">
                <a:solidFill>
                  <a:srgbClr val="1E2A3B"/>
                </a:solidFill>
                <a:latin typeface="Calibri"/>
              </a:rPr>
              <a:t>Once VALID is up, the data and VALID stay put until the handshake completes.</a:t>
            </a:r>
          </a:p>
          <a:p>
            <a:pPr algn="l">
              <a:spcAft>
                <a:spcPts val="0"/>
              </a:spcAft>
            </a:pPr>
            <a:r>
              <a:rPr sz="1600" b="0" i="0">
                <a:solidFill>
                  <a:srgbClr val="1E2A3B"/>
                </a:solidFill>
                <a:latin typeface="Calibri"/>
              </a:rPr>
              <a:t>A sender may not wait for READY before raising VALID.</a:t>
            </a:r>
          </a:p>
        </p:txBody>
      </p:sp>
      <p:sp>
        <p:nvSpPr>
          <p:cNvPr id="9" name="Rounded Rectangle 8"/>
          <p:cNvSpPr/>
          <p:nvPr/>
        </p:nvSpPr>
        <p:spPr>
          <a:xfrm>
            <a:off x="5943600" y="1508760"/>
            <a:ext cx="5605272" cy="45720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17920" y="1645920"/>
            <a:ext cx="2743200" cy="320040"/>
          </a:xfrm>
          <a:prstGeom prst="rect">
            <a:avLst/>
          </a:prstGeom>
          <a:noFill/>
        </p:spPr>
        <p:txBody>
          <a:bodyPr wrap="square" lIns="0" rIns="0" tIns="0" bIns="0" anchor="t">
            <a:spAutoFit/>
          </a:bodyPr>
          <a:lstStyle/>
          <a:p>
            <a:pPr algn="l"/>
            <a:r>
              <a:rPr sz="1400" b="0" i="0">
                <a:solidFill>
                  <a:srgbClr val="4F5F74"/>
                </a:solidFill>
                <a:latin typeface="Calibri"/>
              </a:rPr>
              <a:t>One transfer, cycle by cycle</a:t>
            </a:r>
          </a:p>
        </p:txBody>
      </p:sp>
      <p:cxnSp>
        <p:nvCxnSpPr>
          <p:cNvPr id="11" name="Connector 10"/>
          <p:cNvCxnSpPr/>
          <p:nvPr/>
        </p:nvCxnSpPr>
        <p:spPr>
          <a:xfrm>
            <a:off x="7086600" y="2103120"/>
            <a:ext cx="0" cy="3063240"/>
          </a:xfrm>
          <a:prstGeom prst="line">
            <a:avLst/>
          </a:prstGeom>
          <a:ln w="12700">
            <a:solidFill>
              <a:srgbClr val="D5DCE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086600" y="1828800"/>
            <a:ext cx="640080" cy="274320"/>
          </a:xfrm>
          <a:prstGeom prst="rect">
            <a:avLst/>
          </a:prstGeom>
          <a:noFill/>
        </p:spPr>
        <p:txBody>
          <a:bodyPr wrap="square" lIns="0" rIns="0" tIns="0" bIns="0" anchor="t">
            <a:spAutoFit/>
          </a:bodyPr>
          <a:lstStyle/>
          <a:p>
            <a:pPr algn="ctr"/>
            <a:r>
              <a:rPr sz="1200" b="0" i="0">
                <a:solidFill>
                  <a:srgbClr val="4F5F74"/>
                </a:solidFill>
                <a:latin typeface="Calibri"/>
              </a:rPr>
              <a:t>0</a:t>
            </a:r>
          </a:p>
        </p:txBody>
      </p:sp>
      <p:cxnSp>
        <p:nvCxnSpPr>
          <p:cNvPr id="13" name="Connector 12"/>
          <p:cNvCxnSpPr/>
          <p:nvPr/>
        </p:nvCxnSpPr>
        <p:spPr>
          <a:xfrm>
            <a:off x="7726679" y="2103120"/>
            <a:ext cx="0" cy="3063240"/>
          </a:xfrm>
          <a:prstGeom prst="line">
            <a:avLst/>
          </a:prstGeom>
          <a:ln w="12700">
            <a:solidFill>
              <a:srgbClr val="D5DCE6"/>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726679" y="1828800"/>
            <a:ext cx="640080" cy="274320"/>
          </a:xfrm>
          <a:prstGeom prst="rect">
            <a:avLst/>
          </a:prstGeom>
          <a:noFill/>
        </p:spPr>
        <p:txBody>
          <a:bodyPr wrap="square" lIns="0" rIns="0" tIns="0" bIns="0" anchor="t">
            <a:spAutoFit/>
          </a:bodyPr>
          <a:lstStyle/>
          <a:p>
            <a:pPr algn="ctr"/>
            <a:r>
              <a:rPr sz="1200" b="0" i="0">
                <a:solidFill>
                  <a:srgbClr val="4F5F74"/>
                </a:solidFill>
                <a:latin typeface="Calibri"/>
              </a:rPr>
              <a:t>1</a:t>
            </a:r>
          </a:p>
        </p:txBody>
      </p:sp>
      <p:cxnSp>
        <p:nvCxnSpPr>
          <p:cNvPr id="15" name="Connector 14"/>
          <p:cNvCxnSpPr/>
          <p:nvPr/>
        </p:nvCxnSpPr>
        <p:spPr>
          <a:xfrm>
            <a:off x="8366760" y="2103120"/>
            <a:ext cx="0" cy="3063240"/>
          </a:xfrm>
          <a:prstGeom prst="line">
            <a:avLst/>
          </a:prstGeom>
          <a:ln w="12700">
            <a:solidFill>
              <a:srgbClr val="D5DCE6"/>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366760" y="1828800"/>
            <a:ext cx="640080" cy="274320"/>
          </a:xfrm>
          <a:prstGeom prst="rect">
            <a:avLst/>
          </a:prstGeom>
          <a:noFill/>
        </p:spPr>
        <p:txBody>
          <a:bodyPr wrap="square" lIns="0" rIns="0" tIns="0" bIns="0" anchor="t">
            <a:spAutoFit/>
          </a:bodyPr>
          <a:lstStyle/>
          <a:p>
            <a:pPr algn="ctr"/>
            <a:r>
              <a:rPr sz="1200" b="0" i="0">
                <a:solidFill>
                  <a:srgbClr val="4F5F74"/>
                </a:solidFill>
                <a:latin typeface="Calibri"/>
              </a:rPr>
              <a:t>2</a:t>
            </a:r>
          </a:p>
        </p:txBody>
      </p:sp>
      <p:cxnSp>
        <p:nvCxnSpPr>
          <p:cNvPr id="17" name="Connector 16"/>
          <p:cNvCxnSpPr/>
          <p:nvPr/>
        </p:nvCxnSpPr>
        <p:spPr>
          <a:xfrm>
            <a:off x="9006840" y="2103120"/>
            <a:ext cx="0" cy="3063240"/>
          </a:xfrm>
          <a:prstGeom prst="line">
            <a:avLst/>
          </a:prstGeom>
          <a:ln w="12700">
            <a:solidFill>
              <a:srgbClr val="D5DCE6"/>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9006840" y="1828800"/>
            <a:ext cx="640080" cy="274320"/>
          </a:xfrm>
          <a:prstGeom prst="rect">
            <a:avLst/>
          </a:prstGeom>
          <a:noFill/>
        </p:spPr>
        <p:txBody>
          <a:bodyPr wrap="square" lIns="0" rIns="0" tIns="0" bIns="0" anchor="t">
            <a:spAutoFit/>
          </a:bodyPr>
          <a:lstStyle/>
          <a:p>
            <a:pPr algn="ctr"/>
            <a:r>
              <a:rPr sz="1200" b="0" i="0">
                <a:solidFill>
                  <a:srgbClr val="4F5F74"/>
                </a:solidFill>
                <a:latin typeface="Calibri"/>
              </a:rPr>
              <a:t>3</a:t>
            </a:r>
          </a:p>
        </p:txBody>
      </p:sp>
      <p:cxnSp>
        <p:nvCxnSpPr>
          <p:cNvPr id="19" name="Connector 18"/>
          <p:cNvCxnSpPr/>
          <p:nvPr/>
        </p:nvCxnSpPr>
        <p:spPr>
          <a:xfrm>
            <a:off x="9646920" y="2103120"/>
            <a:ext cx="0" cy="3063240"/>
          </a:xfrm>
          <a:prstGeom prst="line">
            <a:avLst/>
          </a:prstGeom>
          <a:ln w="12700">
            <a:solidFill>
              <a:srgbClr val="D5DCE6"/>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9646920" y="1828800"/>
            <a:ext cx="640080" cy="274320"/>
          </a:xfrm>
          <a:prstGeom prst="rect">
            <a:avLst/>
          </a:prstGeom>
          <a:noFill/>
        </p:spPr>
        <p:txBody>
          <a:bodyPr wrap="square" lIns="0" rIns="0" tIns="0" bIns="0" anchor="t">
            <a:spAutoFit/>
          </a:bodyPr>
          <a:lstStyle/>
          <a:p>
            <a:pPr algn="ctr"/>
            <a:r>
              <a:rPr sz="1200" b="0" i="0">
                <a:solidFill>
                  <a:srgbClr val="4F5F74"/>
                </a:solidFill>
                <a:latin typeface="Calibri"/>
              </a:rPr>
              <a:t>4</a:t>
            </a:r>
          </a:p>
        </p:txBody>
      </p:sp>
      <p:cxnSp>
        <p:nvCxnSpPr>
          <p:cNvPr id="21" name="Connector 20"/>
          <p:cNvCxnSpPr/>
          <p:nvPr/>
        </p:nvCxnSpPr>
        <p:spPr>
          <a:xfrm>
            <a:off x="10287000" y="2103120"/>
            <a:ext cx="0" cy="3063240"/>
          </a:xfrm>
          <a:prstGeom prst="line">
            <a:avLst/>
          </a:prstGeom>
          <a:ln w="12700">
            <a:solidFill>
              <a:srgbClr val="D5DCE6"/>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0287000" y="1828800"/>
            <a:ext cx="640080" cy="274320"/>
          </a:xfrm>
          <a:prstGeom prst="rect">
            <a:avLst/>
          </a:prstGeom>
          <a:noFill/>
        </p:spPr>
        <p:txBody>
          <a:bodyPr wrap="square" lIns="0" rIns="0" tIns="0" bIns="0" anchor="t">
            <a:spAutoFit/>
          </a:bodyPr>
          <a:lstStyle/>
          <a:p>
            <a:pPr algn="ctr"/>
            <a:r>
              <a:rPr sz="1200" b="0" i="0">
                <a:solidFill>
                  <a:srgbClr val="4F5F74"/>
                </a:solidFill>
                <a:latin typeface="Calibri"/>
              </a:rPr>
              <a:t>5</a:t>
            </a:r>
          </a:p>
        </p:txBody>
      </p:sp>
      <p:sp>
        <p:nvSpPr>
          <p:cNvPr id="23" name="TextBox 22"/>
          <p:cNvSpPr txBox="1"/>
          <p:nvPr/>
        </p:nvSpPr>
        <p:spPr>
          <a:xfrm>
            <a:off x="6217920" y="2560320"/>
            <a:ext cx="822960" cy="365760"/>
          </a:xfrm>
          <a:prstGeom prst="rect">
            <a:avLst/>
          </a:prstGeom>
          <a:noFill/>
        </p:spPr>
        <p:txBody>
          <a:bodyPr wrap="square" lIns="0" rIns="0" tIns="0" bIns="0" anchor="t">
            <a:spAutoFit/>
          </a:bodyPr>
          <a:lstStyle/>
          <a:p>
            <a:pPr algn="l"/>
            <a:r>
              <a:rPr sz="1400" b="1" i="0">
                <a:solidFill>
                  <a:srgbClr val="1E2A3B"/>
                </a:solidFill>
                <a:latin typeface="Consolas"/>
              </a:rPr>
              <a:t>CLK</a:t>
            </a:r>
          </a:p>
        </p:txBody>
      </p:sp>
      <p:cxnSp>
        <p:nvCxnSpPr>
          <p:cNvPr id="24" name="Connector 23"/>
          <p:cNvCxnSpPr/>
          <p:nvPr/>
        </p:nvCxnSpPr>
        <p:spPr>
          <a:xfrm>
            <a:off x="7086600" y="25146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406640"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406640" y="2971800"/>
            <a:ext cx="320039"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7726679"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26679" y="25146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8046719"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046719" y="29718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366759"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366760" y="25146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8686800"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8686800" y="29718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9006840"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9006840" y="25146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9326880"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9326880" y="2971800"/>
            <a:ext cx="320039"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9646919"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9646920" y="25146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9966960"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966960" y="29718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10287000"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287000" y="25146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607040" y="251460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607040" y="2971800"/>
            <a:ext cx="32004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6217920" y="3383280"/>
            <a:ext cx="822960" cy="365760"/>
          </a:xfrm>
          <a:prstGeom prst="rect">
            <a:avLst/>
          </a:prstGeom>
          <a:noFill/>
        </p:spPr>
        <p:txBody>
          <a:bodyPr wrap="square" lIns="0" rIns="0" tIns="0" bIns="0" anchor="t">
            <a:spAutoFit/>
          </a:bodyPr>
          <a:lstStyle/>
          <a:p>
            <a:pPr algn="l"/>
            <a:r>
              <a:rPr sz="1400" b="1" i="0">
                <a:solidFill>
                  <a:srgbClr val="1E2A3B"/>
                </a:solidFill>
                <a:latin typeface="Consolas"/>
              </a:rPr>
              <a:t>VALID</a:t>
            </a:r>
          </a:p>
        </p:txBody>
      </p:sp>
      <p:cxnSp>
        <p:nvCxnSpPr>
          <p:cNvPr id="48" name="Connector 47"/>
          <p:cNvCxnSpPr/>
          <p:nvPr/>
        </p:nvCxnSpPr>
        <p:spPr>
          <a:xfrm>
            <a:off x="7086600" y="3794760"/>
            <a:ext cx="640079"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7726679" y="333756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7726679" y="3337560"/>
            <a:ext cx="64008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366760" y="3337560"/>
            <a:ext cx="64008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9006840" y="3337560"/>
            <a:ext cx="640079"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9646920" y="333756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9646920" y="3794760"/>
            <a:ext cx="64008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0287000" y="3794760"/>
            <a:ext cx="64008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sp>
        <p:nvSpPr>
          <p:cNvPr id="56" name="TextBox 55"/>
          <p:cNvSpPr txBox="1"/>
          <p:nvPr/>
        </p:nvSpPr>
        <p:spPr>
          <a:xfrm>
            <a:off x="6217920" y="4206240"/>
            <a:ext cx="822960" cy="365760"/>
          </a:xfrm>
          <a:prstGeom prst="rect">
            <a:avLst/>
          </a:prstGeom>
          <a:noFill/>
        </p:spPr>
        <p:txBody>
          <a:bodyPr wrap="square" lIns="0" rIns="0" tIns="0" bIns="0" anchor="t">
            <a:spAutoFit/>
          </a:bodyPr>
          <a:lstStyle/>
          <a:p>
            <a:pPr algn="l"/>
            <a:r>
              <a:rPr sz="1400" b="1" i="0">
                <a:solidFill>
                  <a:srgbClr val="1E2A3B"/>
                </a:solidFill>
                <a:latin typeface="Consolas"/>
              </a:rPr>
              <a:t>READY</a:t>
            </a:r>
          </a:p>
        </p:txBody>
      </p:sp>
      <p:cxnSp>
        <p:nvCxnSpPr>
          <p:cNvPr id="57" name="Connector 56"/>
          <p:cNvCxnSpPr/>
          <p:nvPr/>
        </p:nvCxnSpPr>
        <p:spPr>
          <a:xfrm>
            <a:off x="7086600" y="4617720"/>
            <a:ext cx="640079"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7726679" y="4617720"/>
            <a:ext cx="64008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8366760" y="4617720"/>
            <a:ext cx="64008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9006840" y="416052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9006840" y="4160520"/>
            <a:ext cx="640079"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9646920" y="4160520"/>
            <a:ext cx="64008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287000" y="4160520"/>
            <a:ext cx="0" cy="45720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0287000" y="4617720"/>
            <a:ext cx="640080" cy="0"/>
          </a:xfrm>
          <a:prstGeom prst="line">
            <a:avLst/>
          </a:prstGeom>
          <a:ln w="28575">
            <a:solidFill>
              <a:srgbClr val="3B6FD0"/>
            </a:solidFill>
          </a:ln>
        </p:spPr>
        <p:style>
          <a:lnRef idx="2">
            <a:schemeClr val="accent1"/>
          </a:lnRef>
          <a:fillRef idx="0">
            <a:schemeClr val="accent1"/>
          </a:fillRef>
          <a:effectRef idx="1">
            <a:schemeClr val="accent1"/>
          </a:effectRef>
          <a:fontRef idx="minor">
            <a:schemeClr val="tx1"/>
          </a:fontRef>
        </p:style>
      </p:cxnSp>
      <p:sp>
        <p:nvSpPr>
          <p:cNvPr id="65" name="Oval 64"/>
          <p:cNvSpPr/>
          <p:nvPr/>
        </p:nvSpPr>
        <p:spPr>
          <a:xfrm>
            <a:off x="9208007" y="3218688"/>
            <a:ext cx="237744" cy="237744"/>
          </a:xfrm>
          <a:prstGeom prst="ellipse">
            <a:avLst/>
          </a:prstGeom>
          <a:solidFill>
            <a:srgbClr val="FFC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Box 65"/>
          <p:cNvSpPr txBox="1"/>
          <p:nvPr/>
        </p:nvSpPr>
        <p:spPr>
          <a:xfrm>
            <a:off x="6217920" y="5212080"/>
            <a:ext cx="5120640" cy="640080"/>
          </a:xfrm>
          <a:prstGeom prst="rect">
            <a:avLst/>
          </a:prstGeom>
          <a:noFill/>
        </p:spPr>
        <p:txBody>
          <a:bodyPr wrap="square" lIns="0" rIns="0" tIns="0" bIns="0" anchor="t">
            <a:spAutoFit/>
          </a:bodyPr>
          <a:lstStyle/>
          <a:p>
            <a:pPr algn="l"/>
            <a:r>
              <a:rPr sz="1400" b="0" i="0">
                <a:solidFill>
                  <a:srgbClr val="4F5F74"/>
                </a:solidFill>
                <a:latin typeface="Calibri"/>
              </a:rPr>
              <a:t>Amber dot: cycle 3 is the only cycle where VALID and READY are both high, so that is where the transfer happens.</a:t>
            </a:r>
          </a:p>
        </p:txBody>
      </p:sp>
      <p:sp>
        <p:nvSpPr>
          <p:cNvPr id="67"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subordinate and registered channels</a:t>
            </a:r>
          </a:p>
        </p:txBody>
      </p:sp>
      <p:sp>
        <p:nvSpPr>
          <p:cNvPr id="68"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What a burst is made of</a:t>
            </a:r>
          </a:p>
        </p:txBody>
      </p:sp>
      <p:sp>
        <p:nvSpPr>
          <p:cNvPr id="3" name="Rounded Rectangle 2"/>
          <p:cNvSpPr/>
          <p:nvPr/>
        </p:nvSpPr>
        <p:spPr>
          <a:xfrm>
            <a:off x="640080" y="1417320"/>
            <a:ext cx="2606040" cy="86868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59" y="1508760"/>
            <a:ext cx="2286000" cy="365760"/>
          </a:xfrm>
          <a:prstGeom prst="rect">
            <a:avLst/>
          </a:prstGeom>
          <a:noFill/>
        </p:spPr>
        <p:txBody>
          <a:bodyPr wrap="square" lIns="0" rIns="0" tIns="0" bIns="0" anchor="t">
            <a:spAutoFit/>
          </a:bodyPr>
          <a:lstStyle/>
          <a:p>
            <a:pPr algn="l"/>
            <a:r>
              <a:rPr sz="1800" b="1" i="0">
                <a:solidFill>
                  <a:srgbClr val="3B6FD0"/>
                </a:solidFill>
                <a:latin typeface="Consolas"/>
              </a:rPr>
              <a:t>LEN</a:t>
            </a:r>
          </a:p>
        </p:txBody>
      </p:sp>
      <p:sp>
        <p:nvSpPr>
          <p:cNvPr id="5" name="TextBox 4"/>
          <p:cNvSpPr txBox="1"/>
          <p:nvPr/>
        </p:nvSpPr>
        <p:spPr>
          <a:xfrm>
            <a:off x="822959" y="1874519"/>
            <a:ext cx="2286000" cy="365760"/>
          </a:xfrm>
          <a:prstGeom prst="rect">
            <a:avLst/>
          </a:prstGeom>
          <a:noFill/>
        </p:spPr>
        <p:txBody>
          <a:bodyPr wrap="square" lIns="0" rIns="0" tIns="0" bIns="0" anchor="t">
            <a:spAutoFit/>
          </a:bodyPr>
          <a:lstStyle/>
          <a:p>
            <a:pPr algn="l"/>
            <a:r>
              <a:rPr sz="1500" b="0" i="0">
                <a:solidFill>
                  <a:srgbClr val="1E2A3B"/>
                </a:solidFill>
                <a:latin typeface="Calibri"/>
              </a:rPr>
              <a:t>beats minus 1</a:t>
            </a:r>
          </a:p>
        </p:txBody>
      </p:sp>
      <p:sp>
        <p:nvSpPr>
          <p:cNvPr id="6" name="Rounded Rectangle 5"/>
          <p:cNvSpPr/>
          <p:nvPr/>
        </p:nvSpPr>
        <p:spPr>
          <a:xfrm>
            <a:off x="3401568" y="1417320"/>
            <a:ext cx="2606040" cy="86868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3584448" y="1508760"/>
            <a:ext cx="2286000" cy="365760"/>
          </a:xfrm>
          <a:prstGeom prst="rect">
            <a:avLst/>
          </a:prstGeom>
          <a:noFill/>
        </p:spPr>
        <p:txBody>
          <a:bodyPr wrap="square" lIns="0" rIns="0" tIns="0" bIns="0" anchor="t">
            <a:spAutoFit/>
          </a:bodyPr>
          <a:lstStyle/>
          <a:p>
            <a:pPr algn="l"/>
            <a:r>
              <a:rPr sz="1800" b="1" i="0">
                <a:solidFill>
                  <a:srgbClr val="3B6FD0"/>
                </a:solidFill>
                <a:latin typeface="Consolas"/>
              </a:rPr>
              <a:t>SIZE</a:t>
            </a:r>
          </a:p>
        </p:txBody>
      </p:sp>
      <p:sp>
        <p:nvSpPr>
          <p:cNvPr id="8" name="TextBox 7"/>
          <p:cNvSpPr txBox="1"/>
          <p:nvPr/>
        </p:nvSpPr>
        <p:spPr>
          <a:xfrm>
            <a:off x="3584448" y="1874519"/>
            <a:ext cx="2286000" cy="365760"/>
          </a:xfrm>
          <a:prstGeom prst="rect">
            <a:avLst/>
          </a:prstGeom>
          <a:noFill/>
        </p:spPr>
        <p:txBody>
          <a:bodyPr wrap="square" lIns="0" rIns="0" tIns="0" bIns="0" anchor="t">
            <a:spAutoFit/>
          </a:bodyPr>
          <a:lstStyle/>
          <a:p>
            <a:pPr algn="l"/>
            <a:r>
              <a:rPr sz="1500" b="0" i="0">
                <a:solidFill>
                  <a:srgbClr val="1E2A3B"/>
                </a:solidFill>
                <a:latin typeface="Calibri"/>
              </a:rPr>
              <a:t>bytes per beat = 2^n</a:t>
            </a:r>
          </a:p>
        </p:txBody>
      </p:sp>
      <p:sp>
        <p:nvSpPr>
          <p:cNvPr id="9" name="Rounded Rectangle 8"/>
          <p:cNvSpPr/>
          <p:nvPr/>
        </p:nvSpPr>
        <p:spPr>
          <a:xfrm>
            <a:off x="6163056" y="1417320"/>
            <a:ext cx="2606040" cy="86868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345936" y="1508760"/>
            <a:ext cx="2286000" cy="365760"/>
          </a:xfrm>
          <a:prstGeom prst="rect">
            <a:avLst/>
          </a:prstGeom>
          <a:noFill/>
        </p:spPr>
        <p:txBody>
          <a:bodyPr wrap="square" lIns="0" rIns="0" tIns="0" bIns="0" anchor="t">
            <a:spAutoFit/>
          </a:bodyPr>
          <a:lstStyle/>
          <a:p>
            <a:pPr algn="l"/>
            <a:r>
              <a:rPr sz="1800" b="1" i="0">
                <a:solidFill>
                  <a:srgbClr val="3B6FD0"/>
                </a:solidFill>
                <a:latin typeface="Consolas"/>
              </a:rPr>
              <a:t>BURST</a:t>
            </a:r>
          </a:p>
        </p:txBody>
      </p:sp>
      <p:sp>
        <p:nvSpPr>
          <p:cNvPr id="11" name="TextBox 10"/>
          <p:cNvSpPr txBox="1"/>
          <p:nvPr/>
        </p:nvSpPr>
        <p:spPr>
          <a:xfrm>
            <a:off x="6345936" y="1874519"/>
            <a:ext cx="2286000" cy="365760"/>
          </a:xfrm>
          <a:prstGeom prst="rect">
            <a:avLst/>
          </a:prstGeom>
          <a:noFill/>
        </p:spPr>
        <p:txBody>
          <a:bodyPr wrap="square" lIns="0" rIns="0" tIns="0" bIns="0" anchor="t">
            <a:spAutoFit/>
          </a:bodyPr>
          <a:lstStyle/>
          <a:p>
            <a:pPr algn="l"/>
            <a:r>
              <a:rPr sz="1500" b="0" i="0">
                <a:solidFill>
                  <a:srgbClr val="1E2A3B"/>
                </a:solidFill>
                <a:latin typeface="Calibri"/>
              </a:rPr>
              <a:t>how the address moves</a:t>
            </a:r>
          </a:p>
        </p:txBody>
      </p:sp>
      <p:sp>
        <p:nvSpPr>
          <p:cNvPr id="12" name="Rounded Rectangle 11"/>
          <p:cNvSpPr/>
          <p:nvPr/>
        </p:nvSpPr>
        <p:spPr>
          <a:xfrm>
            <a:off x="8924544" y="1417320"/>
            <a:ext cx="2606040" cy="86868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107424" y="1508760"/>
            <a:ext cx="2286000" cy="365760"/>
          </a:xfrm>
          <a:prstGeom prst="rect">
            <a:avLst/>
          </a:prstGeom>
          <a:noFill/>
        </p:spPr>
        <p:txBody>
          <a:bodyPr wrap="square" lIns="0" rIns="0" tIns="0" bIns="0" anchor="t">
            <a:spAutoFit/>
          </a:bodyPr>
          <a:lstStyle/>
          <a:p>
            <a:pPr algn="l"/>
            <a:r>
              <a:rPr sz="1800" b="1" i="0">
                <a:solidFill>
                  <a:srgbClr val="3B6FD0"/>
                </a:solidFill>
                <a:latin typeface="Consolas"/>
              </a:rPr>
              <a:t>LAST</a:t>
            </a:r>
          </a:p>
        </p:txBody>
      </p:sp>
      <p:sp>
        <p:nvSpPr>
          <p:cNvPr id="14" name="TextBox 13"/>
          <p:cNvSpPr txBox="1"/>
          <p:nvPr/>
        </p:nvSpPr>
        <p:spPr>
          <a:xfrm>
            <a:off x="9107424" y="1874519"/>
            <a:ext cx="2286000" cy="365760"/>
          </a:xfrm>
          <a:prstGeom prst="rect">
            <a:avLst/>
          </a:prstGeom>
          <a:noFill/>
        </p:spPr>
        <p:txBody>
          <a:bodyPr wrap="square" lIns="0" rIns="0" tIns="0" bIns="0" anchor="t">
            <a:spAutoFit/>
          </a:bodyPr>
          <a:lstStyle/>
          <a:p>
            <a:pPr algn="l"/>
            <a:r>
              <a:rPr sz="1500" b="0" i="0">
                <a:solidFill>
                  <a:srgbClr val="1E2A3B"/>
                </a:solidFill>
                <a:latin typeface="Calibri"/>
              </a:rPr>
              <a:t>marks the final beat</a:t>
            </a:r>
          </a:p>
        </p:txBody>
      </p:sp>
      <p:sp>
        <p:nvSpPr>
          <p:cNvPr id="15" name="TextBox 14"/>
          <p:cNvSpPr txBox="1"/>
          <p:nvPr/>
        </p:nvSpPr>
        <p:spPr>
          <a:xfrm>
            <a:off x="640080" y="2514600"/>
            <a:ext cx="10881360" cy="365760"/>
          </a:xfrm>
          <a:prstGeom prst="rect">
            <a:avLst/>
          </a:prstGeom>
          <a:noFill/>
        </p:spPr>
        <p:txBody>
          <a:bodyPr wrap="square" lIns="0" rIns="0" tIns="0" bIns="0" anchor="t">
            <a:spAutoFit/>
          </a:bodyPr>
          <a:lstStyle/>
          <a:p>
            <a:pPr algn="l"/>
            <a:r>
              <a:rPr sz="1600" b="0" i="0">
                <a:solidFill>
                  <a:srgbClr val="4F5F74"/>
                </a:solidFill>
                <a:latin typeface="Calibri"/>
              </a:rPr>
              <a:t>Four beats of 4 bytes, starting at address 0x208:</a:t>
            </a:r>
          </a:p>
        </p:txBody>
      </p:sp>
      <p:sp>
        <p:nvSpPr>
          <p:cNvPr id="16" name="Rounded Rectangle 15"/>
          <p:cNvSpPr/>
          <p:nvPr/>
        </p:nvSpPr>
        <p:spPr>
          <a:xfrm>
            <a:off x="640080" y="2971800"/>
            <a:ext cx="3493008" cy="31089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4400" y="3154680"/>
            <a:ext cx="2926080" cy="411480"/>
          </a:xfrm>
          <a:prstGeom prst="rect">
            <a:avLst/>
          </a:prstGeom>
          <a:noFill/>
        </p:spPr>
        <p:txBody>
          <a:bodyPr wrap="square" lIns="0" rIns="0" tIns="0" bIns="0" anchor="t">
            <a:spAutoFit/>
          </a:bodyPr>
          <a:lstStyle/>
          <a:p>
            <a:pPr algn="l"/>
            <a:r>
              <a:rPr sz="2400" b="1" i="0">
                <a:solidFill>
                  <a:srgbClr val="1E2A3B"/>
                </a:solidFill>
                <a:latin typeface="Cambria"/>
              </a:rPr>
              <a:t>INCR</a:t>
            </a:r>
          </a:p>
        </p:txBody>
      </p:sp>
      <p:sp>
        <p:nvSpPr>
          <p:cNvPr id="18" name="TextBox 17"/>
          <p:cNvSpPr txBox="1"/>
          <p:nvPr/>
        </p:nvSpPr>
        <p:spPr>
          <a:xfrm>
            <a:off x="914400" y="3703320"/>
            <a:ext cx="3017520" cy="1097280"/>
          </a:xfrm>
          <a:prstGeom prst="rect">
            <a:avLst/>
          </a:prstGeom>
          <a:noFill/>
        </p:spPr>
        <p:txBody>
          <a:bodyPr wrap="square" lIns="0" rIns="0" tIns="0" bIns="0" anchor="t">
            <a:spAutoFit/>
          </a:bodyPr>
          <a:lstStyle/>
          <a:p>
            <a:pPr algn="l">
              <a:spcAft>
                <a:spcPts val="600"/>
              </a:spcAft>
            </a:pPr>
            <a:r>
              <a:rPr sz="1900" b="0" i="0">
                <a:solidFill>
                  <a:srgbClr val="1E2A3B"/>
                </a:solidFill>
                <a:latin typeface="Consolas"/>
              </a:rPr>
              <a:t>0x208   0x20C</a:t>
            </a:r>
          </a:p>
          <a:p>
            <a:pPr algn="l"/>
            <a:r>
              <a:rPr sz="1900" b="1" i="0">
                <a:solidFill>
                  <a:srgbClr val="8F5C00"/>
                </a:solidFill>
                <a:latin typeface="Consolas"/>
              </a:rPr>
              <a:t>0x210   0x214</a:t>
            </a:r>
          </a:p>
        </p:txBody>
      </p:sp>
      <p:sp>
        <p:nvSpPr>
          <p:cNvPr id="19" name="TextBox 18"/>
          <p:cNvSpPr txBox="1"/>
          <p:nvPr/>
        </p:nvSpPr>
        <p:spPr>
          <a:xfrm>
            <a:off x="914400" y="4617720"/>
            <a:ext cx="2971800" cy="1371600"/>
          </a:xfrm>
          <a:prstGeom prst="rect">
            <a:avLst/>
          </a:prstGeom>
          <a:noFill/>
        </p:spPr>
        <p:txBody>
          <a:bodyPr wrap="square" lIns="0" rIns="0" tIns="0" bIns="0" anchor="t">
            <a:spAutoFit/>
          </a:bodyPr>
          <a:lstStyle/>
          <a:p>
            <a:pPr algn="l"/>
            <a:r>
              <a:rPr sz="1600" b="0" i="0">
                <a:solidFill>
                  <a:srgbClr val="4F5F74"/>
                </a:solidFill>
                <a:latin typeface="Calibri"/>
              </a:rPr>
              <a:t>Counts up. Normal streaming.</a:t>
            </a:r>
          </a:p>
        </p:txBody>
      </p:sp>
      <p:sp>
        <p:nvSpPr>
          <p:cNvPr id="20" name="Rounded Rectangle 19"/>
          <p:cNvSpPr/>
          <p:nvPr/>
        </p:nvSpPr>
        <p:spPr>
          <a:xfrm>
            <a:off x="4334256" y="2971800"/>
            <a:ext cx="3493008" cy="31089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608576" y="3154680"/>
            <a:ext cx="2926080" cy="411480"/>
          </a:xfrm>
          <a:prstGeom prst="rect">
            <a:avLst/>
          </a:prstGeom>
          <a:noFill/>
        </p:spPr>
        <p:txBody>
          <a:bodyPr wrap="square" lIns="0" rIns="0" tIns="0" bIns="0" anchor="t">
            <a:spAutoFit/>
          </a:bodyPr>
          <a:lstStyle/>
          <a:p>
            <a:pPr algn="l"/>
            <a:r>
              <a:rPr sz="2400" b="1" i="0">
                <a:solidFill>
                  <a:srgbClr val="1E2A3B"/>
                </a:solidFill>
                <a:latin typeface="Cambria"/>
              </a:rPr>
              <a:t>FIXED</a:t>
            </a:r>
          </a:p>
        </p:txBody>
      </p:sp>
      <p:sp>
        <p:nvSpPr>
          <p:cNvPr id="22" name="TextBox 21"/>
          <p:cNvSpPr txBox="1"/>
          <p:nvPr/>
        </p:nvSpPr>
        <p:spPr>
          <a:xfrm>
            <a:off x="4608576" y="3703320"/>
            <a:ext cx="3017520" cy="1097280"/>
          </a:xfrm>
          <a:prstGeom prst="rect">
            <a:avLst/>
          </a:prstGeom>
          <a:noFill/>
        </p:spPr>
        <p:txBody>
          <a:bodyPr wrap="square" lIns="0" rIns="0" tIns="0" bIns="0" anchor="t">
            <a:spAutoFit/>
          </a:bodyPr>
          <a:lstStyle/>
          <a:p>
            <a:pPr algn="l">
              <a:spcAft>
                <a:spcPts val="600"/>
              </a:spcAft>
            </a:pPr>
            <a:r>
              <a:rPr sz="1900" b="0" i="0">
                <a:solidFill>
                  <a:srgbClr val="1E2A3B"/>
                </a:solidFill>
                <a:latin typeface="Consolas"/>
              </a:rPr>
              <a:t>0x208   0x208</a:t>
            </a:r>
          </a:p>
          <a:p>
            <a:pPr algn="l"/>
            <a:r>
              <a:rPr sz="1900" b="1" i="0">
                <a:solidFill>
                  <a:srgbClr val="8F5C00"/>
                </a:solidFill>
                <a:latin typeface="Consolas"/>
              </a:rPr>
              <a:t>0x208   0x208</a:t>
            </a:r>
          </a:p>
        </p:txBody>
      </p:sp>
      <p:sp>
        <p:nvSpPr>
          <p:cNvPr id="23" name="TextBox 22"/>
          <p:cNvSpPr txBox="1"/>
          <p:nvPr/>
        </p:nvSpPr>
        <p:spPr>
          <a:xfrm>
            <a:off x="4608576" y="4617720"/>
            <a:ext cx="2971800" cy="1371600"/>
          </a:xfrm>
          <a:prstGeom prst="rect">
            <a:avLst/>
          </a:prstGeom>
          <a:noFill/>
        </p:spPr>
        <p:txBody>
          <a:bodyPr wrap="square" lIns="0" rIns="0" tIns="0" bIns="0" anchor="t">
            <a:spAutoFit/>
          </a:bodyPr>
          <a:lstStyle/>
          <a:p>
            <a:pPr algn="l"/>
            <a:r>
              <a:rPr sz="1600" b="0" i="0">
                <a:solidFill>
                  <a:srgbClr val="4F5F74"/>
                </a:solidFill>
                <a:latin typeface="Calibri"/>
              </a:rPr>
              <a:t>Same location every beat. Last beat wins. Like pushing into a FIFO register.</a:t>
            </a:r>
          </a:p>
        </p:txBody>
      </p:sp>
      <p:sp>
        <p:nvSpPr>
          <p:cNvPr id="24" name="Rounded Rectangle 23"/>
          <p:cNvSpPr/>
          <p:nvPr/>
        </p:nvSpPr>
        <p:spPr>
          <a:xfrm>
            <a:off x="8028432" y="2971800"/>
            <a:ext cx="3493008" cy="310896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302752" y="3154680"/>
            <a:ext cx="2926080" cy="411480"/>
          </a:xfrm>
          <a:prstGeom prst="rect">
            <a:avLst/>
          </a:prstGeom>
          <a:noFill/>
        </p:spPr>
        <p:txBody>
          <a:bodyPr wrap="square" lIns="0" rIns="0" tIns="0" bIns="0" anchor="t">
            <a:spAutoFit/>
          </a:bodyPr>
          <a:lstStyle/>
          <a:p>
            <a:pPr algn="l"/>
            <a:r>
              <a:rPr sz="2400" b="1" i="0">
                <a:solidFill>
                  <a:srgbClr val="1E2A3B"/>
                </a:solidFill>
                <a:latin typeface="Cambria"/>
              </a:rPr>
              <a:t>WRAP</a:t>
            </a:r>
          </a:p>
        </p:txBody>
      </p:sp>
      <p:sp>
        <p:nvSpPr>
          <p:cNvPr id="26" name="TextBox 25"/>
          <p:cNvSpPr txBox="1"/>
          <p:nvPr/>
        </p:nvSpPr>
        <p:spPr>
          <a:xfrm>
            <a:off x="8302752" y="3703320"/>
            <a:ext cx="3017520" cy="1097280"/>
          </a:xfrm>
          <a:prstGeom prst="rect">
            <a:avLst/>
          </a:prstGeom>
          <a:noFill/>
        </p:spPr>
        <p:txBody>
          <a:bodyPr wrap="square" lIns="0" rIns="0" tIns="0" bIns="0" anchor="t">
            <a:spAutoFit/>
          </a:bodyPr>
          <a:lstStyle/>
          <a:p>
            <a:pPr algn="l">
              <a:spcAft>
                <a:spcPts val="600"/>
              </a:spcAft>
            </a:pPr>
            <a:r>
              <a:rPr sz="1900" b="0" i="0">
                <a:solidFill>
                  <a:srgbClr val="1E2A3B"/>
                </a:solidFill>
                <a:latin typeface="Consolas"/>
              </a:rPr>
              <a:t>0x208   0x20C</a:t>
            </a:r>
          </a:p>
          <a:p>
            <a:pPr algn="l"/>
            <a:r>
              <a:rPr sz="1900" b="1" i="0">
                <a:solidFill>
                  <a:srgbClr val="8F5C00"/>
                </a:solidFill>
                <a:latin typeface="Consolas"/>
              </a:rPr>
              <a:t>0x200   0x204</a:t>
            </a:r>
          </a:p>
        </p:txBody>
      </p:sp>
      <p:sp>
        <p:nvSpPr>
          <p:cNvPr id="27" name="TextBox 26"/>
          <p:cNvSpPr txBox="1"/>
          <p:nvPr/>
        </p:nvSpPr>
        <p:spPr>
          <a:xfrm>
            <a:off x="8302752" y="4617720"/>
            <a:ext cx="2971800" cy="1371600"/>
          </a:xfrm>
          <a:prstGeom prst="rect">
            <a:avLst/>
          </a:prstGeom>
          <a:noFill/>
        </p:spPr>
        <p:txBody>
          <a:bodyPr wrap="square" lIns="0" rIns="0" tIns="0" bIns="0" anchor="t">
            <a:spAutoFit/>
          </a:bodyPr>
          <a:lstStyle/>
          <a:p>
            <a:pPr algn="l"/>
            <a:r>
              <a:rPr sz="1600" b="0" i="0">
                <a:solidFill>
                  <a:srgbClr val="4F5F74"/>
                </a:solidFill>
                <a:latin typeface="Calibri"/>
              </a:rPr>
              <a:t>Loops inside a 16-byte window. A cache line fetched with the needed word first.</a:t>
            </a:r>
          </a:p>
        </p:txBody>
      </p:sp>
      <p:sp>
        <p:nvSpPr>
          <p:cNvPr id="28"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subordinate and registered channels</a:t>
            </a:r>
          </a:p>
        </p:txBody>
      </p:sp>
      <p:sp>
        <p:nvSpPr>
          <p:cNvPr id="29"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System architecture</a:t>
            </a:r>
          </a:p>
        </p:txBody>
      </p:sp>
      <p:pic>
        <p:nvPicPr>
          <p:cNvPr id="3" name="Picture 2" descr="Block diagram: your logic, axi4_master, five flip-flop stages, axi4_slave with write engine, read engine and 4 KiB memory."/>
          <p:cNvPicPr>
            <a:picLocks noChangeAspect="1"/>
          </p:cNvPicPr>
          <p:nvPr/>
        </p:nvPicPr>
        <p:blipFill>
          <a:blip r:embed="rId3"/>
          <a:stretch>
            <a:fillRect/>
          </a:stretch>
        </p:blipFill>
        <p:spPr>
          <a:xfrm>
            <a:off x="822960" y="1280160"/>
            <a:ext cx="10515600" cy="4282126"/>
          </a:xfrm>
          <a:prstGeom prst="rect">
            <a:avLst/>
          </a:prstGeom>
        </p:spPr>
      </p:pic>
      <p:sp>
        <p:nvSpPr>
          <p:cNvPr id="4" name="Rounded Rectangle 3"/>
          <p:cNvSpPr/>
          <p:nvPr/>
        </p:nvSpPr>
        <p:spPr>
          <a:xfrm>
            <a:off x="640080" y="5577840"/>
            <a:ext cx="3493008" cy="713232"/>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59" y="5623560"/>
            <a:ext cx="3154680" cy="274320"/>
          </a:xfrm>
          <a:prstGeom prst="rect">
            <a:avLst/>
          </a:prstGeom>
          <a:noFill/>
        </p:spPr>
        <p:txBody>
          <a:bodyPr wrap="square" lIns="0" rIns="0" tIns="0" bIns="0" anchor="t">
            <a:spAutoFit/>
          </a:bodyPr>
          <a:lstStyle/>
          <a:p>
            <a:pPr algn="l"/>
            <a:r>
              <a:rPr sz="1400" b="1" i="0">
                <a:solidFill>
                  <a:srgbClr val="1E2A3B"/>
                </a:solidFill>
                <a:latin typeface="Calibri"/>
              </a:rPr>
              <a:t>Latched once at start</a:t>
            </a:r>
          </a:p>
        </p:txBody>
      </p:sp>
      <p:sp>
        <p:nvSpPr>
          <p:cNvPr id="6" name="TextBox 5"/>
          <p:cNvSpPr txBox="1"/>
          <p:nvPr/>
        </p:nvSpPr>
        <p:spPr>
          <a:xfrm>
            <a:off x="822959" y="5916168"/>
            <a:ext cx="3154680" cy="274320"/>
          </a:xfrm>
          <a:prstGeom prst="rect">
            <a:avLst/>
          </a:prstGeom>
          <a:noFill/>
        </p:spPr>
        <p:txBody>
          <a:bodyPr wrap="square" lIns="0" rIns="0" tIns="0" bIns="0" anchor="t">
            <a:spAutoFit/>
          </a:bodyPr>
          <a:lstStyle/>
          <a:p>
            <a:pPr algn="l"/>
            <a:r>
              <a:rPr sz="1300" b="0" i="0">
                <a:solidFill>
                  <a:srgbClr val="4F5F74"/>
                </a:solidFill>
                <a:latin typeface="Calibri"/>
              </a:rPr>
              <a:t>The bus payload never moves mid-burst.</a:t>
            </a:r>
          </a:p>
        </p:txBody>
      </p:sp>
      <p:sp>
        <p:nvSpPr>
          <p:cNvPr id="7" name="Rounded Rectangle 6"/>
          <p:cNvSpPr/>
          <p:nvPr/>
        </p:nvSpPr>
        <p:spPr>
          <a:xfrm>
            <a:off x="4334256" y="5577840"/>
            <a:ext cx="3493008" cy="713232"/>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517136" y="5623560"/>
            <a:ext cx="3154680" cy="274320"/>
          </a:xfrm>
          <a:prstGeom prst="rect">
            <a:avLst/>
          </a:prstGeom>
          <a:noFill/>
        </p:spPr>
        <p:txBody>
          <a:bodyPr wrap="square" lIns="0" rIns="0" tIns="0" bIns="0" anchor="t">
            <a:spAutoFit/>
          </a:bodyPr>
          <a:lstStyle/>
          <a:p>
            <a:pPr algn="l"/>
            <a:r>
              <a:rPr sz="1400" b="1" i="0">
                <a:solidFill>
                  <a:srgbClr val="1E2A3B"/>
                </a:solidFill>
                <a:latin typeface="Calibri"/>
              </a:rPr>
              <a:t>Every wire is a flip-flop</a:t>
            </a:r>
          </a:p>
        </p:txBody>
      </p:sp>
      <p:sp>
        <p:nvSpPr>
          <p:cNvPr id="9" name="TextBox 8"/>
          <p:cNvSpPr txBox="1"/>
          <p:nvPr/>
        </p:nvSpPr>
        <p:spPr>
          <a:xfrm>
            <a:off x="4517136" y="5916168"/>
            <a:ext cx="3154680" cy="274320"/>
          </a:xfrm>
          <a:prstGeom prst="rect">
            <a:avLst/>
          </a:prstGeom>
          <a:noFill/>
        </p:spPr>
        <p:txBody>
          <a:bodyPr wrap="square" lIns="0" rIns="0" tIns="0" bIns="0" anchor="t">
            <a:spAutoFit/>
          </a:bodyPr>
          <a:lstStyle/>
          <a:p>
            <a:pPr algn="l"/>
            <a:r>
              <a:rPr sz="1300" b="0" i="0">
                <a:solidFill>
                  <a:srgbClr val="4F5F74"/>
                </a:solidFill>
                <a:latin typeface="Calibri"/>
              </a:rPr>
              <a:t>+2 cycles, same throughput.</a:t>
            </a:r>
          </a:p>
        </p:txBody>
      </p:sp>
      <p:sp>
        <p:nvSpPr>
          <p:cNvPr id="10" name="Rounded Rectangle 9"/>
          <p:cNvSpPr/>
          <p:nvPr/>
        </p:nvSpPr>
        <p:spPr>
          <a:xfrm>
            <a:off x="8028432" y="5577840"/>
            <a:ext cx="3493008" cy="713232"/>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211312" y="5623560"/>
            <a:ext cx="3154680" cy="274320"/>
          </a:xfrm>
          <a:prstGeom prst="rect">
            <a:avLst/>
          </a:prstGeom>
          <a:noFill/>
        </p:spPr>
        <p:txBody>
          <a:bodyPr wrap="square" lIns="0" rIns="0" tIns="0" bIns="0" anchor="t">
            <a:spAutoFit/>
          </a:bodyPr>
          <a:lstStyle/>
          <a:p>
            <a:pPr algn="l"/>
            <a:r>
              <a:rPr sz="1400" b="1" i="0">
                <a:solidFill>
                  <a:srgbClr val="1E2A3B"/>
                </a:solidFill>
                <a:latin typeface="Calibri"/>
              </a:rPr>
              <a:t>Errors still drain the burst</a:t>
            </a:r>
          </a:p>
        </p:txBody>
      </p:sp>
      <p:sp>
        <p:nvSpPr>
          <p:cNvPr id="12" name="TextBox 11"/>
          <p:cNvSpPr txBox="1"/>
          <p:nvPr/>
        </p:nvSpPr>
        <p:spPr>
          <a:xfrm>
            <a:off x="8211312" y="5916168"/>
            <a:ext cx="3154680" cy="274320"/>
          </a:xfrm>
          <a:prstGeom prst="rect">
            <a:avLst/>
          </a:prstGeom>
          <a:noFill/>
        </p:spPr>
        <p:txBody>
          <a:bodyPr wrap="square" lIns="0" rIns="0" tIns="0" bIns="0" anchor="t">
            <a:spAutoFit/>
          </a:bodyPr>
          <a:lstStyle/>
          <a:p>
            <a:pPr algn="l"/>
            <a:r>
              <a:rPr sz="1300" b="0" i="0">
                <a:solidFill>
                  <a:srgbClr val="4F5F74"/>
                </a:solidFill>
                <a:latin typeface="Calibri"/>
              </a:rPr>
              <a:t>So the manager never hangs.</a:t>
            </a:r>
          </a:p>
        </p:txBody>
      </p:sp>
      <p:sp>
        <p:nvSpPr>
          <p:cNvPr id="13"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subordinate and registered channels</a:t>
            </a:r>
          </a:p>
        </p:txBody>
      </p:sp>
      <p:sp>
        <p:nvSpPr>
          <p:cNvPr id="14"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Host interface of the manager</a:t>
            </a:r>
          </a:p>
        </p:txBody>
      </p:sp>
      <p:sp>
        <p:nvSpPr>
          <p:cNvPr id="3" name="Rounded Rectangle 2"/>
          <p:cNvSpPr/>
          <p:nvPr/>
        </p:nvSpPr>
        <p:spPr>
          <a:xfrm>
            <a:off x="640080" y="1417320"/>
            <a:ext cx="5349240" cy="210312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1600200"/>
            <a:ext cx="2743200" cy="365760"/>
          </a:xfrm>
          <a:prstGeom prst="rect">
            <a:avLst/>
          </a:prstGeom>
          <a:noFill/>
        </p:spPr>
        <p:txBody>
          <a:bodyPr wrap="square" lIns="0" rIns="0" tIns="0" bIns="0" anchor="t">
            <a:spAutoFit/>
          </a:bodyPr>
          <a:lstStyle/>
          <a:p>
            <a:pPr algn="l"/>
            <a:r>
              <a:rPr sz="2000" b="1" i="0">
                <a:solidFill>
                  <a:srgbClr val="1E2A3B"/>
                </a:solidFill>
                <a:latin typeface="Cambria"/>
              </a:rPr>
              <a:t>Command port</a:t>
            </a:r>
          </a:p>
        </p:txBody>
      </p:sp>
      <p:sp>
        <p:nvSpPr>
          <p:cNvPr id="5" name="TextBox 4"/>
          <p:cNvSpPr txBox="1"/>
          <p:nvPr/>
        </p:nvSpPr>
        <p:spPr>
          <a:xfrm>
            <a:off x="3566160" y="1655064"/>
            <a:ext cx="2194560" cy="320040"/>
          </a:xfrm>
          <a:prstGeom prst="rect">
            <a:avLst/>
          </a:prstGeom>
          <a:noFill/>
        </p:spPr>
        <p:txBody>
          <a:bodyPr wrap="square" lIns="0" rIns="0" tIns="0" bIns="0" anchor="t">
            <a:spAutoFit/>
          </a:bodyPr>
          <a:lstStyle/>
          <a:p>
            <a:pPr algn="r"/>
            <a:r>
              <a:rPr sz="1300" b="0" i="0">
                <a:solidFill>
                  <a:srgbClr val="4F5F74"/>
                </a:solidFill>
                <a:latin typeface="Calibri"/>
              </a:rPr>
              <a:t>you drive</a:t>
            </a:r>
          </a:p>
        </p:txBody>
      </p:sp>
      <p:sp>
        <p:nvSpPr>
          <p:cNvPr id="6" name="TextBox 5"/>
          <p:cNvSpPr txBox="1"/>
          <p:nvPr/>
        </p:nvSpPr>
        <p:spPr>
          <a:xfrm>
            <a:off x="914400" y="2103120"/>
            <a:ext cx="2468880" cy="1371600"/>
          </a:xfrm>
          <a:prstGeom prst="rect">
            <a:avLst/>
          </a:prstGeom>
          <a:noFill/>
        </p:spPr>
        <p:txBody>
          <a:bodyPr wrap="square" lIns="0" rIns="0" tIns="0" bIns="0" anchor="t">
            <a:spAutoFit/>
          </a:bodyPr>
          <a:lstStyle/>
          <a:p>
            <a:pPr algn="l">
              <a:spcAft>
                <a:spcPts val="300"/>
              </a:spcAft>
            </a:pPr>
            <a:r>
              <a:rPr sz="1300" b="0" i="0">
                <a:solidFill>
                  <a:srgbClr val="1E2A3B"/>
                </a:solidFill>
                <a:latin typeface="Consolas"/>
              </a:rPr>
              <a:t>cmd_start_write</a:t>
            </a:r>
          </a:p>
          <a:p>
            <a:pPr algn="l">
              <a:spcAft>
                <a:spcPts val="300"/>
              </a:spcAft>
            </a:pPr>
            <a:r>
              <a:rPr sz="1300" b="0" i="0">
                <a:solidFill>
                  <a:srgbClr val="1E2A3B"/>
                </a:solidFill>
                <a:latin typeface="Consolas"/>
              </a:rPr>
              <a:t>cmd_start_read</a:t>
            </a:r>
          </a:p>
          <a:p>
            <a:pPr algn="l">
              <a:spcAft>
                <a:spcPts val="300"/>
              </a:spcAft>
            </a:pPr>
            <a:r>
              <a:rPr sz="1300" b="0" i="0">
                <a:solidFill>
                  <a:srgbClr val="1E2A3B"/>
                </a:solidFill>
                <a:latin typeface="Consolas"/>
              </a:rPr>
              <a:t>cmd_id[3:0]</a:t>
            </a:r>
          </a:p>
          <a:p>
            <a:pPr algn="l">
              <a:spcAft>
                <a:spcPts val="300"/>
              </a:spcAft>
            </a:pPr>
            <a:r>
              <a:rPr sz="1300" b="0" i="0">
                <a:solidFill>
                  <a:srgbClr val="1E2A3B"/>
                </a:solidFill>
                <a:latin typeface="Consolas"/>
              </a:rPr>
              <a:t>cmd_addr[31:0]</a:t>
            </a:r>
          </a:p>
        </p:txBody>
      </p:sp>
      <p:sp>
        <p:nvSpPr>
          <p:cNvPr id="7" name="TextBox 6"/>
          <p:cNvSpPr txBox="1"/>
          <p:nvPr/>
        </p:nvSpPr>
        <p:spPr>
          <a:xfrm>
            <a:off x="3383280" y="2103120"/>
            <a:ext cx="2468880" cy="1371600"/>
          </a:xfrm>
          <a:prstGeom prst="rect">
            <a:avLst/>
          </a:prstGeom>
          <a:noFill/>
        </p:spPr>
        <p:txBody>
          <a:bodyPr wrap="square" lIns="0" rIns="0" tIns="0" bIns="0" anchor="t">
            <a:spAutoFit/>
          </a:bodyPr>
          <a:lstStyle/>
          <a:p>
            <a:pPr algn="l">
              <a:spcAft>
                <a:spcPts val="300"/>
              </a:spcAft>
            </a:pPr>
            <a:r>
              <a:rPr sz="1300" b="0" i="0">
                <a:solidFill>
                  <a:srgbClr val="1E2A3B"/>
                </a:solidFill>
                <a:latin typeface="Consolas"/>
              </a:rPr>
              <a:t>cmd_len[7:0]</a:t>
            </a:r>
          </a:p>
          <a:p>
            <a:pPr algn="l">
              <a:spcAft>
                <a:spcPts val="300"/>
              </a:spcAft>
            </a:pPr>
            <a:r>
              <a:rPr sz="1300" b="0" i="0">
                <a:solidFill>
                  <a:srgbClr val="1E2A3B"/>
                </a:solidFill>
                <a:latin typeface="Consolas"/>
              </a:rPr>
              <a:t>cmd_size[2:0]</a:t>
            </a:r>
          </a:p>
          <a:p>
            <a:pPr algn="l">
              <a:spcAft>
                <a:spcPts val="300"/>
              </a:spcAft>
            </a:pPr>
            <a:r>
              <a:rPr sz="1300" b="0" i="0">
                <a:solidFill>
                  <a:srgbClr val="1E2A3B"/>
                </a:solidFill>
                <a:latin typeface="Consolas"/>
              </a:rPr>
              <a:t>cmd_burst[1:0]</a:t>
            </a:r>
          </a:p>
        </p:txBody>
      </p:sp>
      <p:sp>
        <p:nvSpPr>
          <p:cNvPr id="8" name="Rounded Rectangle 7"/>
          <p:cNvSpPr/>
          <p:nvPr/>
        </p:nvSpPr>
        <p:spPr>
          <a:xfrm>
            <a:off x="6172200" y="1417320"/>
            <a:ext cx="5349240" cy="2103120"/>
          </a:xfrm>
          <a:prstGeom prst="roundRect">
            <a:avLst>
              <a:gd name="adj" fmla="val 6000"/>
            </a:avLst>
          </a:prstGeom>
          <a:solidFill>
            <a:srgbClr val="D9F0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446520" y="1600200"/>
            <a:ext cx="2743200" cy="365760"/>
          </a:xfrm>
          <a:prstGeom prst="rect">
            <a:avLst/>
          </a:prstGeom>
          <a:noFill/>
        </p:spPr>
        <p:txBody>
          <a:bodyPr wrap="square" lIns="0" rIns="0" tIns="0" bIns="0" anchor="t">
            <a:spAutoFit/>
          </a:bodyPr>
          <a:lstStyle/>
          <a:p>
            <a:pPr algn="l"/>
            <a:r>
              <a:rPr sz="2000" b="1" i="0">
                <a:solidFill>
                  <a:srgbClr val="1E2A3B"/>
                </a:solidFill>
                <a:latin typeface="Cambria"/>
              </a:rPr>
              <a:t>Status</a:t>
            </a:r>
          </a:p>
        </p:txBody>
      </p:sp>
      <p:sp>
        <p:nvSpPr>
          <p:cNvPr id="10" name="TextBox 9"/>
          <p:cNvSpPr txBox="1"/>
          <p:nvPr/>
        </p:nvSpPr>
        <p:spPr>
          <a:xfrm>
            <a:off x="9098280" y="1655064"/>
            <a:ext cx="2194560" cy="320040"/>
          </a:xfrm>
          <a:prstGeom prst="rect">
            <a:avLst/>
          </a:prstGeom>
          <a:noFill/>
        </p:spPr>
        <p:txBody>
          <a:bodyPr wrap="square" lIns="0" rIns="0" tIns="0" bIns="0" anchor="t">
            <a:spAutoFit/>
          </a:bodyPr>
          <a:lstStyle/>
          <a:p>
            <a:pPr algn="r"/>
            <a:r>
              <a:rPr sz="1300" b="0" i="0">
                <a:solidFill>
                  <a:srgbClr val="4F5F74"/>
                </a:solidFill>
                <a:latin typeface="Calibri"/>
              </a:rPr>
              <a:t>you read</a:t>
            </a:r>
          </a:p>
        </p:txBody>
      </p:sp>
      <p:sp>
        <p:nvSpPr>
          <p:cNvPr id="11" name="TextBox 10"/>
          <p:cNvSpPr txBox="1"/>
          <p:nvPr/>
        </p:nvSpPr>
        <p:spPr>
          <a:xfrm>
            <a:off x="6446520" y="2103120"/>
            <a:ext cx="2468880" cy="1371600"/>
          </a:xfrm>
          <a:prstGeom prst="rect">
            <a:avLst/>
          </a:prstGeom>
          <a:noFill/>
        </p:spPr>
        <p:txBody>
          <a:bodyPr wrap="square" lIns="0" rIns="0" tIns="0" bIns="0" anchor="t">
            <a:spAutoFit/>
          </a:bodyPr>
          <a:lstStyle/>
          <a:p>
            <a:pPr algn="l">
              <a:spcAft>
                <a:spcPts val="300"/>
              </a:spcAft>
            </a:pPr>
            <a:r>
              <a:rPr sz="1300" b="0" i="0">
                <a:solidFill>
                  <a:srgbClr val="1E2A3B"/>
                </a:solidFill>
                <a:latin typeface="Consolas"/>
              </a:rPr>
              <a:t>cmd_busy</a:t>
            </a:r>
          </a:p>
          <a:p>
            <a:pPr algn="l">
              <a:spcAft>
                <a:spcPts val="300"/>
              </a:spcAft>
            </a:pPr>
            <a:r>
              <a:rPr sz="1300" b="0" i="0">
                <a:solidFill>
                  <a:srgbClr val="1E2A3B"/>
                </a:solidFill>
                <a:latin typeface="Consolas"/>
              </a:rPr>
              <a:t>cmd_done  (1-cycle pulse)</a:t>
            </a:r>
          </a:p>
          <a:p>
            <a:pPr algn="l">
              <a:spcAft>
                <a:spcPts val="300"/>
              </a:spcAft>
            </a:pPr>
            <a:r>
              <a:rPr sz="1300" b="0" i="0">
                <a:solidFill>
                  <a:srgbClr val="1E2A3B"/>
                </a:solidFill>
                <a:latin typeface="Consolas"/>
              </a:rPr>
              <a:t>cmd_resp[1:0]</a:t>
            </a:r>
          </a:p>
        </p:txBody>
      </p:sp>
      <p:sp>
        <p:nvSpPr>
          <p:cNvPr id="12" name="TextBox 11"/>
          <p:cNvSpPr txBox="1"/>
          <p:nvPr/>
        </p:nvSpPr>
        <p:spPr>
          <a:xfrm>
            <a:off x="8915400" y="2103120"/>
            <a:ext cx="2468880" cy="1371600"/>
          </a:xfrm>
          <a:prstGeom prst="rect">
            <a:avLst/>
          </a:prstGeom>
          <a:noFill/>
        </p:spPr>
        <p:txBody>
          <a:bodyPr wrap="square" lIns="0" rIns="0" tIns="0" bIns="0" anchor="t">
            <a:spAutoFit/>
          </a:bodyPr>
          <a:lstStyle/>
          <a:p>
            <a:pPr algn="l">
              <a:spcAft>
                <a:spcPts val="300"/>
              </a:spcAft>
            </a:pPr>
            <a:r>
              <a:rPr sz="1300" b="0" i="0">
                <a:solidFill>
                  <a:srgbClr val="1E2A3B"/>
                </a:solidFill>
                <a:latin typeface="Consolas"/>
              </a:rPr>
              <a:t>cmd_resp_id[3:0]</a:t>
            </a:r>
          </a:p>
          <a:p>
            <a:pPr algn="l">
              <a:spcAft>
                <a:spcPts val="300"/>
              </a:spcAft>
            </a:pPr>
            <a:r>
              <a:rPr sz="1300" b="0" i="0">
                <a:solidFill>
                  <a:srgbClr val="1E2A3B"/>
                </a:solidFill>
                <a:latin typeface="Consolas"/>
              </a:rPr>
              <a:t>cmd_last_err</a:t>
            </a:r>
          </a:p>
        </p:txBody>
      </p:sp>
      <p:sp>
        <p:nvSpPr>
          <p:cNvPr id="13" name="Rounded Rectangle 12"/>
          <p:cNvSpPr/>
          <p:nvPr/>
        </p:nvSpPr>
        <p:spPr>
          <a:xfrm>
            <a:off x="640080" y="3657600"/>
            <a:ext cx="5349240" cy="2103120"/>
          </a:xfrm>
          <a:prstGeom prst="roundRect">
            <a:avLst>
              <a:gd name="adj" fmla="val 6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3840480"/>
            <a:ext cx="2743200" cy="365760"/>
          </a:xfrm>
          <a:prstGeom prst="rect">
            <a:avLst/>
          </a:prstGeom>
          <a:noFill/>
        </p:spPr>
        <p:txBody>
          <a:bodyPr wrap="square" lIns="0" rIns="0" tIns="0" bIns="0" anchor="t">
            <a:spAutoFit/>
          </a:bodyPr>
          <a:lstStyle/>
          <a:p>
            <a:pPr algn="l"/>
            <a:r>
              <a:rPr sz="2000" b="1" i="0">
                <a:solidFill>
                  <a:srgbClr val="1E2A3B"/>
                </a:solidFill>
                <a:latin typeface="Cambria"/>
              </a:rPr>
              <a:t>Write stream</a:t>
            </a:r>
          </a:p>
        </p:txBody>
      </p:sp>
      <p:sp>
        <p:nvSpPr>
          <p:cNvPr id="15" name="TextBox 14"/>
          <p:cNvSpPr txBox="1"/>
          <p:nvPr/>
        </p:nvSpPr>
        <p:spPr>
          <a:xfrm>
            <a:off x="3566160" y="3895344"/>
            <a:ext cx="2194560" cy="320040"/>
          </a:xfrm>
          <a:prstGeom prst="rect">
            <a:avLst/>
          </a:prstGeom>
          <a:noFill/>
        </p:spPr>
        <p:txBody>
          <a:bodyPr wrap="square" lIns="0" rIns="0" tIns="0" bIns="0" anchor="t">
            <a:spAutoFit/>
          </a:bodyPr>
          <a:lstStyle/>
          <a:p>
            <a:pPr algn="r"/>
            <a:r>
              <a:rPr sz="1300" b="0" i="0">
                <a:solidFill>
                  <a:srgbClr val="4F5F74"/>
                </a:solidFill>
                <a:latin typeface="Calibri"/>
              </a:rPr>
              <a:t>you push beats</a:t>
            </a:r>
          </a:p>
        </p:txBody>
      </p:sp>
      <p:sp>
        <p:nvSpPr>
          <p:cNvPr id="16" name="TextBox 15"/>
          <p:cNvSpPr txBox="1"/>
          <p:nvPr/>
        </p:nvSpPr>
        <p:spPr>
          <a:xfrm>
            <a:off x="914400" y="4343400"/>
            <a:ext cx="2468880" cy="1371600"/>
          </a:xfrm>
          <a:prstGeom prst="rect">
            <a:avLst/>
          </a:prstGeom>
          <a:noFill/>
        </p:spPr>
        <p:txBody>
          <a:bodyPr wrap="square" lIns="0" rIns="0" tIns="0" bIns="0" anchor="t">
            <a:spAutoFit/>
          </a:bodyPr>
          <a:lstStyle/>
          <a:p>
            <a:pPr algn="l">
              <a:spcAft>
                <a:spcPts val="300"/>
              </a:spcAft>
            </a:pPr>
            <a:r>
              <a:rPr sz="1300" b="0" i="0">
                <a:solidFill>
                  <a:srgbClr val="1E2A3B"/>
                </a:solidFill>
                <a:latin typeface="Consolas"/>
              </a:rPr>
              <a:t>hw_data[31:0]</a:t>
            </a:r>
          </a:p>
          <a:p>
            <a:pPr algn="l">
              <a:spcAft>
                <a:spcPts val="300"/>
              </a:spcAft>
            </a:pPr>
            <a:r>
              <a:rPr sz="1300" b="0" i="0">
                <a:solidFill>
                  <a:srgbClr val="1E2A3B"/>
                </a:solidFill>
                <a:latin typeface="Consolas"/>
              </a:rPr>
              <a:t>hw_strb[3:0]</a:t>
            </a:r>
          </a:p>
        </p:txBody>
      </p:sp>
      <p:sp>
        <p:nvSpPr>
          <p:cNvPr id="17" name="TextBox 16"/>
          <p:cNvSpPr txBox="1"/>
          <p:nvPr/>
        </p:nvSpPr>
        <p:spPr>
          <a:xfrm>
            <a:off x="3383280" y="4343400"/>
            <a:ext cx="2468880" cy="1371600"/>
          </a:xfrm>
          <a:prstGeom prst="rect">
            <a:avLst/>
          </a:prstGeom>
          <a:noFill/>
        </p:spPr>
        <p:txBody>
          <a:bodyPr wrap="square" lIns="0" rIns="0" tIns="0" bIns="0" anchor="t">
            <a:spAutoFit/>
          </a:bodyPr>
          <a:lstStyle/>
          <a:p>
            <a:pPr algn="l">
              <a:spcAft>
                <a:spcPts val="300"/>
              </a:spcAft>
            </a:pPr>
            <a:r>
              <a:rPr sz="1300" b="0" i="0">
                <a:solidFill>
                  <a:srgbClr val="1E2A3B"/>
                </a:solidFill>
                <a:latin typeface="Consolas"/>
              </a:rPr>
              <a:t>hw_valid</a:t>
            </a:r>
          </a:p>
          <a:p>
            <a:pPr algn="l">
              <a:spcAft>
                <a:spcPts val="300"/>
              </a:spcAft>
            </a:pPr>
            <a:r>
              <a:rPr sz="1300" b="0" i="0">
                <a:solidFill>
                  <a:srgbClr val="1E2A3B"/>
                </a:solidFill>
                <a:latin typeface="Consolas"/>
              </a:rPr>
              <a:t>hw_ready</a:t>
            </a:r>
          </a:p>
        </p:txBody>
      </p:sp>
      <p:sp>
        <p:nvSpPr>
          <p:cNvPr id="18" name="Rounded Rectangle 17"/>
          <p:cNvSpPr/>
          <p:nvPr/>
        </p:nvSpPr>
        <p:spPr>
          <a:xfrm>
            <a:off x="6172200" y="3657600"/>
            <a:ext cx="5349240" cy="2103120"/>
          </a:xfrm>
          <a:prstGeom prst="roundRect">
            <a:avLst>
              <a:gd name="adj" fmla="val 6000"/>
            </a:avLst>
          </a:prstGeom>
          <a:solidFill>
            <a:srgbClr val="E6D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46520" y="3840480"/>
            <a:ext cx="2743200" cy="365760"/>
          </a:xfrm>
          <a:prstGeom prst="rect">
            <a:avLst/>
          </a:prstGeom>
          <a:noFill/>
        </p:spPr>
        <p:txBody>
          <a:bodyPr wrap="square" lIns="0" rIns="0" tIns="0" bIns="0" anchor="t">
            <a:spAutoFit/>
          </a:bodyPr>
          <a:lstStyle/>
          <a:p>
            <a:pPr algn="l"/>
            <a:r>
              <a:rPr sz="2000" b="1" i="0">
                <a:solidFill>
                  <a:srgbClr val="1E2A3B"/>
                </a:solidFill>
                <a:latin typeface="Cambria"/>
              </a:rPr>
              <a:t>Read stream</a:t>
            </a:r>
          </a:p>
        </p:txBody>
      </p:sp>
      <p:sp>
        <p:nvSpPr>
          <p:cNvPr id="20" name="TextBox 19"/>
          <p:cNvSpPr txBox="1"/>
          <p:nvPr/>
        </p:nvSpPr>
        <p:spPr>
          <a:xfrm>
            <a:off x="9098280" y="3895344"/>
            <a:ext cx="2194560" cy="320040"/>
          </a:xfrm>
          <a:prstGeom prst="rect">
            <a:avLst/>
          </a:prstGeom>
          <a:noFill/>
        </p:spPr>
        <p:txBody>
          <a:bodyPr wrap="square" lIns="0" rIns="0" tIns="0" bIns="0" anchor="t">
            <a:spAutoFit/>
          </a:bodyPr>
          <a:lstStyle/>
          <a:p>
            <a:pPr algn="r"/>
            <a:r>
              <a:rPr sz="1300" b="0" i="0">
                <a:solidFill>
                  <a:srgbClr val="4F5F74"/>
                </a:solidFill>
                <a:latin typeface="Calibri"/>
              </a:rPr>
              <a:t>you pull beats</a:t>
            </a:r>
          </a:p>
        </p:txBody>
      </p:sp>
      <p:sp>
        <p:nvSpPr>
          <p:cNvPr id="21" name="TextBox 20"/>
          <p:cNvSpPr txBox="1"/>
          <p:nvPr/>
        </p:nvSpPr>
        <p:spPr>
          <a:xfrm>
            <a:off x="6446520" y="4343400"/>
            <a:ext cx="2468880" cy="1371600"/>
          </a:xfrm>
          <a:prstGeom prst="rect">
            <a:avLst/>
          </a:prstGeom>
          <a:noFill/>
        </p:spPr>
        <p:txBody>
          <a:bodyPr wrap="square" lIns="0" rIns="0" tIns="0" bIns="0" anchor="t">
            <a:spAutoFit/>
          </a:bodyPr>
          <a:lstStyle/>
          <a:p>
            <a:pPr algn="l">
              <a:spcAft>
                <a:spcPts val="300"/>
              </a:spcAft>
            </a:pPr>
            <a:r>
              <a:rPr sz="1300" b="0" i="0">
                <a:solidFill>
                  <a:srgbClr val="1E2A3B"/>
                </a:solidFill>
                <a:latin typeface="Consolas"/>
              </a:rPr>
              <a:t>hr_data[31:0]</a:t>
            </a:r>
          </a:p>
          <a:p>
            <a:pPr algn="l">
              <a:spcAft>
                <a:spcPts val="300"/>
              </a:spcAft>
            </a:pPr>
            <a:r>
              <a:rPr sz="1300" b="0" i="0">
                <a:solidFill>
                  <a:srgbClr val="1E2A3B"/>
                </a:solidFill>
                <a:latin typeface="Consolas"/>
              </a:rPr>
              <a:t>hr_resp[1:0]</a:t>
            </a:r>
          </a:p>
          <a:p>
            <a:pPr algn="l">
              <a:spcAft>
                <a:spcPts val="300"/>
              </a:spcAft>
            </a:pPr>
            <a:r>
              <a:rPr sz="1300" b="0" i="0">
                <a:solidFill>
                  <a:srgbClr val="1E2A3B"/>
                </a:solidFill>
                <a:latin typeface="Consolas"/>
              </a:rPr>
              <a:t>hr_last</a:t>
            </a:r>
          </a:p>
        </p:txBody>
      </p:sp>
      <p:sp>
        <p:nvSpPr>
          <p:cNvPr id="22" name="TextBox 21"/>
          <p:cNvSpPr txBox="1"/>
          <p:nvPr/>
        </p:nvSpPr>
        <p:spPr>
          <a:xfrm>
            <a:off x="8915400" y="4343400"/>
            <a:ext cx="2468880" cy="1371600"/>
          </a:xfrm>
          <a:prstGeom prst="rect">
            <a:avLst/>
          </a:prstGeom>
          <a:noFill/>
        </p:spPr>
        <p:txBody>
          <a:bodyPr wrap="square" lIns="0" rIns="0" tIns="0" bIns="0" anchor="t">
            <a:spAutoFit/>
          </a:bodyPr>
          <a:lstStyle/>
          <a:p>
            <a:pPr algn="l">
              <a:spcAft>
                <a:spcPts val="300"/>
              </a:spcAft>
            </a:pPr>
            <a:r>
              <a:rPr sz="1300" b="0" i="0">
                <a:solidFill>
                  <a:srgbClr val="1E2A3B"/>
                </a:solidFill>
                <a:latin typeface="Consolas"/>
              </a:rPr>
              <a:t>hr_valid</a:t>
            </a:r>
          </a:p>
          <a:p>
            <a:pPr algn="l">
              <a:spcAft>
                <a:spcPts val="300"/>
              </a:spcAft>
            </a:pPr>
            <a:r>
              <a:rPr sz="1300" b="0" i="0">
                <a:solidFill>
                  <a:srgbClr val="1E2A3B"/>
                </a:solidFill>
                <a:latin typeface="Consolas"/>
              </a:rPr>
              <a:t>hr_ready</a:t>
            </a:r>
          </a:p>
        </p:txBody>
      </p:sp>
      <p:sp>
        <p:nvSpPr>
          <p:cNvPr id="23" name="TextBox 22"/>
          <p:cNvSpPr txBox="1"/>
          <p:nvPr/>
        </p:nvSpPr>
        <p:spPr>
          <a:xfrm>
            <a:off x="640080" y="5897880"/>
            <a:ext cx="10881360" cy="365760"/>
          </a:xfrm>
          <a:prstGeom prst="rect">
            <a:avLst/>
          </a:prstGeom>
          <a:noFill/>
        </p:spPr>
        <p:txBody>
          <a:bodyPr wrap="square" lIns="0" rIns="0" tIns="0" bIns="0" anchor="t">
            <a:spAutoFit/>
          </a:bodyPr>
          <a:lstStyle/>
          <a:p>
            <a:pPr algn="l"/>
            <a:r>
              <a:rPr sz="1500" b="0" i="1">
                <a:solidFill>
                  <a:srgbClr val="4F5F74"/>
                </a:solidFill>
                <a:latin typeface="Calibri"/>
              </a:rPr>
              <a:t>A start is ignored while cmd_busy is high. If both starts arrive together, the write wins.</a:t>
            </a:r>
          </a:p>
        </p:txBody>
      </p:sp>
      <p:sp>
        <p:nvSpPr>
          <p:cNvPr id="24"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subordinate and registered channels</a:t>
            </a:r>
          </a:p>
        </p:txBody>
      </p:sp>
      <p:sp>
        <p:nvSpPr>
          <p:cNvPr id="25"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The manager, state by state</a:t>
            </a:r>
          </a:p>
        </p:txBody>
      </p:sp>
      <p:sp>
        <p:nvSpPr>
          <p:cNvPr id="3" name="Rounded Rectangle 2"/>
          <p:cNvSpPr/>
          <p:nvPr/>
        </p:nvSpPr>
        <p:spPr>
          <a:xfrm>
            <a:off x="640080" y="1508760"/>
            <a:ext cx="1993392" cy="265176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59" y="1691640"/>
            <a:ext cx="1627632" cy="457200"/>
          </a:xfrm>
          <a:prstGeom prst="rect">
            <a:avLst/>
          </a:prstGeom>
          <a:noFill/>
        </p:spPr>
        <p:txBody>
          <a:bodyPr wrap="square" lIns="0" rIns="0" tIns="0" bIns="0" anchor="t">
            <a:spAutoFit/>
          </a:bodyPr>
          <a:lstStyle/>
          <a:p>
            <a:pPr algn="l"/>
            <a:r>
              <a:rPr sz="2200" b="1" i="0">
                <a:solidFill>
                  <a:srgbClr val="1E2A3B"/>
                </a:solidFill>
                <a:latin typeface="Consolas"/>
              </a:rPr>
              <a:t>IDLE</a:t>
            </a:r>
          </a:p>
        </p:txBody>
      </p:sp>
      <p:sp>
        <p:nvSpPr>
          <p:cNvPr id="5" name="TextBox 4"/>
          <p:cNvSpPr txBox="1"/>
          <p:nvPr/>
        </p:nvSpPr>
        <p:spPr>
          <a:xfrm>
            <a:off x="822959" y="2286000"/>
            <a:ext cx="1627632" cy="1828800"/>
          </a:xfrm>
          <a:prstGeom prst="rect">
            <a:avLst/>
          </a:prstGeom>
          <a:noFill/>
        </p:spPr>
        <p:txBody>
          <a:bodyPr wrap="square" lIns="0" rIns="0" tIns="0" bIns="0" anchor="t">
            <a:spAutoFit/>
          </a:bodyPr>
          <a:lstStyle/>
          <a:p>
            <a:pPr algn="l"/>
            <a:r>
              <a:rPr sz="1500" b="0" i="0">
                <a:solidFill>
                  <a:srgbClr val="1E2A3B"/>
                </a:solidFill>
                <a:latin typeface="Calibri"/>
              </a:rPr>
              <a:t>Waits for a start. Copies address, length, size, burst type and ID into registers.</a:t>
            </a:r>
          </a:p>
        </p:txBody>
      </p:sp>
      <p:cxnSp>
        <p:nvCxnSpPr>
          <p:cNvPr id="6" name="Connector 5"/>
          <p:cNvCxnSpPr/>
          <p:nvPr/>
        </p:nvCxnSpPr>
        <p:spPr>
          <a:xfrm>
            <a:off x="2651760" y="2834640"/>
            <a:ext cx="192024" cy="0"/>
          </a:xfrm>
          <a:prstGeom prst="line">
            <a:avLst/>
          </a:prstGeom>
          <a:ln w="25400">
            <a:solidFill>
              <a:srgbClr val="4F5F74"/>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862072" y="1508760"/>
            <a:ext cx="1993392" cy="265176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044952" y="1691640"/>
            <a:ext cx="1627632" cy="457200"/>
          </a:xfrm>
          <a:prstGeom prst="rect">
            <a:avLst/>
          </a:prstGeom>
          <a:noFill/>
        </p:spPr>
        <p:txBody>
          <a:bodyPr wrap="square" lIns="0" rIns="0" tIns="0" bIns="0" anchor="t">
            <a:spAutoFit/>
          </a:bodyPr>
          <a:lstStyle/>
          <a:p>
            <a:pPr algn="l"/>
            <a:r>
              <a:rPr sz="2200" b="1" i="0">
                <a:solidFill>
                  <a:srgbClr val="1E2A3B"/>
                </a:solidFill>
                <a:latin typeface="Consolas"/>
              </a:rPr>
              <a:t>WRITE</a:t>
            </a:r>
          </a:p>
        </p:txBody>
      </p:sp>
      <p:sp>
        <p:nvSpPr>
          <p:cNvPr id="9" name="TextBox 8"/>
          <p:cNvSpPr txBox="1"/>
          <p:nvPr/>
        </p:nvSpPr>
        <p:spPr>
          <a:xfrm>
            <a:off x="3044952" y="2286000"/>
            <a:ext cx="1627632" cy="1828800"/>
          </a:xfrm>
          <a:prstGeom prst="rect">
            <a:avLst/>
          </a:prstGeom>
          <a:noFill/>
        </p:spPr>
        <p:txBody>
          <a:bodyPr wrap="square" lIns="0" rIns="0" tIns="0" bIns="0" anchor="t">
            <a:spAutoFit/>
          </a:bodyPr>
          <a:lstStyle/>
          <a:p>
            <a:pPr algn="l"/>
            <a:r>
              <a:rPr sz="1500" b="0" i="0">
                <a:solidFill>
                  <a:srgbClr val="1E2A3B"/>
                </a:solidFill>
                <a:latin typeface="Calibri"/>
              </a:rPr>
              <a:t>Sends the address and streams the beats together. Counts beats, raises WLAST on the last.</a:t>
            </a:r>
          </a:p>
        </p:txBody>
      </p:sp>
      <p:cxnSp>
        <p:nvCxnSpPr>
          <p:cNvPr id="10" name="Connector 9"/>
          <p:cNvCxnSpPr/>
          <p:nvPr/>
        </p:nvCxnSpPr>
        <p:spPr>
          <a:xfrm>
            <a:off x="4873752" y="2834640"/>
            <a:ext cx="192024" cy="0"/>
          </a:xfrm>
          <a:prstGeom prst="line">
            <a:avLst/>
          </a:prstGeom>
          <a:ln w="25400">
            <a:solidFill>
              <a:srgbClr val="4F5F7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508760"/>
            <a:ext cx="1993392" cy="265176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266944" y="1691640"/>
            <a:ext cx="1627632" cy="457200"/>
          </a:xfrm>
          <a:prstGeom prst="rect">
            <a:avLst/>
          </a:prstGeom>
          <a:noFill/>
        </p:spPr>
        <p:txBody>
          <a:bodyPr wrap="square" lIns="0" rIns="0" tIns="0" bIns="0" anchor="t">
            <a:spAutoFit/>
          </a:bodyPr>
          <a:lstStyle/>
          <a:p>
            <a:pPr algn="l"/>
            <a:r>
              <a:rPr sz="2200" b="1" i="0">
                <a:solidFill>
                  <a:srgbClr val="1E2A3B"/>
                </a:solidFill>
                <a:latin typeface="Consolas"/>
              </a:rPr>
              <a:t>B</a:t>
            </a:r>
          </a:p>
        </p:txBody>
      </p:sp>
      <p:sp>
        <p:nvSpPr>
          <p:cNvPr id="13" name="TextBox 12"/>
          <p:cNvSpPr txBox="1"/>
          <p:nvPr/>
        </p:nvSpPr>
        <p:spPr>
          <a:xfrm>
            <a:off x="5266944" y="2286000"/>
            <a:ext cx="1627632" cy="1828800"/>
          </a:xfrm>
          <a:prstGeom prst="rect">
            <a:avLst/>
          </a:prstGeom>
          <a:noFill/>
        </p:spPr>
        <p:txBody>
          <a:bodyPr wrap="square" lIns="0" rIns="0" tIns="0" bIns="0" anchor="t">
            <a:spAutoFit/>
          </a:bodyPr>
          <a:lstStyle/>
          <a:p>
            <a:pPr algn="l"/>
            <a:r>
              <a:rPr sz="1500" b="0" i="0">
                <a:solidFill>
                  <a:srgbClr val="1E2A3B"/>
                </a:solidFill>
                <a:latin typeface="Calibri"/>
              </a:rPr>
              <a:t>Waits for the one response for the whole burst. Pulses cmd_done.</a:t>
            </a:r>
          </a:p>
        </p:txBody>
      </p:sp>
      <p:cxnSp>
        <p:nvCxnSpPr>
          <p:cNvPr id="14" name="Connector 13"/>
          <p:cNvCxnSpPr/>
          <p:nvPr/>
        </p:nvCxnSpPr>
        <p:spPr>
          <a:xfrm>
            <a:off x="7095744" y="2834640"/>
            <a:ext cx="192024" cy="0"/>
          </a:xfrm>
          <a:prstGeom prst="line">
            <a:avLst/>
          </a:prstGeom>
          <a:ln w="25400">
            <a:solidFill>
              <a:srgbClr val="4F5F7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306056" y="1508760"/>
            <a:ext cx="1993392" cy="2651760"/>
          </a:xfrm>
          <a:prstGeom prst="roundRect">
            <a:avLst>
              <a:gd name="adj" fmla="val 6000"/>
            </a:avLst>
          </a:prstGeom>
          <a:solidFill>
            <a:srgbClr val="D9F0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7488936" y="1691640"/>
            <a:ext cx="1627632" cy="457200"/>
          </a:xfrm>
          <a:prstGeom prst="rect">
            <a:avLst/>
          </a:prstGeom>
          <a:noFill/>
        </p:spPr>
        <p:txBody>
          <a:bodyPr wrap="square" lIns="0" rIns="0" tIns="0" bIns="0" anchor="t">
            <a:spAutoFit/>
          </a:bodyPr>
          <a:lstStyle/>
          <a:p>
            <a:pPr algn="l"/>
            <a:r>
              <a:rPr sz="2200" b="1" i="0">
                <a:solidFill>
                  <a:srgbClr val="1E2A3B"/>
                </a:solidFill>
                <a:latin typeface="Consolas"/>
              </a:rPr>
              <a:t>RADDR</a:t>
            </a:r>
          </a:p>
        </p:txBody>
      </p:sp>
      <p:sp>
        <p:nvSpPr>
          <p:cNvPr id="17" name="TextBox 16"/>
          <p:cNvSpPr txBox="1"/>
          <p:nvPr/>
        </p:nvSpPr>
        <p:spPr>
          <a:xfrm>
            <a:off x="7488936" y="2286000"/>
            <a:ext cx="1627632" cy="1828800"/>
          </a:xfrm>
          <a:prstGeom prst="rect">
            <a:avLst/>
          </a:prstGeom>
          <a:noFill/>
        </p:spPr>
        <p:txBody>
          <a:bodyPr wrap="square" lIns="0" rIns="0" tIns="0" bIns="0" anchor="t">
            <a:spAutoFit/>
          </a:bodyPr>
          <a:lstStyle/>
          <a:p>
            <a:pPr algn="l"/>
            <a:r>
              <a:rPr sz="1500" b="0" i="0">
                <a:solidFill>
                  <a:srgbClr val="1E2A3B"/>
                </a:solidFill>
                <a:latin typeface="Calibri"/>
              </a:rPr>
              <a:t>Sends the read address and waits for the subordinate to take it.</a:t>
            </a:r>
          </a:p>
        </p:txBody>
      </p:sp>
      <p:cxnSp>
        <p:nvCxnSpPr>
          <p:cNvPr id="18" name="Connector 17"/>
          <p:cNvCxnSpPr/>
          <p:nvPr/>
        </p:nvCxnSpPr>
        <p:spPr>
          <a:xfrm>
            <a:off x="9317736" y="2834640"/>
            <a:ext cx="192024" cy="0"/>
          </a:xfrm>
          <a:prstGeom prst="line">
            <a:avLst/>
          </a:prstGeom>
          <a:ln w="25400">
            <a:solidFill>
              <a:srgbClr val="4F5F74"/>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528048" y="1508760"/>
            <a:ext cx="1993392" cy="2651760"/>
          </a:xfrm>
          <a:prstGeom prst="roundRect">
            <a:avLst>
              <a:gd name="adj" fmla="val 6000"/>
            </a:avLst>
          </a:prstGeom>
          <a:solidFill>
            <a:srgbClr val="D9F0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710928" y="1691640"/>
            <a:ext cx="1627632" cy="457200"/>
          </a:xfrm>
          <a:prstGeom prst="rect">
            <a:avLst/>
          </a:prstGeom>
          <a:noFill/>
        </p:spPr>
        <p:txBody>
          <a:bodyPr wrap="square" lIns="0" rIns="0" tIns="0" bIns="0" anchor="t">
            <a:spAutoFit/>
          </a:bodyPr>
          <a:lstStyle/>
          <a:p>
            <a:pPr algn="l"/>
            <a:r>
              <a:rPr sz="2200" b="1" i="0">
                <a:solidFill>
                  <a:srgbClr val="1E2A3B"/>
                </a:solidFill>
                <a:latin typeface="Consolas"/>
              </a:rPr>
              <a:t>RDATA</a:t>
            </a:r>
          </a:p>
        </p:txBody>
      </p:sp>
      <p:sp>
        <p:nvSpPr>
          <p:cNvPr id="21" name="TextBox 20"/>
          <p:cNvSpPr txBox="1"/>
          <p:nvPr/>
        </p:nvSpPr>
        <p:spPr>
          <a:xfrm>
            <a:off x="9710928" y="2286000"/>
            <a:ext cx="1627632" cy="1828800"/>
          </a:xfrm>
          <a:prstGeom prst="rect">
            <a:avLst/>
          </a:prstGeom>
          <a:noFill/>
        </p:spPr>
        <p:txBody>
          <a:bodyPr wrap="square" lIns="0" rIns="0" tIns="0" bIns="0" anchor="t">
            <a:spAutoFit/>
          </a:bodyPr>
          <a:lstStyle/>
          <a:p>
            <a:pPr algn="l"/>
            <a:r>
              <a:rPr sz="1500" b="0" i="0">
                <a:solidFill>
                  <a:srgbClr val="1E2A3B"/>
                </a:solidFill>
                <a:latin typeface="Calibri"/>
              </a:rPr>
              <a:t>Passes beats to the host until RLAST. Flags a RLAST on the wrong beat.</a:t>
            </a:r>
          </a:p>
        </p:txBody>
      </p:sp>
      <p:sp>
        <p:nvSpPr>
          <p:cNvPr id="22" name="Rounded Rectangle 21"/>
          <p:cNvSpPr/>
          <p:nvPr/>
        </p:nvSpPr>
        <p:spPr>
          <a:xfrm>
            <a:off x="640080" y="4434840"/>
            <a:ext cx="5349240" cy="1645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14400" y="4572000"/>
            <a:ext cx="4846320" cy="365760"/>
          </a:xfrm>
          <a:prstGeom prst="rect">
            <a:avLst/>
          </a:prstGeom>
          <a:noFill/>
        </p:spPr>
        <p:txBody>
          <a:bodyPr wrap="square" lIns="0" rIns="0" tIns="0" bIns="0" anchor="t">
            <a:spAutoFit/>
          </a:bodyPr>
          <a:lstStyle/>
          <a:p>
            <a:pPr algn="l"/>
            <a:r>
              <a:rPr sz="1800" b="1" i="0">
                <a:solidFill>
                  <a:srgbClr val="1E2A3B"/>
                </a:solidFill>
                <a:latin typeface="Cambria"/>
              </a:rPr>
              <a:t>Registered description</a:t>
            </a:r>
          </a:p>
        </p:txBody>
      </p:sp>
      <p:sp>
        <p:nvSpPr>
          <p:cNvPr id="24" name="TextBox 23"/>
          <p:cNvSpPr txBox="1"/>
          <p:nvPr/>
        </p:nvSpPr>
        <p:spPr>
          <a:xfrm>
            <a:off x="914400" y="5029200"/>
            <a:ext cx="4846320" cy="1005840"/>
          </a:xfrm>
          <a:prstGeom prst="rect">
            <a:avLst/>
          </a:prstGeom>
          <a:noFill/>
        </p:spPr>
        <p:txBody>
          <a:bodyPr wrap="square" lIns="0" rIns="0" tIns="0" bIns="0" anchor="t">
            <a:spAutoFit/>
          </a:bodyPr>
          <a:lstStyle/>
          <a:p>
            <a:pPr algn="l"/>
            <a:r>
              <a:rPr sz="1500" b="0" i="0">
                <a:solidFill>
                  <a:srgbClr val="1E2A3B"/>
                </a:solidFill>
                <a:latin typeface="Calibri"/>
              </a:rPr>
              <a:t>The bus wires come from flip-flops loaded once. Your logic may change cmd_addr a cycle later without touching the burst in flight.</a:t>
            </a:r>
          </a:p>
        </p:txBody>
      </p:sp>
      <p:sp>
        <p:nvSpPr>
          <p:cNvPr id="25" name="Rounded Rectangle 24"/>
          <p:cNvSpPr/>
          <p:nvPr/>
        </p:nvSpPr>
        <p:spPr>
          <a:xfrm>
            <a:off x="6172200" y="4434840"/>
            <a:ext cx="5349240" cy="16459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46520" y="4572000"/>
            <a:ext cx="4846320" cy="365760"/>
          </a:xfrm>
          <a:prstGeom prst="rect">
            <a:avLst/>
          </a:prstGeom>
          <a:noFill/>
        </p:spPr>
        <p:txBody>
          <a:bodyPr wrap="square" lIns="0" rIns="0" tIns="0" bIns="0" anchor="t">
            <a:spAutoFit/>
          </a:bodyPr>
          <a:lstStyle/>
          <a:p>
            <a:pPr algn="l"/>
            <a:r>
              <a:rPr sz="1800" b="1" i="0">
                <a:solidFill>
                  <a:srgbClr val="1E2A3B"/>
                </a:solidFill>
                <a:latin typeface="Cambria"/>
              </a:rPr>
              <a:t>WLAST made here</a:t>
            </a:r>
          </a:p>
        </p:txBody>
      </p:sp>
      <p:sp>
        <p:nvSpPr>
          <p:cNvPr id="27" name="TextBox 26"/>
          <p:cNvSpPr txBox="1"/>
          <p:nvPr/>
        </p:nvSpPr>
        <p:spPr>
          <a:xfrm>
            <a:off x="6446520" y="5029200"/>
            <a:ext cx="4846320" cy="1005840"/>
          </a:xfrm>
          <a:prstGeom prst="rect">
            <a:avLst/>
          </a:prstGeom>
          <a:noFill/>
        </p:spPr>
        <p:txBody>
          <a:bodyPr wrap="square" lIns="0" rIns="0" tIns="0" bIns="0" anchor="t">
            <a:spAutoFit/>
          </a:bodyPr>
          <a:lstStyle/>
          <a:p>
            <a:pPr algn="l"/>
            <a:r>
              <a:rPr sz="1500" b="0" i="0">
                <a:solidFill>
                  <a:srgbClr val="1E2A3B"/>
                </a:solidFill>
                <a:latin typeface="Calibri"/>
              </a:rPr>
              <a:t>The manager counts beats and raises WLAST itself, so your logic only streams data.</a:t>
            </a:r>
          </a:p>
        </p:txBody>
      </p:sp>
      <p:sp>
        <p:nvSpPr>
          <p:cNvPr id="28"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subordinate and registered channels</a:t>
            </a:r>
          </a:p>
        </p:txBody>
      </p:sp>
      <p:sp>
        <p:nvSpPr>
          <p:cNvPr id="29"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The subordinate</a:t>
            </a:r>
          </a:p>
        </p:txBody>
      </p:sp>
      <p:sp>
        <p:nvSpPr>
          <p:cNvPr id="3" name="Rounded Rectangle 2"/>
          <p:cNvSpPr/>
          <p:nvPr/>
        </p:nvSpPr>
        <p:spPr>
          <a:xfrm>
            <a:off x="640080" y="1417320"/>
            <a:ext cx="3493008" cy="4663440"/>
          </a:xfrm>
          <a:prstGeom prst="roundRect">
            <a:avLst>
              <a:gd name="adj" fmla="val 6000"/>
            </a:avLst>
          </a:prstGeom>
          <a:solidFill>
            <a:srgbClr val="E6D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1645920"/>
            <a:ext cx="2944368" cy="411480"/>
          </a:xfrm>
          <a:prstGeom prst="rect">
            <a:avLst/>
          </a:prstGeom>
          <a:noFill/>
        </p:spPr>
        <p:txBody>
          <a:bodyPr wrap="square" lIns="0" rIns="0" tIns="0" bIns="0" anchor="t">
            <a:spAutoFit/>
          </a:bodyPr>
          <a:lstStyle/>
          <a:p>
            <a:pPr algn="l"/>
            <a:r>
              <a:rPr sz="1900" b="1" i="0">
                <a:solidFill>
                  <a:srgbClr val="1E2A3B"/>
                </a:solidFill>
                <a:latin typeface="Cambria"/>
              </a:rPr>
              <a:t>Write engine</a:t>
            </a:r>
          </a:p>
        </p:txBody>
      </p:sp>
      <p:sp>
        <p:nvSpPr>
          <p:cNvPr id="5" name="TextBox 4"/>
          <p:cNvSpPr txBox="1"/>
          <p:nvPr/>
        </p:nvSpPr>
        <p:spPr>
          <a:xfrm>
            <a:off x="914400" y="2148840"/>
            <a:ext cx="2944368" cy="3749039"/>
          </a:xfrm>
          <a:prstGeom prst="rect">
            <a:avLst/>
          </a:prstGeom>
          <a:noFill/>
        </p:spPr>
        <p:txBody>
          <a:bodyPr wrap="square" lIns="0" rIns="0" tIns="0" bIns="0" anchor="t">
            <a:spAutoFit/>
          </a:bodyPr>
          <a:lstStyle/>
          <a:p>
            <a:pPr algn="l">
              <a:spcAft>
                <a:spcPts val="600"/>
              </a:spcAft>
            </a:pPr>
            <a:r>
              <a:rPr sz="1800" b="0" i="0">
                <a:solidFill>
                  <a:srgbClr val="1E2A3B"/>
                </a:solidFill>
                <a:latin typeface="Calibri"/>
              </a:rPr>
              <a:t>IDLE, DATA, RESP</a:t>
            </a:r>
          </a:p>
          <a:p>
            <a:pPr algn="l">
              <a:spcAft>
                <a:spcPts val="600"/>
              </a:spcAft>
            </a:pPr>
            <a:r>
              <a:rPr sz="1800" b="0" i="0">
                <a:solidFill>
                  <a:srgbClr val="1E2A3B"/>
                </a:solidFill>
                <a:latin typeface="Calibri"/>
              </a:rPr>
              <a:t>Takes the address, then raises WREADY</a:t>
            </a:r>
          </a:p>
          <a:p>
            <a:pPr algn="l">
              <a:spcAft>
                <a:spcPts val="600"/>
              </a:spcAft>
            </a:pPr>
            <a:r>
              <a:rPr sz="1800" b="0" i="0">
                <a:solidFill>
                  <a:srgbClr val="1E2A3B"/>
                </a:solidFill>
                <a:latin typeface="Calibri"/>
              </a:rPr>
              <a:t>Applies WSTRB byte by byte</a:t>
            </a:r>
          </a:p>
          <a:p>
            <a:pPr algn="l">
              <a:spcAft>
                <a:spcPts val="600"/>
              </a:spcAft>
            </a:pPr>
            <a:r>
              <a:rPr sz="1800" b="0" i="0">
                <a:solidFill>
                  <a:srgbClr val="1E2A3B"/>
                </a:solidFill>
                <a:latin typeface="Calibri"/>
              </a:rPr>
              <a:t>Steps the address per beat</a:t>
            </a:r>
          </a:p>
          <a:p>
            <a:pPr algn="l">
              <a:spcAft>
                <a:spcPts val="600"/>
              </a:spcAft>
            </a:pPr>
            <a:r>
              <a:rPr sz="1800" b="0" i="0">
                <a:solidFill>
                  <a:srgbClr val="1E2A3B"/>
                </a:solidFill>
                <a:latin typeface="Calibri"/>
              </a:rPr>
              <a:t>One B response per burst, BID copied from AWID</a:t>
            </a:r>
          </a:p>
        </p:txBody>
      </p:sp>
      <p:sp>
        <p:nvSpPr>
          <p:cNvPr id="6" name="Rounded Rectangle 5"/>
          <p:cNvSpPr/>
          <p:nvPr/>
        </p:nvSpPr>
        <p:spPr>
          <a:xfrm>
            <a:off x="4334256" y="1417320"/>
            <a:ext cx="3493008" cy="4663440"/>
          </a:xfrm>
          <a:prstGeom prst="roundRect">
            <a:avLst>
              <a:gd name="adj" fmla="val 6000"/>
            </a:avLst>
          </a:prstGeom>
          <a:solidFill>
            <a:srgbClr val="D9F0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608576" y="1645920"/>
            <a:ext cx="2944368" cy="411480"/>
          </a:xfrm>
          <a:prstGeom prst="rect">
            <a:avLst/>
          </a:prstGeom>
          <a:noFill/>
        </p:spPr>
        <p:txBody>
          <a:bodyPr wrap="square" lIns="0" rIns="0" tIns="0" bIns="0" anchor="t">
            <a:spAutoFit/>
          </a:bodyPr>
          <a:lstStyle/>
          <a:p>
            <a:pPr algn="l"/>
            <a:r>
              <a:rPr sz="1900" b="1" i="0">
                <a:solidFill>
                  <a:srgbClr val="1E2A3B"/>
                </a:solidFill>
                <a:latin typeface="Cambria"/>
              </a:rPr>
              <a:t>Read engine</a:t>
            </a:r>
          </a:p>
        </p:txBody>
      </p:sp>
      <p:sp>
        <p:nvSpPr>
          <p:cNvPr id="8" name="TextBox 7"/>
          <p:cNvSpPr txBox="1"/>
          <p:nvPr/>
        </p:nvSpPr>
        <p:spPr>
          <a:xfrm>
            <a:off x="4608576" y="2148840"/>
            <a:ext cx="2944368" cy="3749039"/>
          </a:xfrm>
          <a:prstGeom prst="rect">
            <a:avLst/>
          </a:prstGeom>
          <a:noFill/>
        </p:spPr>
        <p:txBody>
          <a:bodyPr wrap="square" lIns="0" rIns="0" tIns="0" bIns="0" anchor="t">
            <a:spAutoFit/>
          </a:bodyPr>
          <a:lstStyle/>
          <a:p>
            <a:pPr algn="l">
              <a:spcAft>
                <a:spcPts val="600"/>
              </a:spcAft>
            </a:pPr>
            <a:r>
              <a:rPr sz="1800" b="0" i="0">
                <a:solidFill>
                  <a:srgbClr val="1E2A3B"/>
                </a:solidFill>
                <a:latin typeface="Calibri"/>
              </a:rPr>
              <a:t>IDLE, DATA</a:t>
            </a:r>
          </a:p>
          <a:p>
            <a:pPr algn="l">
              <a:spcAft>
                <a:spcPts val="600"/>
              </a:spcAft>
            </a:pPr>
            <a:r>
              <a:rPr sz="1800" b="0" i="0">
                <a:solidFill>
                  <a:srgbClr val="1E2A3B"/>
                </a:solidFill>
                <a:latin typeface="Calibri"/>
              </a:rPr>
              <a:t>First word fetched on the AR handshake</a:t>
            </a:r>
          </a:p>
          <a:p>
            <a:pPr algn="l">
              <a:spcAft>
                <a:spcPts val="600"/>
              </a:spcAft>
            </a:pPr>
            <a:r>
              <a:rPr sz="1800" b="0" i="0">
                <a:solidFill>
                  <a:srgbClr val="1E2A3B"/>
                </a:solidFill>
                <a:latin typeface="Calibri"/>
              </a:rPr>
              <a:t>Next word fetched on each R handshake</a:t>
            </a:r>
          </a:p>
          <a:p>
            <a:pPr algn="l">
              <a:spcAft>
                <a:spcPts val="600"/>
              </a:spcAft>
            </a:pPr>
            <a:r>
              <a:rPr sz="1800" b="0" i="0">
                <a:solidFill>
                  <a:srgbClr val="1E2A3B"/>
                </a:solidFill>
                <a:latin typeface="Calibri"/>
              </a:rPr>
              <a:t>One beat per clock, no gaps</a:t>
            </a:r>
          </a:p>
          <a:p>
            <a:pPr algn="l">
              <a:spcAft>
                <a:spcPts val="600"/>
              </a:spcAft>
            </a:pPr>
            <a:r>
              <a:rPr sz="1800" b="0" i="0">
                <a:solidFill>
                  <a:srgbClr val="1E2A3B"/>
                </a:solidFill>
                <a:latin typeface="Calibri"/>
              </a:rPr>
              <a:t>RLAST on the final beat</a:t>
            </a:r>
          </a:p>
        </p:txBody>
      </p:sp>
      <p:sp>
        <p:nvSpPr>
          <p:cNvPr id="9" name="Rounded Rectangle 8"/>
          <p:cNvSpPr/>
          <p:nvPr/>
        </p:nvSpPr>
        <p:spPr>
          <a:xfrm>
            <a:off x="8028431" y="1417320"/>
            <a:ext cx="3493008" cy="466344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302752" y="1645920"/>
            <a:ext cx="2926080" cy="411480"/>
          </a:xfrm>
          <a:prstGeom prst="rect">
            <a:avLst/>
          </a:prstGeom>
          <a:noFill/>
        </p:spPr>
        <p:txBody>
          <a:bodyPr wrap="square" lIns="0" rIns="0" tIns="0" bIns="0" anchor="t">
            <a:spAutoFit/>
          </a:bodyPr>
          <a:lstStyle/>
          <a:p>
            <a:pPr algn="l"/>
            <a:r>
              <a:rPr sz="1900" b="1" i="0">
                <a:solidFill>
                  <a:srgbClr val="1E2A3B"/>
                </a:solidFill>
                <a:latin typeface="Cambria"/>
              </a:rPr>
              <a:t>Errors</a:t>
            </a:r>
          </a:p>
        </p:txBody>
      </p:sp>
      <p:sp>
        <p:nvSpPr>
          <p:cNvPr id="11" name="TextBox 10"/>
          <p:cNvSpPr txBox="1"/>
          <p:nvPr/>
        </p:nvSpPr>
        <p:spPr>
          <a:xfrm>
            <a:off x="8302752" y="2194560"/>
            <a:ext cx="2971800" cy="3749039"/>
          </a:xfrm>
          <a:prstGeom prst="rect">
            <a:avLst/>
          </a:prstGeom>
          <a:noFill/>
        </p:spPr>
        <p:txBody>
          <a:bodyPr wrap="square" lIns="0" rIns="0" tIns="0" bIns="0" anchor="t">
            <a:spAutoFit/>
          </a:bodyPr>
          <a:lstStyle/>
          <a:p>
            <a:pPr algn="l"/>
            <a:r>
              <a:rPr sz="1500" b="1" i="0">
                <a:solidFill>
                  <a:srgbClr val="8F5C00"/>
                </a:solidFill>
                <a:latin typeface="Consolas"/>
              </a:rPr>
              <a:t>DECERR</a:t>
            </a:r>
          </a:p>
          <a:p>
            <a:pPr algn="l">
              <a:spcAft>
                <a:spcPts val="1000"/>
              </a:spcAft>
            </a:pPr>
            <a:r>
              <a:rPr sz="1600" b="0" i="0">
                <a:solidFill>
                  <a:srgbClr val="1E2A3B"/>
                </a:solidFill>
                <a:latin typeface="Calibri"/>
              </a:rPr>
              <a:t>Address outside the 4 KiB region.</a:t>
            </a:r>
          </a:p>
          <a:p>
            <a:pPr algn="l"/>
            <a:r>
              <a:rPr sz="1500" b="1" i="0">
                <a:solidFill>
                  <a:srgbClr val="8F5C00"/>
                </a:solidFill>
                <a:latin typeface="Consolas"/>
              </a:rPr>
              <a:t>SLVERR</a:t>
            </a:r>
          </a:p>
          <a:p>
            <a:pPr algn="l">
              <a:spcAft>
                <a:spcPts val="1000"/>
              </a:spcAft>
            </a:pPr>
            <a:r>
              <a:rPr sz="1600" b="0" i="0">
                <a:solidFill>
                  <a:srgbClr val="1E2A3B"/>
                </a:solidFill>
                <a:latin typeface="Calibri"/>
              </a:rPr>
              <a:t>Reserved burst code, beat wider than the bus, bad WRAP length, or WLAST on the wrong beat.</a:t>
            </a:r>
          </a:p>
          <a:p>
            <a:pPr algn="l"/>
            <a:r>
              <a:rPr sz="1600" b="0" i="1">
                <a:solidFill>
                  <a:srgbClr val="4F5F74"/>
                </a:solidFill>
                <a:latin typeface="Calibri"/>
              </a:rPr>
              <a:t>A failing write is still fully accepted. A failing read still returns every beat. The manager never hangs.</a:t>
            </a:r>
          </a:p>
        </p:txBody>
      </p:sp>
      <p:sp>
        <p:nvSpPr>
          <p:cNvPr id="12"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subordinate and registered channels</a:t>
            </a:r>
          </a:p>
        </p:txBody>
      </p:sp>
      <p:sp>
        <p:nvSpPr>
          <p:cNvPr id="13"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The flip-flop stage: a skid buffer</a:t>
            </a:r>
          </a:p>
        </p:txBody>
      </p:sp>
      <p:pic>
        <p:nvPicPr>
          <p:cNvPr id="3" name="Picture 2" descr="Skid buffer: an output register and a spare skid slot with in_ready equal to not skid_valid."/>
          <p:cNvPicPr>
            <a:picLocks noChangeAspect="1"/>
          </p:cNvPicPr>
          <p:nvPr/>
        </p:nvPicPr>
        <p:blipFill>
          <a:blip r:embed="rId3"/>
          <a:stretch>
            <a:fillRect/>
          </a:stretch>
        </p:blipFill>
        <p:spPr>
          <a:xfrm>
            <a:off x="640080" y="2194560"/>
            <a:ext cx="6400800" cy="2700338"/>
          </a:xfrm>
          <a:prstGeom prst="rect">
            <a:avLst/>
          </a:prstGeom>
        </p:spPr>
      </p:pic>
      <p:sp>
        <p:nvSpPr>
          <p:cNvPr id="4" name="Rounded Rectangle 3"/>
          <p:cNvSpPr/>
          <p:nvPr/>
        </p:nvSpPr>
        <p:spPr>
          <a:xfrm>
            <a:off x="7315200" y="1463040"/>
            <a:ext cx="4233672" cy="46177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589520" y="1645920"/>
            <a:ext cx="3657600" cy="365760"/>
          </a:xfrm>
          <a:prstGeom prst="rect">
            <a:avLst/>
          </a:prstGeom>
          <a:noFill/>
        </p:spPr>
        <p:txBody>
          <a:bodyPr wrap="square" lIns="0" rIns="0" tIns="0" bIns="0" anchor="t">
            <a:spAutoFit/>
          </a:bodyPr>
          <a:lstStyle/>
          <a:p>
            <a:pPr algn="l"/>
            <a:r>
              <a:rPr sz="1900" b="1" i="0">
                <a:solidFill>
                  <a:srgbClr val="1E2A3B"/>
                </a:solidFill>
                <a:latin typeface="Cambria"/>
              </a:rPr>
              <a:t>Why not one flip-flop?</a:t>
            </a:r>
          </a:p>
        </p:txBody>
      </p:sp>
      <p:sp>
        <p:nvSpPr>
          <p:cNvPr id="6" name="TextBox 5"/>
          <p:cNvSpPr txBox="1"/>
          <p:nvPr/>
        </p:nvSpPr>
        <p:spPr>
          <a:xfrm>
            <a:off x="7589520" y="2103120"/>
            <a:ext cx="3703320" cy="1371600"/>
          </a:xfrm>
          <a:prstGeom prst="rect">
            <a:avLst/>
          </a:prstGeom>
          <a:noFill/>
        </p:spPr>
        <p:txBody>
          <a:bodyPr wrap="square" lIns="0" rIns="0" tIns="0" bIns="0" anchor="t">
            <a:spAutoFit/>
          </a:bodyPr>
          <a:lstStyle/>
          <a:p>
            <a:pPr algn="l"/>
            <a:r>
              <a:rPr sz="1500" b="0" i="0">
                <a:solidFill>
                  <a:srgbClr val="1E2A3B"/>
                </a:solidFill>
                <a:latin typeface="Calibri"/>
              </a:rPr>
              <a:t>READY would reach the sender one cycle late, so it could push a beat the stage has already used. That beat would be lost.</a:t>
            </a:r>
          </a:p>
        </p:txBody>
      </p:sp>
      <p:sp>
        <p:nvSpPr>
          <p:cNvPr id="7" name="TextBox 6"/>
          <p:cNvSpPr txBox="1"/>
          <p:nvPr/>
        </p:nvSpPr>
        <p:spPr>
          <a:xfrm>
            <a:off x="7589520" y="3520440"/>
            <a:ext cx="3657600" cy="365760"/>
          </a:xfrm>
          <a:prstGeom prst="rect">
            <a:avLst/>
          </a:prstGeom>
          <a:noFill/>
        </p:spPr>
        <p:txBody>
          <a:bodyPr wrap="square" lIns="0" rIns="0" tIns="0" bIns="0" anchor="t">
            <a:spAutoFit/>
          </a:bodyPr>
          <a:lstStyle/>
          <a:p>
            <a:pPr algn="l"/>
            <a:r>
              <a:rPr sz="1900" b="1" i="0">
                <a:solidFill>
                  <a:srgbClr val="1E2A3B"/>
                </a:solidFill>
                <a:latin typeface="Cambria"/>
              </a:rPr>
              <a:t>What it costs</a:t>
            </a:r>
          </a:p>
        </p:txBody>
      </p:sp>
      <p:sp>
        <p:nvSpPr>
          <p:cNvPr id="8" name="TextBox 7"/>
          <p:cNvSpPr txBox="1"/>
          <p:nvPr/>
        </p:nvSpPr>
        <p:spPr>
          <a:xfrm>
            <a:off x="7589520" y="3977639"/>
            <a:ext cx="3703320" cy="2011680"/>
          </a:xfrm>
          <a:prstGeom prst="rect">
            <a:avLst/>
          </a:prstGeom>
          <a:noFill/>
        </p:spPr>
        <p:txBody>
          <a:bodyPr wrap="square" lIns="0" rIns="0" tIns="0" bIns="0" anchor="t">
            <a:spAutoFit/>
          </a:bodyPr>
          <a:lstStyle/>
          <a:p>
            <a:pPr algn="l">
              <a:spcAft>
                <a:spcPts val="600"/>
              </a:spcAft>
            </a:pPr>
            <a:r>
              <a:rPr sz="1500" b="0" i="0">
                <a:solidFill>
                  <a:srgbClr val="1E2A3B"/>
                </a:solidFill>
                <a:latin typeface="Calibri"/>
              </a:rPr>
              <a:t>+2 cycles per transaction, fixed</a:t>
            </a:r>
          </a:p>
          <a:p>
            <a:pPr algn="l">
              <a:spcAft>
                <a:spcPts val="600"/>
              </a:spcAft>
            </a:pPr>
            <a:r>
              <a:rPr sz="1500" b="0" i="0">
                <a:solidFill>
                  <a:srgbClr val="1E2A3B"/>
                </a:solidFill>
                <a:latin typeface="Calibri"/>
              </a:rPr>
              <a:t>Still 1 beat per clock</a:t>
            </a:r>
          </a:p>
          <a:p>
            <a:pPr algn="l">
              <a:spcAft>
                <a:spcPts val="0"/>
              </a:spcAft>
            </a:pPr>
            <a:r>
              <a:rPr sz="1500" b="0" i="0">
                <a:solidFill>
                  <a:srgbClr val="1E2A3B"/>
                </a:solidFill>
                <a:latin typeface="Calibri"/>
              </a:rPr>
              <a:t>Every path between the modules is register to register</a:t>
            </a:r>
          </a:p>
        </p:txBody>
      </p:sp>
      <p:sp>
        <p:nvSpPr>
          <p:cNvPr id="9"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subordinate and registered channels</a:t>
            </a:r>
          </a:p>
        </p:txBody>
      </p:sp>
      <p:sp>
        <p:nvSpPr>
          <p:cNvPr id="10"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A 4-beat write, recorded from the simulation</a:t>
            </a:r>
          </a:p>
        </p:txBody>
      </p:sp>
      <p:pic>
        <p:nvPicPr>
          <p:cNvPr id="3" name="Picture 2" descr="Waveform of a 4-beat write through the flip-flop stages."/>
          <p:cNvPicPr>
            <a:picLocks noChangeAspect="1"/>
          </p:cNvPicPr>
          <p:nvPr/>
        </p:nvPicPr>
        <p:blipFill>
          <a:blip r:embed="rId3"/>
          <a:stretch>
            <a:fillRect/>
          </a:stretch>
        </p:blipFill>
        <p:spPr>
          <a:xfrm>
            <a:off x="640080" y="1325880"/>
            <a:ext cx="7575104" cy="4846320"/>
          </a:xfrm>
          <a:prstGeom prst="rect">
            <a:avLst/>
          </a:prstGeom>
        </p:spPr>
      </p:pic>
      <p:sp>
        <p:nvSpPr>
          <p:cNvPr id="4" name="TextBox 3"/>
          <p:cNvSpPr txBox="1"/>
          <p:nvPr/>
        </p:nvSpPr>
        <p:spPr>
          <a:xfrm>
            <a:off x="8503920" y="1417320"/>
            <a:ext cx="3063240" cy="4754880"/>
          </a:xfrm>
          <a:prstGeom prst="rect">
            <a:avLst/>
          </a:prstGeom>
          <a:noFill/>
        </p:spPr>
        <p:txBody>
          <a:bodyPr wrap="square" lIns="0" rIns="0" tIns="0" bIns="0" anchor="t">
            <a:spAutoFit/>
          </a:bodyPr>
          <a:lstStyle/>
          <a:p>
            <a:pPr algn="l">
              <a:spcAft>
                <a:spcPts val="800"/>
              </a:spcAft>
            </a:pPr>
            <a:r>
              <a:rPr sz="1900" b="1" i="0">
                <a:solidFill>
                  <a:srgbClr val="1E2A3B"/>
                </a:solidFill>
                <a:latin typeface="Cambria"/>
              </a:rPr>
              <a:t>How to read it</a:t>
            </a:r>
          </a:p>
          <a:p>
            <a:pPr algn="l">
              <a:spcAft>
                <a:spcPts val="800"/>
              </a:spcAft>
            </a:pPr>
            <a:r>
              <a:rPr sz="1500" b="0" i="0">
                <a:solidFill>
                  <a:srgbClr val="1E2A3B"/>
                </a:solidFill>
                <a:latin typeface="Calibri"/>
              </a:rPr>
              <a:t>Amber dots are handshakes.</a:t>
            </a:r>
          </a:p>
          <a:p>
            <a:pPr algn="l">
              <a:spcAft>
                <a:spcPts val="800"/>
              </a:spcAft>
            </a:pPr>
            <a:r>
              <a:rPr sz="1500" b="0" i="0">
                <a:solidFill>
                  <a:srgbClr val="1E2A3B"/>
                </a:solidFill>
                <a:latin typeface="Calibri"/>
              </a:rPr>
              <a:t>Slave side is one cycle after master side: that is the flip-flop stage.</a:t>
            </a:r>
          </a:p>
          <a:p>
            <a:pPr algn="l">
              <a:spcAft>
                <a:spcPts val="800"/>
              </a:spcAft>
            </a:pPr>
            <a:r>
              <a:rPr sz="1500" b="0" i="0">
                <a:solidFill>
                  <a:srgbClr val="1E2A3B"/>
                </a:solidFill>
                <a:latin typeface="Calibri"/>
              </a:rPr>
              <a:t>Master WREADY dips at cycle 3 while the slave waits for the address.</a:t>
            </a:r>
          </a:p>
          <a:p>
            <a:pPr algn="l">
              <a:spcAft>
                <a:spcPts val="0"/>
              </a:spcAft>
            </a:pPr>
            <a:r>
              <a:rPr sz="1500" b="0" i="0">
                <a:solidFill>
                  <a:srgbClr val="1E2A3B"/>
                </a:solidFill>
                <a:latin typeface="Calibri"/>
              </a:rPr>
              <a:t>Four beats, WLAST on the fourth, busy for 8 cycles.</a:t>
            </a:r>
          </a:p>
        </p:txBody>
      </p:sp>
      <p:sp>
        <p:nvSpPr>
          <p:cNvPr id="5"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subordinate and registered channels</a:t>
            </a:r>
          </a:p>
        </p:txBody>
      </p:sp>
      <p:sp>
        <p:nvSpPr>
          <p:cNvPr id="6"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A 4-beat read, recorded from the simulation</a:t>
            </a:r>
          </a:p>
        </p:txBody>
      </p:sp>
      <p:pic>
        <p:nvPicPr>
          <p:cNvPr id="3" name="Picture 2" descr="Waveform of a 4-beat read through the flip-flop stages."/>
          <p:cNvPicPr>
            <a:picLocks noChangeAspect="1"/>
          </p:cNvPicPr>
          <p:nvPr/>
        </p:nvPicPr>
        <p:blipFill>
          <a:blip r:embed="rId3"/>
          <a:stretch>
            <a:fillRect/>
          </a:stretch>
        </p:blipFill>
        <p:spPr>
          <a:xfrm>
            <a:off x="640080" y="1828800"/>
            <a:ext cx="7589520" cy="3543234"/>
          </a:xfrm>
          <a:prstGeom prst="rect">
            <a:avLst/>
          </a:prstGeom>
        </p:spPr>
      </p:pic>
      <p:sp>
        <p:nvSpPr>
          <p:cNvPr id="4" name="TextBox 3"/>
          <p:cNvSpPr txBox="1"/>
          <p:nvPr/>
        </p:nvSpPr>
        <p:spPr>
          <a:xfrm>
            <a:off x="8503920" y="1828800"/>
            <a:ext cx="3063240" cy="3657600"/>
          </a:xfrm>
          <a:prstGeom prst="rect">
            <a:avLst/>
          </a:prstGeom>
          <a:noFill/>
        </p:spPr>
        <p:txBody>
          <a:bodyPr wrap="square" lIns="0" rIns="0" tIns="0" bIns="0" anchor="t">
            <a:spAutoFit/>
          </a:bodyPr>
          <a:lstStyle/>
          <a:p>
            <a:pPr algn="l">
              <a:spcAft>
                <a:spcPts val="800"/>
              </a:spcAft>
            </a:pPr>
            <a:r>
              <a:rPr sz="1900" b="1" i="0">
                <a:solidFill>
                  <a:srgbClr val="1E2A3B"/>
                </a:solidFill>
                <a:latin typeface="Cambria"/>
              </a:rPr>
              <a:t>How to read it</a:t>
            </a:r>
          </a:p>
          <a:p>
            <a:pPr algn="l">
              <a:spcAft>
                <a:spcPts val="800"/>
              </a:spcAft>
            </a:pPr>
            <a:r>
              <a:rPr sz="1500" b="0" i="0">
                <a:solidFill>
                  <a:srgbClr val="1E2A3B"/>
                </a:solidFill>
                <a:latin typeface="Calibri"/>
              </a:rPr>
              <a:t>One address, then four beats.</a:t>
            </a:r>
          </a:p>
          <a:p>
            <a:pPr algn="l">
              <a:spcAft>
                <a:spcPts val="800"/>
              </a:spcAft>
            </a:pPr>
            <a:r>
              <a:rPr sz="1500" b="0" i="0">
                <a:solidFill>
                  <a:srgbClr val="1E2A3B"/>
                </a:solidFill>
                <a:latin typeface="Calibri"/>
              </a:rPr>
              <a:t>Beats arrive at cycles 5, 6, 7 and 8, one per clock, no gaps.</a:t>
            </a:r>
          </a:p>
          <a:p>
            <a:pPr algn="l">
              <a:spcAft>
                <a:spcPts val="0"/>
              </a:spcAft>
            </a:pPr>
            <a:r>
              <a:rPr sz="1500" b="0" i="0">
                <a:solidFill>
                  <a:srgbClr val="1E2A3B"/>
                </a:solidFill>
                <a:latin typeface="Calibri"/>
              </a:rPr>
              <a:t>RLAST rides on the fourth beat.</a:t>
            </a:r>
          </a:p>
        </p:txBody>
      </p:sp>
      <p:sp>
        <p:nvSpPr>
          <p:cNvPr id="5"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subordinate and registered channels</a:t>
            </a:r>
          </a:p>
        </p:txBody>
      </p:sp>
      <p:sp>
        <p:nvSpPr>
          <p:cNvPr id="6"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How it was verified</a:t>
            </a:r>
          </a:p>
        </p:txBody>
      </p:sp>
      <p:sp>
        <p:nvSpPr>
          <p:cNvPr id="3" name="Rounded Rectangle 2"/>
          <p:cNvSpPr/>
          <p:nvPr/>
        </p:nvSpPr>
        <p:spPr>
          <a:xfrm>
            <a:off x="640080" y="1417320"/>
            <a:ext cx="3493008" cy="402336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1600200"/>
            <a:ext cx="2926080" cy="320040"/>
          </a:xfrm>
          <a:prstGeom prst="rect">
            <a:avLst/>
          </a:prstGeom>
          <a:noFill/>
        </p:spPr>
        <p:txBody>
          <a:bodyPr wrap="square" lIns="0" rIns="0" tIns="0" bIns="0" anchor="t">
            <a:spAutoFit/>
          </a:bodyPr>
          <a:lstStyle/>
          <a:p>
            <a:pPr algn="l"/>
            <a:r>
              <a:rPr sz="1300" b="1" i="0">
                <a:solidFill>
                  <a:srgbClr val="4F5F74"/>
                </a:solidFill>
                <a:latin typeface="Calibri"/>
              </a:rPr>
              <a:t>LEVEL 1</a:t>
            </a:r>
          </a:p>
        </p:txBody>
      </p:sp>
      <p:sp>
        <p:nvSpPr>
          <p:cNvPr id="5" name="TextBox 4"/>
          <p:cNvSpPr txBox="1"/>
          <p:nvPr/>
        </p:nvSpPr>
        <p:spPr>
          <a:xfrm>
            <a:off x="914400" y="1920240"/>
            <a:ext cx="2926080" cy="457200"/>
          </a:xfrm>
          <a:prstGeom prst="rect">
            <a:avLst/>
          </a:prstGeom>
          <a:noFill/>
        </p:spPr>
        <p:txBody>
          <a:bodyPr wrap="square" lIns="0" rIns="0" tIns="0" bIns="0" anchor="t">
            <a:spAutoFit/>
          </a:bodyPr>
          <a:lstStyle/>
          <a:p>
            <a:pPr algn="l"/>
            <a:r>
              <a:rPr sz="1900" b="1" i="0">
                <a:solidFill>
                  <a:srgbClr val="1E2A3B"/>
                </a:solidFill>
                <a:latin typeface="Cambria"/>
              </a:rPr>
              <a:t>Subordinate alone</a:t>
            </a:r>
          </a:p>
        </p:txBody>
      </p:sp>
      <p:sp>
        <p:nvSpPr>
          <p:cNvPr id="6" name="TextBox 5"/>
          <p:cNvSpPr txBox="1"/>
          <p:nvPr/>
        </p:nvSpPr>
        <p:spPr>
          <a:xfrm>
            <a:off x="914400" y="2514600"/>
            <a:ext cx="2926080" cy="822960"/>
          </a:xfrm>
          <a:prstGeom prst="rect">
            <a:avLst/>
          </a:prstGeom>
          <a:noFill/>
        </p:spPr>
        <p:txBody>
          <a:bodyPr wrap="square" lIns="0" rIns="0" tIns="0" bIns="0" anchor="t">
            <a:spAutoFit/>
          </a:bodyPr>
          <a:lstStyle/>
          <a:p>
            <a:pPr algn="l"/>
            <a:r>
              <a:rPr sz="4400" b="1" i="0">
                <a:solidFill>
                  <a:srgbClr val="1E2A3B"/>
                </a:solidFill>
                <a:latin typeface="Cambria"/>
              </a:rPr>
              <a:t>45</a:t>
            </a:r>
          </a:p>
        </p:txBody>
      </p:sp>
      <p:sp>
        <p:nvSpPr>
          <p:cNvPr id="7" name="TextBox 6"/>
          <p:cNvSpPr txBox="1"/>
          <p:nvPr/>
        </p:nvSpPr>
        <p:spPr>
          <a:xfrm>
            <a:off x="914400" y="3383280"/>
            <a:ext cx="2926080" cy="274320"/>
          </a:xfrm>
          <a:prstGeom prst="rect">
            <a:avLst/>
          </a:prstGeom>
          <a:noFill/>
        </p:spPr>
        <p:txBody>
          <a:bodyPr wrap="square" lIns="0" rIns="0" tIns="0" bIns="0" anchor="t">
            <a:spAutoFit/>
          </a:bodyPr>
          <a:lstStyle/>
          <a:p>
            <a:pPr algn="l"/>
            <a:r>
              <a:rPr sz="1300" b="0" i="0">
                <a:solidFill>
                  <a:srgbClr val="4F5F74"/>
                </a:solidFill>
                <a:latin typeface="Calibri"/>
              </a:rPr>
              <a:t>checks</a:t>
            </a:r>
          </a:p>
        </p:txBody>
      </p:sp>
      <p:sp>
        <p:nvSpPr>
          <p:cNvPr id="8" name="TextBox 7"/>
          <p:cNvSpPr txBox="1"/>
          <p:nvPr/>
        </p:nvSpPr>
        <p:spPr>
          <a:xfrm>
            <a:off x="914400" y="3794760"/>
            <a:ext cx="2971800" cy="1554480"/>
          </a:xfrm>
          <a:prstGeom prst="rect">
            <a:avLst/>
          </a:prstGeom>
          <a:noFill/>
        </p:spPr>
        <p:txBody>
          <a:bodyPr wrap="square" lIns="0" rIns="0" tIns="0" bIns="0" anchor="t">
            <a:spAutoFit/>
          </a:bodyPr>
          <a:lstStyle/>
          <a:p>
            <a:pPr algn="l"/>
            <a:r>
              <a:rPr sz="1400" b="0" i="0">
                <a:solidFill>
                  <a:srgbClr val="1E2A3B"/>
                </a:solidFill>
                <a:latin typeface="Calibri"/>
              </a:rPr>
              <a:t>Testbench plays the manager: AW before W, W before AW, response stalls, WRAP, FIXED, byte strobes, bad addresses, ID echo, narrow beats.</a:t>
            </a:r>
          </a:p>
        </p:txBody>
      </p:sp>
      <p:sp>
        <p:nvSpPr>
          <p:cNvPr id="9" name="Rounded Rectangle 8"/>
          <p:cNvSpPr/>
          <p:nvPr/>
        </p:nvSpPr>
        <p:spPr>
          <a:xfrm>
            <a:off x="4334256" y="1417320"/>
            <a:ext cx="3493008" cy="4023360"/>
          </a:xfrm>
          <a:prstGeom prst="roundRect">
            <a:avLst>
              <a:gd name="adj" fmla="val 6000"/>
            </a:avLst>
          </a:prstGeom>
          <a:solidFill>
            <a:srgbClr val="D9F0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608576" y="1600200"/>
            <a:ext cx="2926080" cy="320040"/>
          </a:xfrm>
          <a:prstGeom prst="rect">
            <a:avLst/>
          </a:prstGeom>
          <a:noFill/>
        </p:spPr>
        <p:txBody>
          <a:bodyPr wrap="square" lIns="0" rIns="0" tIns="0" bIns="0" anchor="t">
            <a:spAutoFit/>
          </a:bodyPr>
          <a:lstStyle/>
          <a:p>
            <a:pPr algn="l"/>
            <a:r>
              <a:rPr sz="1300" b="1" i="0">
                <a:solidFill>
                  <a:srgbClr val="4F5F74"/>
                </a:solidFill>
                <a:latin typeface="Calibri"/>
              </a:rPr>
              <a:t>LEVEL 2</a:t>
            </a:r>
          </a:p>
        </p:txBody>
      </p:sp>
      <p:sp>
        <p:nvSpPr>
          <p:cNvPr id="11" name="TextBox 10"/>
          <p:cNvSpPr txBox="1"/>
          <p:nvPr/>
        </p:nvSpPr>
        <p:spPr>
          <a:xfrm>
            <a:off x="4608576" y="1920240"/>
            <a:ext cx="2926080" cy="457200"/>
          </a:xfrm>
          <a:prstGeom prst="rect">
            <a:avLst/>
          </a:prstGeom>
          <a:noFill/>
        </p:spPr>
        <p:txBody>
          <a:bodyPr wrap="square" lIns="0" rIns="0" tIns="0" bIns="0" anchor="t">
            <a:spAutoFit/>
          </a:bodyPr>
          <a:lstStyle/>
          <a:p>
            <a:pPr algn="l"/>
            <a:r>
              <a:rPr sz="1900" b="1" i="0">
                <a:solidFill>
                  <a:srgbClr val="1E2A3B"/>
                </a:solidFill>
                <a:latin typeface="Cambria"/>
              </a:rPr>
              <a:t>Manager and mock subordinate</a:t>
            </a:r>
          </a:p>
        </p:txBody>
      </p:sp>
      <p:sp>
        <p:nvSpPr>
          <p:cNvPr id="12" name="TextBox 11"/>
          <p:cNvSpPr txBox="1"/>
          <p:nvPr/>
        </p:nvSpPr>
        <p:spPr>
          <a:xfrm>
            <a:off x="4608576" y="2514600"/>
            <a:ext cx="2926080" cy="822960"/>
          </a:xfrm>
          <a:prstGeom prst="rect">
            <a:avLst/>
          </a:prstGeom>
          <a:noFill/>
        </p:spPr>
        <p:txBody>
          <a:bodyPr wrap="square" lIns="0" rIns="0" tIns="0" bIns="0" anchor="t">
            <a:spAutoFit/>
          </a:bodyPr>
          <a:lstStyle/>
          <a:p>
            <a:pPr algn="l"/>
            <a:r>
              <a:rPr sz="4400" b="1" i="0">
                <a:solidFill>
                  <a:srgbClr val="1E2A3B"/>
                </a:solidFill>
                <a:latin typeface="Cambria"/>
              </a:rPr>
              <a:t>52</a:t>
            </a:r>
          </a:p>
        </p:txBody>
      </p:sp>
      <p:sp>
        <p:nvSpPr>
          <p:cNvPr id="13" name="TextBox 12"/>
          <p:cNvSpPr txBox="1"/>
          <p:nvPr/>
        </p:nvSpPr>
        <p:spPr>
          <a:xfrm>
            <a:off x="4608576" y="3383280"/>
            <a:ext cx="2926080" cy="274320"/>
          </a:xfrm>
          <a:prstGeom prst="rect">
            <a:avLst/>
          </a:prstGeom>
          <a:noFill/>
        </p:spPr>
        <p:txBody>
          <a:bodyPr wrap="square" lIns="0" rIns="0" tIns="0" bIns="0" anchor="t">
            <a:spAutoFit/>
          </a:bodyPr>
          <a:lstStyle/>
          <a:p>
            <a:pPr algn="l"/>
            <a:r>
              <a:rPr sz="1300" b="0" i="0">
                <a:solidFill>
                  <a:srgbClr val="4F5F74"/>
                </a:solidFill>
                <a:latin typeface="Calibri"/>
              </a:rPr>
              <a:t>checks</a:t>
            </a:r>
          </a:p>
        </p:txBody>
      </p:sp>
      <p:sp>
        <p:nvSpPr>
          <p:cNvPr id="14" name="TextBox 13"/>
          <p:cNvSpPr txBox="1"/>
          <p:nvPr/>
        </p:nvSpPr>
        <p:spPr>
          <a:xfrm>
            <a:off x="4608576" y="3794760"/>
            <a:ext cx="2971800" cy="1554480"/>
          </a:xfrm>
          <a:prstGeom prst="rect">
            <a:avLst/>
          </a:prstGeom>
          <a:noFill/>
        </p:spPr>
        <p:txBody>
          <a:bodyPr wrap="square" lIns="0" rIns="0" tIns="0" bIns="0" anchor="t">
            <a:spAutoFit/>
          </a:bodyPr>
          <a:lstStyle/>
          <a:p>
            <a:pPr algn="l"/>
            <a:r>
              <a:rPr sz="1400" b="0" i="0">
                <a:solidFill>
                  <a:srgbClr val="1E2A3B"/>
                </a:solidFill>
                <a:latin typeface="Calibri"/>
              </a:rPr>
              <a:t>Programmable delays. Monitors fail the test if VALID drops early or a payload bit changes while stalled.</a:t>
            </a:r>
          </a:p>
        </p:txBody>
      </p:sp>
      <p:sp>
        <p:nvSpPr>
          <p:cNvPr id="15" name="Rounded Rectangle 14"/>
          <p:cNvSpPr/>
          <p:nvPr/>
        </p:nvSpPr>
        <p:spPr>
          <a:xfrm>
            <a:off x="8028432" y="1417320"/>
            <a:ext cx="3493008" cy="4023360"/>
          </a:xfrm>
          <a:prstGeom prst="roundRect">
            <a:avLst>
              <a:gd name="adj" fmla="val 6000"/>
            </a:avLst>
          </a:prstGeom>
          <a:solidFill>
            <a:srgbClr val="E6DE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302752" y="1600200"/>
            <a:ext cx="2926080" cy="320040"/>
          </a:xfrm>
          <a:prstGeom prst="rect">
            <a:avLst/>
          </a:prstGeom>
          <a:noFill/>
        </p:spPr>
        <p:txBody>
          <a:bodyPr wrap="square" lIns="0" rIns="0" tIns="0" bIns="0" anchor="t">
            <a:spAutoFit/>
          </a:bodyPr>
          <a:lstStyle/>
          <a:p>
            <a:pPr algn="l"/>
            <a:r>
              <a:rPr sz="1300" b="1" i="0">
                <a:solidFill>
                  <a:srgbClr val="4F5F74"/>
                </a:solidFill>
                <a:latin typeface="Calibri"/>
              </a:rPr>
              <a:t>LEVEL 3</a:t>
            </a:r>
          </a:p>
        </p:txBody>
      </p:sp>
      <p:sp>
        <p:nvSpPr>
          <p:cNvPr id="17" name="TextBox 16"/>
          <p:cNvSpPr txBox="1"/>
          <p:nvPr/>
        </p:nvSpPr>
        <p:spPr>
          <a:xfrm>
            <a:off x="8302752" y="1920240"/>
            <a:ext cx="2926080" cy="457200"/>
          </a:xfrm>
          <a:prstGeom prst="rect">
            <a:avLst/>
          </a:prstGeom>
          <a:noFill/>
        </p:spPr>
        <p:txBody>
          <a:bodyPr wrap="square" lIns="0" rIns="0" tIns="0" bIns="0" anchor="t">
            <a:spAutoFit/>
          </a:bodyPr>
          <a:lstStyle/>
          <a:p>
            <a:pPr algn="l"/>
            <a:r>
              <a:rPr sz="1900" b="1" i="0">
                <a:solidFill>
                  <a:srgbClr val="1E2A3B"/>
                </a:solidFill>
                <a:latin typeface="Cambria"/>
              </a:rPr>
              <a:t>Whole system, run twice</a:t>
            </a:r>
          </a:p>
        </p:txBody>
      </p:sp>
      <p:sp>
        <p:nvSpPr>
          <p:cNvPr id="18" name="TextBox 17"/>
          <p:cNvSpPr txBox="1"/>
          <p:nvPr/>
        </p:nvSpPr>
        <p:spPr>
          <a:xfrm>
            <a:off x="8302752" y="2514600"/>
            <a:ext cx="2926080" cy="822960"/>
          </a:xfrm>
          <a:prstGeom prst="rect">
            <a:avLst/>
          </a:prstGeom>
          <a:noFill/>
        </p:spPr>
        <p:txBody>
          <a:bodyPr wrap="square" lIns="0" rIns="0" tIns="0" bIns="0" anchor="t">
            <a:spAutoFit/>
          </a:bodyPr>
          <a:lstStyle/>
          <a:p>
            <a:pPr algn="l"/>
            <a:r>
              <a:rPr sz="4400" b="1" i="0">
                <a:solidFill>
                  <a:srgbClr val="1E2A3B"/>
                </a:solidFill>
                <a:latin typeface="Cambria"/>
              </a:rPr>
              <a:t>77 × 2</a:t>
            </a:r>
          </a:p>
        </p:txBody>
      </p:sp>
      <p:sp>
        <p:nvSpPr>
          <p:cNvPr id="19" name="TextBox 18"/>
          <p:cNvSpPr txBox="1"/>
          <p:nvPr/>
        </p:nvSpPr>
        <p:spPr>
          <a:xfrm>
            <a:off x="8302752" y="3383280"/>
            <a:ext cx="2926080" cy="274320"/>
          </a:xfrm>
          <a:prstGeom prst="rect">
            <a:avLst/>
          </a:prstGeom>
          <a:noFill/>
        </p:spPr>
        <p:txBody>
          <a:bodyPr wrap="square" lIns="0" rIns="0" tIns="0" bIns="0" anchor="t">
            <a:spAutoFit/>
          </a:bodyPr>
          <a:lstStyle/>
          <a:p>
            <a:pPr algn="l"/>
            <a:r>
              <a:rPr sz="1300" b="0" i="0">
                <a:solidFill>
                  <a:srgbClr val="4F5F74"/>
                </a:solidFill>
                <a:latin typeface="Calibri"/>
              </a:rPr>
              <a:t>checks</a:t>
            </a:r>
          </a:p>
        </p:txBody>
      </p:sp>
      <p:sp>
        <p:nvSpPr>
          <p:cNvPr id="20" name="TextBox 19"/>
          <p:cNvSpPr txBox="1"/>
          <p:nvPr/>
        </p:nvSpPr>
        <p:spPr>
          <a:xfrm>
            <a:off x="8302752" y="3794760"/>
            <a:ext cx="2971800" cy="1554480"/>
          </a:xfrm>
          <a:prstGeom prst="rect">
            <a:avLst/>
          </a:prstGeom>
          <a:noFill/>
        </p:spPr>
        <p:txBody>
          <a:bodyPr wrap="square" lIns="0" rIns="0" tIns="0" bIns="0" anchor="t">
            <a:spAutoFit/>
          </a:bodyPr>
          <a:lstStyle/>
          <a:p>
            <a:pPr algn="l"/>
            <a:r>
              <a:rPr sz="1400" b="0" i="0">
                <a:solidFill>
                  <a:srgbClr val="1E2A3B"/>
                </a:solidFill>
                <a:latin typeface="Calibri"/>
              </a:rPr>
              <a:t>With and without the flip-flop stages. All burst types, errors, back-pressure, throughput and a mid-burst reset.</a:t>
            </a:r>
          </a:p>
        </p:txBody>
      </p:sp>
      <p:sp>
        <p:nvSpPr>
          <p:cNvPr id="21" name="Rounded Rectangle 20"/>
          <p:cNvSpPr/>
          <p:nvPr/>
        </p:nvSpPr>
        <p:spPr>
          <a:xfrm>
            <a:off x="640080" y="5623560"/>
            <a:ext cx="10881360" cy="566928"/>
          </a:xfrm>
          <a:prstGeom prst="roundRect">
            <a:avLst>
              <a:gd name="adj" fmla="val 6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14400" y="5623560"/>
            <a:ext cx="10332720" cy="566928"/>
          </a:xfrm>
          <a:prstGeom prst="rect">
            <a:avLst/>
          </a:prstGeom>
          <a:noFill/>
        </p:spPr>
        <p:txBody>
          <a:bodyPr wrap="square" lIns="0" rIns="0" tIns="0" bIns="0" anchor="ctr">
            <a:spAutoFit/>
          </a:bodyPr>
          <a:lstStyle/>
          <a:p>
            <a:pPr algn="l"/>
            <a:r>
              <a:rPr sz="1700" b="1" i="0">
                <a:solidFill>
                  <a:srgbClr val="1E2A3B"/>
                </a:solidFill>
                <a:latin typeface="Calibri"/>
              </a:rPr>
              <a:t>Total: 45 + 52 + 77 + 77 = 251 checks, 0 failing.   Run it:  .\run_tests.ps1</a:t>
            </a:r>
          </a:p>
        </p:txBody>
      </p:sp>
      <p:sp>
        <p:nvSpPr>
          <p:cNvPr id="23"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subordinate and registered channels</a:t>
            </a:r>
          </a:p>
        </p:txBody>
      </p:sp>
      <p:sp>
        <p:nvSpPr>
          <p:cNvPr id="24"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Measured results</a:t>
            </a:r>
          </a:p>
        </p:txBody>
      </p:sp>
      <p:sp>
        <p:nvSpPr>
          <p:cNvPr id="3" name="Rounded Rectangle 2"/>
          <p:cNvSpPr/>
          <p:nvPr/>
        </p:nvSpPr>
        <p:spPr>
          <a:xfrm>
            <a:off x="640080" y="1417320"/>
            <a:ext cx="3493008" cy="1920240"/>
          </a:xfrm>
          <a:prstGeom prst="roundRect">
            <a:avLst>
              <a:gd name="adj" fmla="val 6000"/>
            </a:avLst>
          </a:prstGeom>
          <a:solidFill>
            <a:srgbClr val="D9F0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1691640"/>
            <a:ext cx="3017520" cy="731520"/>
          </a:xfrm>
          <a:prstGeom prst="rect">
            <a:avLst/>
          </a:prstGeom>
          <a:noFill/>
        </p:spPr>
        <p:txBody>
          <a:bodyPr wrap="square" lIns="0" rIns="0" tIns="0" bIns="0" anchor="t">
            <a:spAutoFit/>
          </a:bodyPr>
          <a:lstStyle/>
          <a:p>
            <a:pPr algn="l"/>
            <a:r>
              <a:rPr sz="3800" b="1" i="0">
                <a:solidFill>
                  <a:srgbClr val="1E2A3B"/>
                </a:solidFill>
                <a:latin typeface="Cambria"/>
              </a:rPr>
              <a:t>251 / 251</a:t>
            </a:r>
          </a:p>
        </p:txBody>
      </p:sp>
      <p:sp>
        <p:nvSpPr>
          <p:cNvPr id="5" name="TextBox 4"/>
          <p:cNvSpPr txBox="1"/>
          <p:nvPr/>
        </p:nvSpPr>
        <p:spPr>
          <a:xfrm>
            <a:off x="914400" y="2606040"/>
            <a:ext cx="3017520" cy="457200"/>
          </a:xfrm>
          <a:prstGeom prst="rect">
            <a:avLst/>
          </a:prstGeom>
          <a:noFill/>
        </p:spPr>
        <p:txBody>
          <a:bodyPr wrap="square" lIns="0" rIns="0" tIns="0" bIns="0" anchor="t">
            <a:spAutoFit/>
          </a:bodyPr>
          <a:lstStyle/>
          <a:p>
            <a:pPr algn="l"/>
            <a:r>
              <a:rPr sz="1600" b="0" i="0">
                <a:solidFill>
                  <a:srgbClr val="4F5F74"/>
                </a:solidFill>
                <a:latin typeface="Calibri"/>
              </a:rPr>
              <a:t>checks passing</a:t>
            </a:r>
          </a:p>
        </p:txBody>
      </p:sp>
      <p:sp>
        <p:nvSpPr>
          <p:cNvPr id="6" name="Rounded Rectangle 5"/>
          <p:cNvSpPr/>
          <p:nvPr/>
        </p:nvSpPr>
        <p:spPr>
          <a:xfrm>
            <a:off x="4334256" y="1417320"/>
            <a:ext cx="3493008" cy="1920240"/>
          </a:xfrm>
          <a:prstGeom prst="roundRect">
            <a:avLst>
              <a:gd name="adj" fmla="val 6000"/>
            </a:avLst>
          </a:prstGeom>
          <a:solidFill>
            <a:srgbClr val="FFE9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4608576" y="1691640"/>
            <a:ext cx="3017520" cy="731520"/>
          </a:xfrm>
          <a:prstGeom prst="rect">
            <a:avLst/>
          </a:prstGeom>
          <a:noFill/>
        </p:spPr>
        <p:txBody>
          <a:bodyPr wrap="square" lIns="0" rIns="0" tIns="0" bIns="0" anchor="t">
            <a:spAutoFit/>
          </a:bodyPr>
          <a:lstStyle/>
          <a:p>
            <a:pPr algn="l"/>
            <a:r>
              <a:rPr sz="3800" b="1" i="0">
                <a:solidFill>
                  <a:srgbClr val="1E2A3B"/>
                </a:solidFill>
                <a:latin typeface="Cambria"/>
              </a:rPr>
              <a:t>+2 cycles</a:t>
            </a:r>
          </a:p>
        </p:txBody>
      </p:sp>
      <p:sp>
        <p:nvSpPr>
          <p:cNvPr id="8" name="TextBox 7"/>
          <p:cNvSpPr txBox="1"/>
          <p:nvPr/>
        </p:nvSpPr>
        <p:spPr>
          <a:xfrm>
            <a:off x="4608576" y="2606040"/>
            <a:ext cx="3017520" cy="457200"/>
          </a:xfrm>
          <a:prstGeom prst="rect">
            <a:avLst/>
          </a:prstGeom>
          <a:noFill/>
        </p:spPr>
        <p:txBody>
          <a:bodyPr wrap="square" lIns="0" rIns="0" tIns="0" bIns="0" anchor="t">
            <a:spAutoFit/>
          </a:bodyPr>
          <a:lstStyle/>
          <a:p>
            <a:pPr algn="l"/>
            <a:r>
              <a:rPr sz="1600" b="0" i="0">
                <a:solidFill>
                  <a:srgbClr val="4F5F74"/>
                </a:solidFill>
                <a:latin typeface="Calibri"/>
              </a:rPr>
              <a:t>fixed cost of the stages</a:t>
            </a:r>
          </a:p>
        </p:txBody>
      </p:sp>
      <p:sp>
        <p:nvSpPr>
          <p:cNvPr id="9" name="Rounded Rectangle 8"/>
          <p:cNvSpPr/>
          <p:nvPr/>
        </p:nvSpPr>
        <p:spPr>
          <a:xfrm>
            <a:off x="8028432" y="1417320"/>
            <a:ext cx="3493008" cy="1920240"/>
          </a:xfrm>
          <a:prstGeom prst="roundRect">
            <a:avLst>
              <a:gd name="adj" fmla="val 6000"/>
            </a:avLst>
          </a:prstGeom>
          <a:solidFill>
            <a:srgbClr val="D6E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302752" y="1691640"/>
            <a:ext cx="3017520" cy="731520"/>
          </a:xfrm>
          <a:prstGeom prst="rect">
            <a:avLst/>
          </a:prstGeom>
          <a:noFill/>
        </p:spPr>
        <p:txBody>
          <a:bodyPr wrap="square" lIns="0" rIns="0" tIns="0" bIns="0" anchor="t">
            <a:spAutoFit/>
          </a:bodyPr>
          <a:lstStyle/>
          <a:p>
            <a:pPr algn="l"/>
            <a:r>
              <a:rPr sz="3800" b="1" i="0">
                <a:solidFill>
                  <a:srgbClr val="1E2A3B"/>
                </a:solidFill>
                <a:latin typeface="Cambria"/>
              </a:rPr>
              <a:t>1 beat / clock</a:t>
            </a:r>
          </a:p>
        </p:txBody>
      </p:sp>
      <p:sp>
        <p:nvSpPr>
          <p:cNvPr id="11" name="TextBox 10"/>
          <p:cNvSpPr txBox="1"/>
          <p:nvPr/>
        </p:nvSpPr>
        <p:spPr>
          <a:xfrm>
            <a:off x="8302752" y="2606040"/>
            <a:ext cx="3017520" cy="457200"/>
          </a:xfrm>
          <a:prstGeom prst="rect">
            <a:avLst/>
          </a:prstGeom>
          <a:noFill/>
        </p:spPr>
        <p:txBody>
          <a:bodyPr wrap="square" lIns="0" rIns="0" tIns="0" bIns="0" anchor="t">
            <a:spAutoFit/>
          </a:bodyPr>
          <a:lstStyle/>
          <a:p>
            <a:pPr algn="l"/>
            <a:r>
              <a:rPr sz="1600" b="0" i="0">
                <a:solidFill>
                  <a:srgbClr val="4F5F74"/>
                </a:solidFill>
                <a:latin typeface="Calibri"/>
              </a:rPr>
              <a:t>sustained throughput</a:t>
            </a:r>
          </a:p>
        </p:txBody>
      </p:sp>
      <p:graphicFrame>
        <p:nvGraphicFramePr>
          <p:cNvPr id="12" name="Table 11"/>
          <p:cNvGraphicFramePr>
            <a:graphicFrameLocks noGrp="1"/>
          </p:cNvGraphicFramePr>
          <p:nvPr/>
        </p:nvGraphicFramePr>
        <p:xfrm>
          <a:off x="640080" y="3749039"/>
          <a:ext cx="10881360" cy="1554480"/>
        </p:xfrm>
        <a:graphic>
          <a:graphicData uri="http://schemas.openxmlformats.org/drawingml/2006/table">
            <a:tbl>
              <a:tblPr firstRow="1" bandRow="1">
                <a:tableStyleId>{5C22544A-7EE6-4342-B048-85BDC9FD1C3A}</a:tableStyleId>
              </a:tblPr>
              <a:tblGrid>
                <a:gridCol w="2720340"/>
                <a:gridCol w="2720340"/>
                <a:gridCol w="2720340"/>
                <a:gridCol w="2720340"/>
              </a:tblGrid>
              <a:tr h="518160">
                <a:tc>
                  <a:txBody>
                    <a:bodyPr/>
                    <a:lstStyle/>
                    <a:p>
                      <a:r>
                        <a:rPr sz="1700" b="1">
                          <a:solidFill>
                            <a:srgbClr val="EEF2F8"/>
                          </a:solidFill>
                          <a:latin typeface="Calibri"/>
                        </a:rPr>
                        <a:t>32-beat burst</a:t>
                      </a:r>
                    </a:p>
                  </a:txBody>
                  <a:tcPr anchor="ctr">
                    <a:solidFill>
                      <a:srgbClr val="172033"/>
                    </a:solidFill>
                  </a:tcPr>
                </a:tc>
                <a:tc>
                  <a:txBody>
                    <a:bodyPr/>
                    <a:lstStyle/>
                    <a:p>
                      <a:r>
                        <a:rPr sz="1700" b="1">
                          <a:solidFill>
                            <a:srgbClr val="EEF2F8"/>
                          </a:solidFill>
                          <a:latin typeface="Calibri"/>
                        </a:rPr>
                        <a:t>With flip-flop stages</a:t>
                      </a:r>
                    </a:p>
                  </a:txBody>
                  <a:tcPr anchor="ctr">
                    <a:solidFill>
                      <a:srgbClr val="172033"/>
                    </a:solidFill>
                  </a:tcPr>
                </a:tc>
                <a:tc>
                  <a:txBody>
                    <a:bodyPr/>
                    <a:lstStyle/>
                    <a:p>
                      <a:r>
                        <a:rPr sz="1700" b="1">
                          <a:solidFill>
                            <a:srgbClr val="EEF2F8"/>
                          </a:solidFill>
                          <a:latin typeface="Calibri"/>
                        </a:rPr>
                        <a:t>Wired directly</a:t>
                      </a:r>
                    </a:p>
                  </a:txBody>
                  <a:tcPr anchor="ctr">
                    <a:solidFill>
                      <a:srgbClr val="172033"/>
                    </a:solidFill>
                  </a:tcPr>
                </a:tc>
                <a:tc>
                  <a:txBody>
                    <a:bodyPr/>
                    <a:lstStyle/>
                    <a:p>
                      <a:r>
                        <a:rPr sz="1700" b="1">
                          <a:solidFill>
                            <a:srgbClr val="EEF2F8"/>
                          </a:solidFill>
                          <a:latin typeface="Calibri"/>
                        </a:rPr>
                        <a:t>Difference</a:t>
                      </a:r>
                    </a:p>
                  </a:txBody>
                  <a:tcPr anchor="ctr">
                    <a:solidFill>
                      <a:srgbClr val="172033"/>
                    </a:solidFill>
                  </a:tcPr>
                </a:tc>
              </a:tr>
              <a:tr h="518160">
                <a:tc>
                  <a:txBody>
                    <a:bodyPr/>
                    <a:lstStyle/>
                    <a:p>
                      <a:r>
                        <a:rPr sz="1700" b="1">
                          <a:solidFill>
                            <a:srgbClr val="1E2A3B"/>
                          </a:solidFill>
                          <a:latin typeface="Calibri"/>
                        </a:rPr>
                        <a:t>Write</a:t>
                      </a:r>
                    </a:p>
                  </a:txBody>
                  <a:tcPr anchor="ctr">
                    <a:solidFill>
                      <a:srgbClr val="FFFFFF"/>
                    </a:solidFill>
                  </a:tcPr>
                </a:tc>
                <a:tc>
                  <a:txBody>
                    <a:bodyPr/>
                    <a:lstStyle/>
                    <a:p>
                      <a:r>
                        <a:rPr sz="1700" b="0">
                          <a:solidFill>
                            <a:srgbClr val="1E2A3B"/>
                          </a:solidFill>
                          <a:latin typeface="Calibri"/>
                        </a:rPr>
                        <a:t>37 cycles</a:t>
                      </a:r>
                    </a:p>
                  </a:txBody>
                  <a:tcPr anchor="ctr">
                    <a:solidFill>
                      <a:srgbClr val="FFFFFF"/>
                    </a:solidFill>
                  </a:tcPr>
                </a:tc>
                <a:tc>
                  <a:txBody>
                    <a:bodyPr/>
                    <a:lstStyle/>
                    <a:p>
                      <a:r>
                        <a:rPr sz="1700" b="0">
                          <a:solidFill>
                            <a:srgbClr val="1E2A3B"/>
                          </a:solidFill>
                          <a:latin typeface="Calibri"/>
                        </a:rPr>
                        <a:t>35 cycles</a:t>
                      </a:r>
                    </a:p>
                  </a:txBody>
                  <a:tcPr anchor="ctr">
                    <a:solidFill>
                      <a:srgbClr val="FFFFFF"/>
                    </a:solidFill>
                  </a:tcPr>
                </a:tc>
                <a:tc>
                  <a:txBody>
                    <a:bodyPr/>
                    <a:lstStyle/>
                    <a:p>
                      <a:r>
                        <a:rPr sz="1700" b="0">
                          <a:solidFill>
                            <a:srgbClr val="1E2A3B"/>
                          </a:solidFill>
                          <a:latin typeface="Calibri"/>
                        </a:rPr>
                        <a:t>+2</a:t>
                      </a:r>
                    </a:p>
                  </a:txBody>
                  <a:tcPr anchor="ctr">
                    <a:solidFill>
                      <a:srgbClr val="FFFFFF"/>
                    </a:solidFill>
                  </a:tcPr>
                </a:tc>
              </a:tr>
              <a:tr h="518160">
                <a:tc>
                  <a:txBody>
                    <a:bodyPr/>
                    <a:lstStyle/>
                    <a:p>
                      <a:r>
                        <a:rPr sz="1700" b="1">
                          <a:solidFill>
                            <a:srgbClr val="1E2A3B"/>
                          </a:solidFill>
                          <a:latin typeface="Calibri"/>
                        </a:rPr>
                        <a:t>Read</a:t>
                      </a:r>
                    </a:p>
                  </a:txBody>
                  <a:tcPr anchor="ctr">
                    <a:solidFill>
                      <a:srgbClr val="FFFFFF"/>
                    </a:solidFill>
                  </a:tcPr>
                </a:tc>
                <a:tc>
                  <a:txBody>
                    <a:bodyPr/>
                    <a:lstStyle/>
                    <a:p>
                      <a:r>
                        <a:rPr sz="1700" b="0">
                          <a:solidFill>
                            <a:srgbClr val="1E2A3B"/>
                          </a:solidFill>
                          <a:latin typeface="Calibri"/>
                        </a:rPr>
                        <a:t>36 cycles</a:t>
                      </a:r>
                    </a:p>
                  </a:txBody>
                  <a:tcPr anchor="ctr">
                    <a:solidFill>
                      <a:srgbClr val="FFFFFF"/>
                    </a:solidFill>
                  </a:tcPr>
                </a:tc>
                <a:tc>
                  <a:txBody>
                    <a:bodyPr/>
                    <a:lstStyle/>
                    <a:p>
                      <a:r>
                        <a:rPr sz="1700" b="0">
                          <a:solidFill>
                            <a:srgbClr val="1E2A3B"/>
                          </a:solidFill>
                          <a:latin typeface="Calibri"/>
                        </a:rPr>
                        <a:t>34 cycles</a:t>
                      </a:r>
                    </a:p>
                  </a:txBody>
                  <a:tcPr anchor="ctr">
                    <a:solidFill>
                      <a:srgbClr val="FFFFFF"/>
                    </a:solidFill>
                  </a:tcPr>
                </a:tc>
                <a:tc>
                  <a:txBody>
                    <a:bodyPr/>
                    <a:lstStyle/>
                    <a:p>
                      <a:r>
                        <a:rPr sz="1700" b="0">
                          <a:solidFill>
                            <a:srgbClr val="1E2A3B"/>
                          </a:solidFill>
                          <a:latin typeface="Calibri"/>
                        </a:rPr>
                        <a:t>+2</a:t>
                      </a:r>
                    </a:p>
                  </a:txBody>
                  <a:tcPr anchor="ctr">
                    <a:solidFill>
                      <a:srgbClr val="FFFFFF"/>
                    </a:solidFill>
                  </a:tcPr>
                </a:tc>
              </a:tr>
            </a:tbl>
          </a:graphicData>
        </a:graphic>
      </p:graphicFrame>
      <p:sp>
        <p:nvSpPr>
          <p:cNvPr id="13" name="TextBox 12"/>
          <p:cNvSpPr txBox="1"/>
          <p:nvPr/>
        </p:nvSpPr>
        <p:spPr>
          <a:xfrm>
            <a:off x="640080" y="5532120"/>
            <a:ext cx="10881360" cy="548640"/>
          </a:xfrm>
          <a:prstGeom prst="rect">
            <a:avLst/>
          </a:prstGeom>
          <a:noFill/>
        </p:spPr>
        <p:txBody>
          <a:bodyPr wrap="square" lIns="0" rIns="0" tIns="0" bIns="0" anchor="t">
            <a:spAutoFit/>
          </a:bodyPr>
          <a:lstStyle/>
          <a:p>
            <a:pPr algn="l"/>
            <a:r>
              <a:rPr sz="1500" b="0" i="0">
                <a:solidFill>
                  <a:srgbClr val="4F5F74"/>
                </a:solidFill>
                <a:latin typeface="Calibri"/>
              </a:rPr>
              <a:t>32 beats cannot take fewer than 32 cycles, so the extra cycles are the entire cost of the stages. It does not grow with burst length.</a:t>
            </a:r>
          </a:p>
        </p:txBody>
      </p:sp>
      <p:sp>
        <p:nvSpPr>
          <p:cNvPr id="14"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subordinate and registered channels</a:t>
            </a:r>
          </a:p>
        </p:txBody>
      </p:sp>
      <p:sp>
        <p:nvSpPr>
          <p:cNvPr id="15"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Limits, stated plainly</a:t>
            </a:r>
          </a:p>
        </p:txBody>
      </p:sp>
      <p:sp>
        <p:nvSpPr>
          <p:cNvPr id="3" name="Rounded Rectangle 2"/>
          <p:cNvSpPr/>
          <p:nvPr/>
        </p:nvSpPr>
        <p:spPr>
          <a:xfrm>
            <a:off x="640080" y="1417320"/>
            <a:ext cx="5349240" cy="1371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1581912"/>
            <a:ext cx="4846320" cy="365760"/>
          </a:xfrm>
          <a:prstGeom prst="rect">
            <a:avLst/>
          </a:prstGeom>
          <a:noFill/>
        </p:spPr>
        <p:txBody>
          <a:bodyPr wrap="square" lIns="0" rIns="0" tIns="0" bIns="0" anchor="t">
            <a:spAutoFit/>
          </a:bodyPr>
          <a:lstStyle/>
          <a:p>
            <a:pPr algn="l"/>
            <a:r>
              <a:rPr sz="1800" b="1" i="0">
                <a:solidFill>
                  <a:srgbClr val="1E2A3B"/>
                </a:solidFill>
                <a:latin typeface="Cambria"/>
              </a:rPr>
              <a:t>One burst at a time</a:t>
            </a:r>
          </a:p>
        </p:txBody>
      </p:sp>
      <p:sp>
        <p:nvSpPr>
          <p:cNvPr id="5" name="TextBox 4"/>
          <p:cNvSpPr txBox="1"/>
          <p:nvPr/>
        </p:nvSpPr>
        <p:spPr>
          <a:xfrm>
            <a:off x="914400" y="2039112"/>
            <a:ext cx="4846320" cy="685800"/>
          </a:xfrm>
          <a:prstGeom prst="rect">
            <a:avLst/>
          </a:prstGeom>
          <a:noFill/>
        </p:spPr>
        <p:txBody>
          <a:bodyPr wrap="square" lIns="0" rIns="0" tIns="0" bIns="0" anchor="t">
            <a:spAutoFit/>
          </a:bodyPr>
          <a:lstStyle/>
          <a:p>
            <a:pPr algn="l"/>
            <a:r>
              <a:rPr sz="1400" b="0" i="0">
                <a:solidFill>
                  <a:srgbClr val="4F5F74"/>
                </a:solidFill>
                <a:latin typeface="Calibri"/>
              </a:rPr>
              <a:t>Per direction. IDs are echoed but never used to reorder.</a:t>
            </a:r>
          </a:p>
        </p:txBody>
      </p:sp>
      <p:sp>
        <p:nvSpPr>
          <p:cNvPr id="6" name="Rounded Rectangle 5"/>
          <p:cNvSpPr/>
          <p:nvPr/>
        </p:nvSpPr>
        <p:spPr>
          <a:xfrm>
            <a:off x="6172200" y="1417320"/>
            <a:ext cx="5349240" cy="1371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46520" y="1581912"/>
            <a:ext cx="4846320" cy="365760"/>
          </a:xfrm>
          <a:prstGeom prst="rect">
            <a:avLst/>
          </a:prstGeom>
          <a:noFill/>
        </p:spPr>
        <p:txBody>
          <a:bodyPr wrap="square" lIns="0" rIns="0" tIns="0" bIns="0" anchor="t">
            <a:spAutoFit/>
          </a:bodyPr>
          <a:lstStyle/>
          <a:p>
            <a:pPr algn="l"/>
            <a:r>
              <a:rPr sz="1800" b="1" i="0">
                <a:solidFill>
                  <a:srgbClr val="1E2A3B"/>
                </a:solidFill>
                <a:latin typeface="Cambria"/>
              </a:rPr>
              <a:t>No exclusive access</a:t>
            </a:r>
          </a:p>
        </p:txBody>
      </p:sp>
      <p:sp>
        <p:nvSpPr>
          <p:cNvPr id="8" name="TextBox 7"/>
          <p:cNvSpPr txBox="1"/>
          <p:nvPr/>
        </p:nvSpPr>
        <p:spPr>
          <a:xfrm>
            <a:off x="6446520" y="2039112"/>
            <a:ext cx="4846320" cy="685800"/>
          </a:xfrm>
          <a:prstGeom prst="rect">
            <a:avLst/>
          </a:prstGeom>
          <a:noFill/>
        </p:spPr>
        <p:txBody>
          <a:bodyPr wrap="square" lIns="0" rIns="0" tIns="0" bIns="0" anchor="t">
            <a:spAutoFit/>
          </a:bodyPr>
          <a:lstStyle/>
          <a:p>
            <a:pPr algn="l"/>
            <a:r>
              <a:rPr sz="1400" b="0" i="0">
                <a:solidFill>
                  <a:srgbClr val="4F5F74"/>
                </a:solidFill>
                <a:latin typeface="Calibri"/>
              </a:rPr>
              <a:t>AxLOCK is 0, EXOKAY never returned. CACHE, PROT and QOS are carried, not used.</a:t>
            </a:r>
          </a:p>
        </p:txBody>
      </p:sp>
      <p:sp>
        <p:nvSpPr>
          <p:cNvPr id="9" name="Rounded Rectangle 8"/>
          <p:cNvSpPr/>
          <p:nvPr/>
        </p:nvSpPr>
        <p:spPr>
          <a:xfrm>
            <a:off x="640080" y="2971800"/>
            <a:ext cx="5349240" cy="1371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14400" y="3136392"/>
            <a:ext cx="4846320" cy="365760"/>
          </a:xfrm>
          <a:prstGeom prst="rect">
            <a:avLst/>
          </a:prstGeom>
          <a:noFill/>
        </p:spPr>
        <p:txBody>
          <a:bodyPr wrap="square" lIns="0" rIns="0" tIns="0" bIns="0" anchor="t">
            <a:spAutoFit/>
          </a:bodyPr>
          <a:lstStyle/>
          <a:p>
            <a:pPr algn="l"/>
            <a:r>
              <a:rPr sz="1800" b="1" i="0">
                <a:solidFill>
                  <a:srgbClr val="1E2A3B"/>
                </a:solidFill>
                <a:latin typeface="Cambria"/>
              </a:rPr>
              <a:t>Narrow reads return the word</a:t>
            </a:r>
          </a:p>
        </p:txBody>
      </p:sp>
      <p:sp>
        <p:nvSpPr>
          <p:cNvPr id="11" name="TextBox 10"/>
          <p:cNvSpPr txBox="1"/>
          <p:nvPr/>
        </p:nvSpPr>
        <p:spPr>
          <a:xfrm>
            <a:off x="914400" y="3593592"/>
            <a:ext cx="4846320" cy="685800"/>
          </a:xfrm>
          <a:prstGeom prst="rect">
            <a:avLst/>
          </a:prstGeom>
          <a:noFill/>
        </p:spPr>
        <p:txBody>
          <a:bodyPr wrap="square" lIns="0" rIns="0" tIns="0" bIns="0" anchor="t">
            <a:spAutoFit/>
          </a:bodyPr>
          <a:lstStyle/>
          <a:p>
            <a:pPr algn="l"/>
            <a:r>
              <a:rPr sz="1400" b="0" i="0">
                <a:solidFill>
                  <a:srgbClr val="4F5F74"/>
                </a:solidFill>
                <a:latin typeface="Calibri"/>
              </a:rPr>
              <a:t>The subordinate does not mask other byte lanes. Legal: the manager picks its lanes.</a:t>
            </a:r>
          </a:p>
        </p:txBody>
      </p:sp>
      <p:sp>
        <p:nvSpPr>
          <p:cNvPr id="12" name="Rounded Rectangle 11"/>
          <p:cNvSpPr/>
          <p:nvPr/>
        </p:nvSpPr>
        <p:spPr>
          <a:xfrm>
            <a:off x="6172200" y="2971800"/>
            <a:ext cx="5349240" cy="1371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46520" y="3136392"/>
            <a:ext cx="4846320" cy="365760"/>
          </a:xfrm>
          <a:prstGeom prst="rect">
            <a:avLst/>
          </a:prstGeom>
          <a:noFill/>
        </p:spPr>
        <p:txBody>
          <a:bodyPr wrap="square" lIns="0" rIns="0" tIns="0" bIns="0" anchor="t">
            <a:spAutoFit/>
          </a:bodyPr>
          <a:lstStyle/>
          <a:p>
            <a:pPr algn="l"/>
            <a:r>
              <a:rPr sz="1800" b="1" i="0">
                <a:solidFill>
                  <a:srgbClr val="1E2A3B"/>
                </a:solidFill>
                <a:latin typeface="Cambria"/>
              </a:rPr>
              <a:t>Start address is range-checked</a:t>
            </a:r>
          </a:p>
        </p:txBody>
      </p:sp>
      <p:sp>
        <p:nvSpPr>
          <p:cNvPr id="14" name="TextBox 13"/>
          <p:cNvSpPr txBox="1"/>
          <p:nvPr/>
        </p:nvSpPr>
        <p:spPr>
          <a:xfrm>
            <a:off x="6446520" y="3593592"/>
            <a:ext cx="4846320" cy="685800"/>
          </a:xfrm>
          <a:prstGeom prst="rect">
            <a:avLst/>
          </a:prstGeom>
          <a:noFill/>
        </p:spPr>
        <p:txBody>
          <a:bodyPr wrap="square" lIns="0" rIns="0" tIns="0" bIns="0" anchor="t">
            <a:spAutoFit/>
          </a:bodyPr>
          <a:lstStyle/>
          <a:p>
            <a:pPr algn="l"/>
            <a:r>
              <a:rPr sz="1400" b="0" i="0">
                <a:solidFill>
                  <a:srgbClr val="4F5F74"/>
                </a:solidFill>
                <a:latin typeface="Calibri"/>
              </a:rPr>
              <a:t>Safe for legal bursts, which cannot cross a 4 KiB boundary.</a:t>
            </a:r>
          </a:p>
        </p:txBody>
      </p:sp>
      <p:sp>
        <p:nvSpPr>
          <p:cNvPr id="15" name="Rounded Rectangle 14"/>
          <p:cNvSpPr/>
          <p:nvPr/>
        </p:nvSpPr>
        <p:spPr>
          <a:xfrm>
            <a:off x="640080" y="4526280"/>
            <a:ext cx="5349240" cy="1371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14400" y="4690872"/>
            <a:ext cx="4846320" cy="365760"/>
          </a:xfrm>
          <a:prstGeom prst="rect">
            <a:avLst/>
          </a:prstGeom>
          <a:noFill/>
        </p:spPr>
        <p:txBody>
          <a:bodyPr wrap="square" lIns="0" rIns="0" tIns="0" bIns="0" anchor="t">
            <a:spAutoFit/>
          </a:bodyPr>
          <a:lstStyle/>
          <a:p>
            <a:pPr algn="l"/>
            <a:r>
              <a:rPr sz="1800" b="1" i="0">
                <a:solidFill>
                  <a:srgbClr val="1E2A3B"/>
                </a:solidFill>
                <a:latin typeface="Cambria"/>
              </a:rPr>
              <a:t>Host streams are not registered</a:t>
            </a:r>
          </a:p>
        </p:txBody>
      </p:sp>
      <p:sp>
        <p:nvSpPr>
          <p:cNvPr id="17" name="TextBox 16"/>
          <p:cNvSpPr txBox="1"/>
          <p:nvPr/>
        </p:nvSpPr>
        <p:spPr>
          <a:xfrm>
            <a:off x="914400" y="5148072"/>
            <a:ext cx="4846320" cy="685800"/>
          </a:xfrm>
          <a:prstGeom prst="rect">
            <a:avLst/>
          </a:prstGeom>
          <a:noFill/>
        </p:spPr>
        <p:txBody>
          <a:bodyPr wrap="square" lIns="0" rIns="0" tIns="0" bIns="0" anchor="t">
            <a:spAutoFit/>
          </a:bodyPr>
          <a:lstStyle/>
          <a:p>
            <a:pPr algn="l"/>
            <a:r>
              <a:rPr sz="1400" b="0" i="0">
                <a:solidFill>
                  <a:srgbClr val="4F5F74"/>
                </a:solidFill>
                <a:latin typeface="Calibri"/>
              </a:rPr>
              <a:t>A state-gated pass-through inside the manager. The stages follow immediately.</a:t>
            </a:r>
          </a:p>
        </p:txBody>
      </p:sp>
      <p:sp>
        <p:nvSpPr>
          <p:cNvPr id="18" name="Rounded Rectangle 17"/>
          <p:cNvSpPr/>
          <p:nvPr/>
        </p:nvSpPr>
        <p:spPr>
          <a:xfrm>
            <a:off x="6172200" y="4526280"/>
            <a:ext cx="5349240" cy="137160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46520" y="4690872"/>
            <a:ext cx="4846320" cy="365760"/>
          </a:xfrm>
          <a:prstGeom prst="rect">
            <a:avLst/>
          </a:prstGeom>
          <a:noFill/>
        </p:spPr>
        <p:txBody>
          <a:bodyPr wrap="square" lIns="0" rIns="0" tIns="0" bIns="0" anchor="t">
            <a:spAutoFit/>
          </a:bodyPr>
          <a:lstStyle/>
          <a:p>
            <a:pPr algn="l"/>
            <a:r>
              <a:rPr sz="1800" b="1" i="0">
                <a:solidFill>
                  <a:srgbClr val="1E2A3B"/>
                </a:solidFill>
                <a:latin typeface="Cambria"/>
              </a:rPr>
              <a:t>Reset mid-burst</a:t>
            </a:r>
          </a:p>
        </p:txBody>
      </p:sp>
      <p:sp>
        <p:nvSpPr>
          <p:cNvPr id="20" name="TextBox 19"/>
          <p:cNvSpPr txBox="1"/>
          <p:nvPr/>
        </p:nvSpPr>
        <p:spPr>
          <a:xfrm>
            <a:off x="6446520" y="5148072"/>
            <a:ext cx="4846320" cy="685800"/>
          </a:xfrm>
          <a:prstGeom prst="rect">
            <a:avLst/>
          </a:prstGeom>
          <a:noFill/>
        </p:spPr>
        <p:txBody>
          <a:bodyPr wrap="square" lIns="0" rIns="0" tIns="0" bIns="0" anchor="t">
            <a:spAutoFit/>
          </a:bodyPr>
          <a:lstStyle/>
          <a:p>
            <a:pPr algn="l"/>
            <a:r>
              <a:rPr sz="1400" b="0" i="0">
                <a:solidFill>
                  <a:srgbClr val="4F5F74"/>
                </a:solidFill>
                <a:latin typeface="Calibri"/>
              </a:rPr>
              <a:t>Beats still in the stages are discarded. The outcome is undefined, so it is not asserted.</a:t>
            </a:r>
          </a:p>
        </p:txBody>
      </p:sp>
      <p:sp>
        <p:nvSpPr>
          <p:cNvPr id="21"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subordinate and registered channels</a:t>
            </a:r>
          </a:p>
        </p:txBody>
      </p:sp>
      <p:sp>
        <p:nvSpPr>
          <p:cNvPr id="22"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72033"/>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EEF2F8"/>
                </a:solidFill>
                <a:latin typeface="Cambria"/>
              </a:rPr>
              <a:t>Live demo</a:t>
            </a:r>
          </a:p>
        </p:txBody>
      </p:sp>
      <p:sp>
        <p:nvSpPr>
          <p:cNvPr id="3" name="Rounded Rectangle 2"/>
          <p:cNvSpPr/>
          <p:nvPr/>
        </p:nvSpPr>
        <p:spPr>
          <a:xfrm>
            <a:off x="640080" y="1463040"/>
            <a:ext cx="6766560" cy="2743200"/>
          </a:xfrm>
          <a:prstGeom prst="roundRect">
            <a:avLst>
              <a:gd name="adj" fmla="val 6000"/>
            </a:avLst>
          </a:prstGeom>
          <a:solidFill>
            <a:srgbClr val="0F17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1005840" y="1691640"/>
            <a:ext cx="6217920" cy="2377440"/>
          </a:xfrm>
          <a:prstGeom prst="rect">
            <a:avLst/>
          </a:prstGeom>
          <a:noFill/>
        </p:spPr>
        <p:txBody>
          <a:bodyPr wrap="square" lIns="0" rIns="0" tIns="0" bIns="0" anchor="t">
            <a:spAutoFit/>
          </a:bodyPr>
          <a:lstStyle/>
          <a:p>
            <a:pPr algn="l">
              <a:spcAft>
                <a:spcPts val="1400"/>
              </a:spcAft>
            </a:pPr>
            <a:r>
              <a:rPr sz="1800" b="0" i="0">
                <a:solidFill>
                  <a:srgbClr val="EEF2F8"/>
                </a:solidFill>
                <a:latin typeface="Consolas"/>
              </a:rPr>
              <a:t>cd E:\FPGA_Project</a:t>
            </a:r>
          </a:p>
          <a:p>
            <a:pPr algn="l">
              <a:spcAft>
                <a:spcPts val="1400"/>
              </a:spcAft>
            </a:pPr>
            <a:r>
              <a:rPr sz="1800" b="0" i="0">
                <a:solidFill>
                  <a:srgbClr val="FFC845"/>
                </a:solidFill>
                <a:latin typeface="Consolas"/>
              </a:rPr>
              <a:t>.\run_tests.ps1</a:t>
            </a:r>
          </a:p>
          <a:p>
            <a:pPr algn="l">
              <a:spcAft>
                <a:spcPts val="0"/>
              </a:spcAft>
            </a:pPr>
            <a:r>
              <a:rPr sz="1800" b="0" i="0">
                <a:solidFill>
                  <a:srgbClr val="FFC845"/>
                </a:solidFill>
                <a:latin typeface="Consolas"/>
              </a:rPr>
              <a:t>.\run_tests.ps1 -Suite top -Wave</a:t>
            </a:r>
          </a:p>
        </p:txBody>
      </p:sp>
      <p:sp>
        <p:nvSpPr>
          <p:cNvPr id="5" name="TextBox 4"/>
          <p:cNvSpPr txBox="1"/>
          <p:nvPr/>
        </p:nvSpPr>
        <p:spPr>
          <a:xfrm>
            <a:off x="7955279" y="1463040"/>
            <a:ext cx="3566160" cy="365760"/>
          </a:xfrm>
          <a:prstGeom prst="rect">
            <a:avLst/>
          </a:prstGeom>
          <a:noFill/>
        </p:spPr>
        <p:txBody>
          <a:bodyPr wrap="square" lIns="0" rIns="0" tIns="0" bIns="0" anchor="t">
            <a:spAutoFit/>
          </a:bodyPr>
          <a:lstStyle/>
          <a:p>
            <a:pPr algn="l"/>
            <a:r>
              <a:rPr sz="2000" b="1" i="0">
                <a:solidFill>
                  <a:srgbClr val="FFC845"/>
                </a:solidFill>
                <a:latin typeface="Cambria"/>
              </a:rPr>
              <a:t>What to point at</a:t>
            </a:r>
          </a:p>
        </p:txBody>
      </p:sp>
      <p:sp>
        <p:nvSpPr>
          <p:cNvPr id="6" name="TextBox 5"/>
          <p:cNvSpPr txBox="1"/>
          <p:nvPr/>
        </p:nvSpPr>
        <p:spPr>
          <a:xfrm>
            <a:off x="7955279" y="1965960"/>
            <a:ext cx="3566160" cy="2743200"/>
          </a:xfrm>
          <a:prstGeom prst="rect">
            <a:avLst/>
          </a:prstGeom>
          <a:noFill/>
        </p:spPr>
        <p:txBody>
          <a:bodyPr wrap="square" lIns="0" rIns="0" tIns="0" bIns="0" anchor="t">
            <a:spAutoFit/>
          </a:bodyPr>
          <a:lstStyle/>
          <a:p>
            <a:pPr algn="l">
              <a:spcAft>
                <a:spcPts val="1000"/>
              </a:spcAft>
            </a:pPr>
            <a:r>
              <a:rPr sz="1600" b="0" i="0">
                <a:solidFill>
                  <a:srgbClr val="EEF2F8"/>
                </a:solidFill>
                <a:latin typeface="Calibri"/>
              </a:rPr>
              <a:t>Four suites, each ending TEST PASSED</a:t>
            </a:r>
          </a:p>
          <a:p>
            <a:pPr algn="l">
              <a:spcAft>
                <a:spcPts val="1000"/>
              </a:spcAft>
            </a:pPr>
            <a:r>
              <a:rPr sz="1600" b="0" i="0">
                <a:solidFill>
                  <a:srgbClr val="EEF2F8"/>
                </a:solidFill>
                <a:latin typeface="Calibri"/>
              </a:rPr>
              <a:t>Check counts: 45, 52, 77 and 77</a:t>
            </a:r>
          </a:p>
          <a:p>
            <a:pPr algn="l">
              <a:spcAft>
                <a:spcPts val="0"/>
              </a:spcAft>
            </a:pPr>
            <a:r>
              <a:rPr sz="1600" b="0" i="0">
                <a:solidFill>
                  <a:srgbClr val="EEF2F8"/>
                </a:solidFill>
                <a:latin typeface="Calibri"/>
              </a:rPr>
              <a:t>In the waveform: slave side lags master side by one cycle</a:t>
            </a:r>
          </a:p>
        </p:txBody>
      </p:sp>
      <p:sp>
        <p:nvSpPr>
          <p:cNvPr id="7" name="Rounded Rectangle 6"/>
          <p:cNvSpPr/>
          <p:nvPr/>
        </p:nvSpPr>
        <p:spPr>
          <a:xfrm>
            <a:off x="640080" y="4572000"/>
            <a:ext cx="10881360" cy="1371600"/>
          </a:xfrm>
          <a:prstGeom prst="roundRect">
            <a:avLst>
              <a:gd name="adj" fmla="val 6000"/>
            </a:avLst>
          </a:prstGeom>
          <a:solidFill>
            <a:srgbClr val="2230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005840" y="4754880"/>
            <a:ext cx="10149840" cy="1097280"/>
          </a:xfrm>
          <a:prstGeom prst="rect">
            <a:avLst/>
          </a:prstGeom>
          <a:noFill/>
        </p:spPr>
        <p:txBody>
          <a:bodyPr wrap="square" lIns="0" rIns="0" tIns="0" bIns="0" anchor="t">
            <a:spAutoFit/>
          </a:bodyPr>
          <a:lstStyle/>
          <a:p>
            <a:pPr algn="l">
              <a:spcAft>
                <a:spcPts val="600"/>
              </a:spcAft>
            </a:pPr>
            <a:r>
              <a:rPr sz="1700" b="1" i="0">
                <a:solidFill>
                  <a:srgbClr val="FFC845"/>
                </a:solidFill>
                <a:latin typeface="Calibri"/>
              </a:rPr>
              <a:t>If the live run fails</a:t>
            </a:r>
          </a:p>
          <a:p>
            <a:pPr algn="l"/>
            <a:r>
              <a:rPr sz="1600" b="0" i="0">
                <a:solidFill>
                  <a:srgbClr val="EEF2F8"/>
                </a:solidFill>
                <a:latin typeface="Calibri"/>
              </a:rPr>
              <a:t>Slides 11 and 12 are recorded from this same simulation. Logs and waveforms are written to the build folder.</a:t>
            </a:r>
          </a:p>
        </p:txBody>
      </p:sp>
      <p:sp>
        <p:nvSpPr>
          <p:cNvPr id="9"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B7C3D6"/>
                </a:solidFill>
                <a:latin typeface="Calibri"/>
              </a:rPr>
              <a:t>AXI4 manager, subordinate and registered channels</a:t>
            </a:r>
          </a:p>
        </p:txBody>
      </p:sp>
      <p:sp>
        <p:nvSpPr>
          <p:cNvPr id="10"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B7C3D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7FA"/>
        </a:solidFill>
        <a:effectLst/>
      </p:bgPr>
    </p:bg>
    <p:spTree>
      <p:nvGrpSpPr>
        <p:cNvPr id="1" name=""/>
        <p:cNvGrpSpPr/>
        <p:nvPr/>
      </p:nvGrpSpPr>
      <p:grpSpPr/>
      <p:sp>
        <p:nvSpPr>
          <p:cNvPr id="2" name="Title"/>
          <p:cNvSpPr txBox="1"/>
          <p:nvPr/>
        </p:nvSpPr>
        <p:spPr>
          <a:xfrm>
            <a:off x="640080" y="411480"/>
            <a:ext cx="10911535" cy="822960"/>
          </a:xfrm>
          <a:prstGeom prst="rect">
            <a:avLst/>
          </a:prstGeom>
          <a:noFill/>
        </p:spPr>
        <p:txBody>
          <a:bodyPr wrap="square" lIns="0" rIns="0" tIns="0" bIns="0" anchor="ctr">
            <a:spAutoFit/>
          </a:bodyPr>
          <a:lstStyle/>
          <a:p>
            <a:pPr algn="l"/>
            <a:r>
              <a:rPr sz="3800" b="1" i="0">
                <a:solidFill>
                  <a:srgbClr val="1E2A3B"/>
                </a:solidFill>
                <a:latin typeface="Cambria"/>
              </a:rPr>
              <a:t>Questions we expect</a:t>
            </a:r>
          </a:p>
        </p:txBody>
      </p:sp>
      <p:sp>
        <p:nvSpPr>
          <p:cNvPr id="3" name="Rounded Rectangle 2"/>
          <p:cNvSpPr/>
          <p:nvPr/>
        </p:nvSpPr>
        <p:spPr>
          <a:xfrm>
            <a:off x="640080" y="1417320"/>
            <a:ext cx="534924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914400" y="1572768"/>
            <a:ext cx="4846320" cy="365760"/>
          </a:xfrm>
          <a:prstGeom prst="rect">
            <a:avLst/>
          </a:prstGeom>
          <a:noFill/>
        </p:spPr>
        <p:txBody>
          <a:bodyPr wrap="square" lIns="0" rIns="0" tIns="0" bIns="0" anchor="t">
            <a:spAutoFit/>
          </a:bodyPr>
          <a:lstStyle/>
          <a:p>
            <a:pPr algn="l"/>
            <a:r>
              <a:rPr sz="1700" b="1" i="0">
                <a:solidFill>
                  <a:srgbClr val="1E2A3B"/>
                </a:solidFill>
                <a:latin typeface="Cambria"/>
              </a:rPr>
              <a:t>Why five channels?</a:t>
            </a:r>
          </a:p>
        </p:txBody>
      </p:sp>
      <p:sp>
        <p:nvSpPr>
          <p:cNvPr id="5" name="TextBox 4"/>
          <p:cNvSpPr txBox="1"/>
          <p:nvPr/>
        </p:nvSpPr>
        <p:spPr>
          <a:xfrm>
            <a:off x="914400" y="2020824"/>
            <a:ext cx="4846320" cy="777240"/>
          </a:xfrm>
          <a:prstGeom prst="rect">
            <a:avLst/>
          </a:prstGeom>
          <a:noFill/>
        </p:spPr>
        <p:txBody>
          <a:bodyPr wrap="square" lIns="0" rIns="0" tIns="0" bIns="0" anchor="t">
            <a:spAutoFit/>
          </a:bodyPr>
          <a:lstStyle/>
          <a:p>
            <a:pPr algn="l"/>
            <a:r>
              <a:rPr sz="1500" b="0" i="0">
                <a:solidFill>
                  <a:srgbClr val="4F5F74"/>
                </a:solidFill>
                <a:latin typeface="Calibri"/>
              </a:rPr>
              <a:t>Address, data and response move independently and in both directions, so a slow response never blocks the next address.</a:t>
            </a:r>
          </a:p>
        </p:txBody>
      </p:sp>
      <p:sp>
        <p:nvSpPr>
          <p:cNvPr id="6" name="Rounded Rectangle 5"/>
          <p:cNvSpPr/>
          <p:nvPr/>
        </p:nvSpPr>
        <p:spPr>
          <a:xfrm>
            <a:off x="6172200" y="1417320"/>
            <a:ext cx="534924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46520" y="1572768"/>
            <a:ext cx="4846320" cy="365760"/>
          </a:xfrm>
          <a:prstGeom prst="rect">
            <a:avLst/>
          </a:prstGeom>
          <a:noFill/>
        </p:spPr>
        <p:txBody>
          <a:bodyPr wrap="square" lIns="0" rIns="0" tIns="0" bIns="0" anchor="t">
            <a:spAutoFit/>
          </a:bodyPr>
          <a:lstStyle/>
          <a:p>
            <a:pPr algn="l"/>
            <a:r>
              <a:rPr sz="1700" b="1" i="0">
                <a:solidFill>
                  <a:srgbClr val="1E2A3B"/>
                </a:solidFill>
                <a:latin typeface="Cambria"/>
              </a:rPr>
              <a:t>Why not a single flip-flop per wire?</a:t>
            </a:r>
          </a:p>
        </p:txBody>
      </p:sp>
      <p:sp>
        <p:nvSpPr>
          <p:cNvPr id="8" name="TextBox 7"/>
          <p:cNvSpPr txBox="1"/>
          <p:nvPr/>
        </p:nvSpPr>
        <p:spPr>
          <a:xfrm>
            <a:off x="6446520" y="2020824"/>
            <a:ext cx="4846320" cy="777240"/>
          </a:xfrm>
          <a:prstGeom prst="rect">
            <a:avLst/>
          </a:prstGeom>
          <a:noFill/>
        </p:spPr>
        <p:txBody>
          <a:bodyPr wrap="square" lIns="0" rIns="0" tIns="0" bIns="0" anchor="t">
            <a:spAutoFit/>
          </a:bodyPr>
          <a:lstStyle/>
          <a:p>
            <a:pPr algn="l"/>
            <a:r>
              <a:rPr sz="1500" b="0" i="0">
                <a:solidFill>
                  <a:srgbClr val="4F5F74"/>
                </a:solidFill>
                <a:latin typeface="Calibri"/>
              </a:rPr>
              <a:t>READY arrives one cycle late and a beat is lost. The spare slot catches that one beat.</a:t>
            </a:r>
          </a:p>
        </p:txBody>
      </p:sp>
      <p:sp>
        <p:nvSpPr>
          <p:cNvPr id="9" name="Rounded Rectangle 8"/>
          <p:cNvSpPr/>
          <p:nvPr/>
        </p:nvSpPr>
        <p:spPr>
          <a:xfrm>
            <a:off x="640080" y="2990088"/>
            <a:ext cx="534924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914400" y="3145536"/>
            <a:ext cx="4846320" cy="365760"/>
          </a:xfrm>
          <a:prstGeom prst="rect">
            <a:avLst/>
          </a:prstGeom>
          <a:noFill/>
        </p:spPr>
        <p:txBody>
          <a:bodyPr wrap="square" lIns="0" rIns="0" tIns="0" bIns="0" anchor="t">
            <a:spAutoFit/>
          </a:bodyPr>
          <a:lstStyle/>
          <a:p>
            <a:pPr algn="l"/>
            <a:r>
              <a:rPr sz="1700" b="1" i="0">
                <a:solidFill>
                  <a:srgbClr val="1E2A3B"/>
                </a:solidFill>
                <a:latin typeface="Cambria"/>
              </a:rPr>
              <a:t>Why check WLAST if the length is known?</a:t>
            </a:r>
          </a:p>
        </p:txBody>
      </p:sp>
      <p:sp>
        <p:nvSpPr>
          <p:cNvPr id="11" name="TextBox 10"/>
          <p:cNvSpPr txBox="1"/>
          <p:nvPr/>
        </p:nvSpPr>
        <p:spPr>
          <a:xfrm>
            <a:off x="914400" y="3593592"/>
            <a:ext cx="4846320" cy="777240"/>
          </a:xfrm>
          <a:prstGeom prst="rect">
            <a:avLst/>
          </a:prstGeom>
          <a:noFill/>
        </p:spPr>
        <p:txBody>
          <a:bodyPr wrap="square" lIns="0" rIns="0" tIns="0" bIns="0" anchor="t">
            <a:spAutoFit/>
          </a:bodyPr>
          <a:lstStyle/>
          <a:p>
            <a:pPr algn="l"/>
            <a:r>
              <a:rPr sz="1500" b="0" i="0">
                <a:solidFill>
                  <a:srgbClr val="4F5F74"/>
                </a:solidFill>
                <a:latin typeface="Calibri"/>
              </a:rPr>
              <a:t>It is a cross-check. A mismatch ends the burst safely and returns SLVERR.</a:t>
            </a:r>
          </a:p>
        </p:txBody>
      </p:sp>
      <p:sp>
        <p:nvSpPr>
          <p:cNvPr id="12" name="Rounded Rectangle 11"/>
          <p:cNvSpPr/>
          <p:nvPr/>
        </p:nvSpPr>
        <p:spPr>
          <a:xfrm>
            <a:off x="6172200" y="2990088"/>
            <a:ext cx="534924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46520" y="3145536"/>
            <a:ext cx="4846320" cy="365760"/>
          </a:xfrm>
          <a:prstGeom prst="rect">
            <a:avLst/>
          </a:prstGeom>
          <a:noFill/>
        </p:spPr>
        <p:txBody>
          <a:bodyPr wrap="square" lIns="0" rIns="0" tIns="0" bIns="0" anchor="t">
            <a:spAutoFit/>
          </a:bodyPr>
          <a:lstStyle/>
          <a:p>
            <a:pPr algn="l"/>
            <a:r>
              <a:rPr sz="1700" b="1" i="0">
                <a:solidFill>
                  <a:srgbClr val="1E2A3B"/>
                </a:solidFill>
                <a:latin typeface="Cambria"/>
              </a:rPr>
              <a:t>Why latch the command?</a:t>
            </a:r>
          </a:p>
        </p:txBody>
      </p:sp>
      <p:sp>
        <p:nvSpPr>
          <p:cNvPr id="14" name="TextBox 13"/>
          <p:cNvSpPr txBox="1"/>
          <p:nvPr/>
        </p:nvSpPr>
        <p:spPr>
          <a:xfrm>
            <a:off x="6446520" y="3593592"/>
            <a:ext cx="4846320" cy="777240"/>
          </a:xfrm>
          <a:prstGeom prst="rect">
            <a:avLst/>
          </a:prstGeom>
          <a:noFill/>
        </p:spPr>
        <p:txBody>
          <a:bodyPr wrap="square" lIns="0" rIns="0" tIns="0" bIns="0" anchor="t">
            <a:spAutoFit/>
          </a:bodyPr>
          <a:lstStyle/>
          <a:p>
            <a:pPr algn="l"/>
            <a:r>
              <a:rPr sz="1500" b="0" i="0">
                <a:solidFill>
                  <a:srgbClr val="4F5F74"/>
                </a:solidFill>
                <a:latin typeface="Calibri"/>
              </a:rPr>
              <a:t>The bus payload must not change until its handshake completes. Registers guarantee that.</a:t>
            </a:r>
          </a:p>
        </p:txBody>
      </p:sp>
      <p:sp>
        <p:nvSpPr>
          <p:cNvPr id="15" name="Rounded Rectangle 14"/>
          <p:cNvSpPr/>
          <p:nvPr/>
        </p:nvSpPr>
        <p:spPr>
          <a:xfrm>
            <a:off x="640080" y="4562856"/>
            <a:ext cx="534924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14400" y="4718304"/>
            <a:ext cx="4846320" cy="365760"/>
          </a:xfrm>
          <a:prstGeom prst="rect">
            <a:avLst/>
          </a:prstGeom>
          <a:noFill/>
        </p:spPr>
        <p:txBody>
          <a:bodyPr wrap="square" lIns="0" rIns="0" tIns="0" bIns="0" anchor="t">
            <a:spAutoFit/>
          </a:bodyPr>
          <a:lstStyle/>
          <a:p>
            <a:pPr algn="l"/>
            <a:r>
              <a:rPr sz="1700" b="1" i="0">
                <a:solidFill>
                  <a:srgbClr val="1E2A3B"/>
                </a:solidFill>
                <a:latin typeface="Cambria"/>
              </a:rPr>
              <a:t>What if the address is bad mid-burst?</a:t>
            </a:r>
          </a:p>
        </p:txBody>
      </p:sp>
      <p:sp>
        <p:nvSpPr>
          <p:cNvPr id="17" name="TextBox 16"/>
          <p:cNvSpPr txBox="1"/>
          <p:nvPr/>
        </p:nvSpPr>
        <p:spPr>
          <a:xfrm>
            <a:off x="914400" y="5166360"/>
            <a:ext cx="4846320" cy="777240"/>
          </a:xfrm>
          <a:prstGeom prst="rect">
            <a:avLst/>
          </a:prstGeom>
          <a:noFill/>
        </p:spPr>
        <p:txBody>
          <a:bodyPr wrap="square" lIns="0" rIns="0" tIns="0" bIns="0" anchor="t">
            <a:spAutoFit/>
          </a:bodyPr>
          <a:lstStyle/>
          <a:p>
            <a:pPr algn="l"/>
            <a:r>
              <a:rPr sz="1500" b="0" i="0">
                <a:solidFill>
                  <a:srgbClr val="4F5F74"/>
                </a:solidFill>
                <a:latin typeface="Calibri"/>
              </a:rPr>
              <a:t>The subordinate still accepts every beat, skips the write, and returns DECERR once.</a:t>
            </a:r>
          </a:p>
        </p:txBody>
      </p:sp>
      <p:sp>
        <p:nvSpPr>
          <p:cNvPr id="18" name="Rounded Rectangle 17"/>
          <p:cNvSpPr/>
          <p:nvPr/>
        </p:nvSpPr>
        <p:spPr>
          <a:xfrm>
            <a:off x="6172200" y="4562856"/>
            <a:ext cx="5349240" cy="1417320"/>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446520" y="4718304"/>
            <a:ext cx="4846320" cy="365760"/>
          </a:xfrm>
          <a:prstGeom prst="rect">
            <a:avLst/>
          </a:prstGeom>
          <a:noFill/>
        </p:spPr>
        <p:txBody>
          <a:bodyPr wrap="square" lIns="0" rIns="0" tIns="0" bIns="0" anchor="t">
            <a:spAutoFit/>
          </a:bodyPr>
          <a:lstStyle/>
          <a:p>
            <a:pPr algn="l"/>
            <a:r>
              <a:rPr sz="1700" b="1" i="0">
                <a:solidFill>
                  <a:srgbClr val="1E2A3B"/>
                </a:solidFill>
                <a:latin typeface="Cambria"/>
              </a:rPr>
              <a:t>What does the stage cost?</a:t>
            </a:r>
          </a:p>
        </p:txBody>
      </p:sp>
      <p:sp>
        <p:nvSpPr>
          <p:cNvPr id="20" name="TextBox 19"/>
          <p:cNvSpPr txBox="1"/>
          <p:nvPr/>
        </p:nvSpPr>
        <p:spPr>
          <a:xfrm>
            <a:off x="6446520" y="5166360"/>
            <a:ext cx="4846320" cy="777240"/>
          </a:xfrm>
          <a:prstGeom prst="rect">
            <a:avLst/>
          </a:prstGeom>
          <a:noFill/>
        </p:spPr>
        <p:txBody>
          <a:bodyPr wrap="square" lIns="0" rIns="0" tIns="0" bIns="0" anchor="t">
            <a:spAutoFit/>
          </a:bodyPr>
          <a:lstStyle/>
          <a:p>
            <a:pPr algn="l"/>
            <a:r>
              <a:rPr sz="1500" b="0" i="0">
                <a:solidFill>
                  <a:srgbClr val="4F5F74"/>
                </a:solidFill>
                <a:latin typeface="Calibri"/>
              </a:rPr>
              <a:t>Two cycles per transaction, fixed. Throughput stays at one beat per clock.</a:t>
            </a:r>
          </a:p>
        </p:txBody>
      </p:sp>
      <p:sp>
        <p:nvSpPr>
          <p:cNvPr id="21" name="Footer"/>
          <p:cNvSpPr txBox="1"/>
          <p:nvPr/>
        </p:nvSpPr>
        <p:spPr>
          <a:xfrm>
            <a:off x="640080" y="6400800"/>
            <a:ext cx="7315200" cy="274320"/>
          </a:xfrm>
          <a:prstGeom prst="rect">
            <a:avLst/>
          </a:prstGeom>
          <a:noFill/>
        </p:spPr>
        <p:txBody>
          <a:bodyPr wrap="square" lIns="0" rIns="0" tIns="0" bIns="0" anchor="t">
            <a:spAutoFit/>
          </a:bodyPr>
          <a:lstStyle/>
          <a:p>
            <a:pPr algn="l"/>
            <a:r>
              <a:rPr sz="1100" b="0" i="0">
                <a:solidFill>
                  <a:srgbClr val="4F5F74"/>
                </a:solidFill>
                <a:latin typeface="Calibri"/>
              </a:rPr>
              <a:t>AXI4 manager, subordinate and registered channels</a:t>
            </a:r>
          </a:p>
        </p:txBody>
      </p:sp>
      <p:sp>
        <p:nvSpPr>
          <p:cNvPr id="22" name="Page number"/>
          <p:cNvSpPr txBox="1"/>
          <p:nvPr/>
        </p:nvSpPr>
        <p:spPr>
          <a:xfrm>
            <a:off x="10637215" y="6400800"/>
            <a:ext cx="914400" cy="274320"/>
          </a:xfrm>
          <a:prstGeom prst="rect">
            <a:avLst/>
          </a:prstGeom>
          <a:noFill/>
        </p:spPr>
        <p:txBody>
          <a:bodyPr wrap="square" lIns="0" rIns="0" tIns="0" bIns="0" anchor="t">
            <a:spAutoFit/>
          </a:bodyPr>
          <a:lstStyle/>
          <a:p>
            <a:pPr algn="r"/>
            <a:r>
              <a:rPr sz="1100" b="0" i="0">
                <a:solidFill>
                  <a:srgbClr val="4F5F74"/>
                </a:solidFill>
                <a:latin typeface="Calibri"/>
              </a:rPr>
              <a:t>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