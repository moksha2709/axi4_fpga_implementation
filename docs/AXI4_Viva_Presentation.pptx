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summary: we built both ends of an AXI4 connection in Verilog. A manager that issues bursts, and a subordinate that is a 4 KiB memory. They are wired directly together over the five AXI channels. Everything shown today comes from the simulation in the project folder, so every number can be reproduced live. The five amber pills are the five AXI channels; we come back to each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files. The manager is the active side: your logic gives it a simple request and it runs the whole AXI conversation. The subordinate is a small memory that understands that conversation. The top level only wires the two together. Stress that this is full AXI4: bursts, IDs and the LAST signals, not the single-word AXI4-Lite.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AXI separates a transaction into five independent one-way channels, so a read can proceed while a write waits, and a slow response never blocks the next address. A write uses AW for the address, W for the data beats, and B for one response at the end. A read uses AR for the address and R for the data coming back. Notice B and R point the other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channel uses the same handshake. The sender raises VALID when its data is real. The receiver raises READY when it can take it. The transfer happens in the one clock cycle where both are high. Two rules keep it safe. First, once VALID is up the data must not change until the handshake completes. Second, a sender may not wait for READY before raising VALID, or two sides could wait on each other forever. Our testbenches check both rules on every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burst is one address followed by many beats. LEN says how many beats minus one, SIZE says how wide each beat is, BURST says how the address moves, and LAST marks the final beat so the receiver knows where it ends. The three burst types, starting at 0x208 with four 4-byte beats: INCR counts up. FIXED stays on one address, like pushing into a FIFO register, and the last beat wins. WRAP counts up inside a 16-byte window and loops back to its start; a CPU uses it to fetch a cache line with the needed word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Your logic uses a command port and two data streams. The manager turns those into the five AXI channels, shown with their real signal names. The channels run straight into the subordinate, which has a write engine, a read engine and a 4 KiB memory. The three cards at the bottom are the design points we will justify.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host side of the manager is deliberately small. You pulse a start signal with a burst description; for a write you push beats into the write stream, for a read you take them from the read stream. cmd_done is a one-cycle pulse when the burst finishes and cmd_resp carries the response. A start is taken only when the manager is idle, and if both starts are high the write wins. The manager copies the description into registers, so you may change cmd_addr straight after the pulse.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manager is a five-state machine. IDLE waits for a start and copies the burst description into its own registers. WRITE sends the address and streams the beats together, counting them and raising WLAST on the last; the address and data channels are independent so either may finish first. B waits for the single response. For a read, RADDR sends the address and RDATA passes beats to the host until RLAST. Two decisions to defend: registering the description, and generating WLAST inside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subordinate has two independent state machines because reads and writes use different channels. The write engine takes the address first and only then raises WREADY, applies WSTRB byte by byte, steps the address per beat, and sends one B response. The read engine fetches the first word on the address handshake and each following word on the previous beat's handshake, which is why beats come out one per clock. Every response is OKAY: this subordinate does no request checking, so an address beyond the 4 KiB simply wraps inside the memory.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request from start to finish: write four words to address 0x10. The host pulses the start with cmd_len = 3 and streams four words. The manager copies the description, sends the address and the beats and raises WLAST on the fourth. The subordinate takes the address first, then writes each word into memory. After WLAST it sends one response. The manager takes it and pulses cmd_done. Measured: six busy cycles for four beats.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waveform was recorded from our simulation of the full system: a 4-beat write to address 0x10. Cycle 0, the host pulses start. Cycle 1, AWVALID and WVALID go up together and the address handshakes straight away; WREADY is still low because the subordinate takes the address first. From cycle 2 the four beats flow one per clock, WLAST rides on the fourth at cycle 5, the response handshakes at cycle 6 and cmd_done pulses at 7. The master was busy for 6 cycles.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address read back. One address goes out and is accepted at cycle 1. The manager raises RREADY as soon as the address is accepted. The four beats come back to back at cycles 2 to 5, one per clock, with RLAST on the fourth. cmd_done pulses at 6. After the address there are no gaps: that is the point of fetching the next word on each read handshake.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verified at three levels so that a failure points at one place. Level 1 plays the manager against the subordinate alone and forces awkward cases that a real manager would not produce. Level 2 runs the manager against a mock subordinate whose delays we control, with always-on monitors that fail the test if VALID drops early or any payload bit changes while stalled. Level 3 runs the whole system through the host ports, including a reset in the middle of a burst.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to remember. All 156 checks pass. Sustained throughput is one beat per clock. A 32-beat write takes 35 cycles and a 32-beat read 34, measured from the start pulse to the done pulse. Thirty-two beats cannot take fewer than 32 cycles, so the remaining 3 and 2 cycles are the fixed cost of the address and response handshakes. That overhead does not grow with burst length: the 8-beat write took 11 cycles, the same 3 cycles over.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you are asked. One burst at a time per direction, so IDs are echoed but never used to reorder. Every response is OKAY: there are no error responses, and an address beyond the 4 KiB wraps inside the memory. No exclusive access. Narrow reads return the whole word and the manager picks its lanes. The host streams inside the manager are a combinational pass-through with a state gate. A reset in mid-burst leaves the memory as it was, and which beats landed is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about two minutes. Open PowerShell in E:\FPGA_Project and run .\run_tests.ps1. It compiles and runs three suites. Point at the three result lines and the summary. Then run the top suite with -Wave to open the waveform in GTKWave and show the same shape as the recorded slides: the one-cycle shift from master side to slave side, and the WREADY dip. If the live run fails for any reason, the slides 11 and 12 are recorded from this exact simulation.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with short answers. Why five channels: so address, data and response move independently and in both directions. How does the subordinate know the burst ended: WLAST on writes, a beat count on reads. What about a bad address: this subordinate does no checking, the address wraps and the response is OKAY. Why latch the command: the bus payload must stay stable until the handshake completes. What limits throughput: one beat per clock after a few cycles of address and response overhead.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33"/>
        </a:solidFill>
        <a:effectLst/>
      </p:bgPr>
    </p:bg>
    <p:spTree>
      <p:nvGrpSpPr>
        <p:cNvPr id="1" name=""/>
        <p:cNvGrpSpPr/>
        <p:nvPr/>
      </p:nvGrpSpPr>
      <p:grpSpPr/>
      <p:sp>
        <p:nvSpPr>
          <p:cNvPr id="2" name="Eyebrow"/>
          <p:cNvSpPr txBox="1"/>
          <p:nvPr/>
        </p:nvSpPr>
        <p:spPr>
          <a:xfrm>
            <a:off x="822960" y="1371600"/>
            <a:ext cx="10058400" cy="365760"/>
          </a:xfrm>
          <a:prstGeom prst="rect">
            <a:avLst/>
          </a:prstGeom>
          <a:noFill/>
        </p:spPr>
        <p:txBody>
          <a:bodyPr wrap="square" lIns="0" rIns="0" tIns="0" bIns="0" anchor="t">
            <a:spAutoFit/>
          </a:bodyPr>
          <a:lstStyle/>
          <a:p>
            <a:pPr algn="l"/>
            <a:r>
              <a:rPr sz="1800" b="1" i="0">
                <a:solidFill>
                  <a:srgbClr val="FFC845"/>
                </a:solidFill>
                <a:latin typeface="Calibri"/>
              </a:rPr>
              <a:t>VIVA DEMONSTRATION</a:t>
            </a:r>
          </a:p>
        </p:txBody>
      </p:sp>
      <p:sp>
        <p:nvSpPr>
          <p:cNvPr id="3" name="Title"/>
          <p:cNvSpPr txBox="1"/>
          <p:nvPr/>
        </p:nvSpPr>
        <p:spPr>
          <a:xfrm>
            <a:off x="822960" y="1874519"/>
            <a:ext cx="10241280" cy="2194560"/>
          </a:xfrm>
          <a:prstGeom prst="rect">
            <a:avLst/>
          </a:prstGeom>
          <a:noFill/>
        </p:spPr>
        <p:txBody>
          <a:bodyPr wrap="square" lIns="0" rIns="0" tIns="0" bIns="0" anchor="t">
            <a:spAutoFit/>
          </a:bodyPr>
          <a:lstStyle/>
          <a:p>
            <a:pPr algn="l"/>
            <a:r>
              <a:rPr sz="6000" b="1" i="0">
                <a:solidFill>
                  <a:srgbClr val="EEF2F8"/>
                </a:solidFill>
                <a:latin typeface="Cambria"/>
              </a:rPr>
              <a:t>AXI4 manager and subordinate in Verilog</a:t>
            </a:r>
          </a:p>
        </p:txBody>
      </p:sp>
      <p:sp>
        <p:nvSpPr>
          <p:cNvPr id="4" name="TextBox 3"/>
          <p:cNvSpPr txBox="1"/>
          <p:nvPr/>
        </p:nvSpPr>
        <p:spPr>
          <a:xfrm>
            <a:off x="822960" y="3886200"/>
            <a:ext cx="9601200" cy="914400"/>
          </a:xfrm>
          <a:prstGeom prst="rect">
            <a:avLst/>
          </a:prstGeom>
          <a:noFill/>
        </p:spPr>
        <p:txBody>
          <a:bodyPr wrap="square" lIns="0" rIns="0" tIns="0" bIns="0" anchor="t">
            <a:spAutoFit/>
          </a:bodyPr>
          <a:lstStyle/>
          <a:p>
            <a:pPr algn="l"/>
            <a:r>
              <a:rPr sz="2400" b="0" i="0">
                <a:solidFill>
                  <a:srgbClr val="B7C3D6"/>
                </a:solidFill>
                <a:latin typeface="Calibri"/>
              </a:rPr>
              <a:t>Burst transfers over the five AXI4 channels, with 156 checks passing in simulation.</a:t>
            </a:r>
          </a:p>
        </p:txBody>
      </p:sp>
      <p:sp>
        <p:nvSpPr>
          <p:cNvPr id="5" name="Rounded Rectangle 4"/>
          <p:cNvSpPr/>
          <p:nvPr/>
        </p:nvSpPr>
        <p:spPr>
          <a:xfrm>
            <a:off x="822960" y="4892040"/>
            <a:ext cx="82296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AW</a:t>
            </a:r>
          </a:p>
        </p:txBody>
      </p:sp>
      <p:sp>
        <p:nvSpPr>
          <p:cNvPr id="6" name="Rounded Rectangle 5"/>
          <p:cNvSpPr/>
          <p:nvPr/>
        </p:nvSpPr>
        <p:spPr>
          <a:xfrm>
            <a:off x="1810512" y="489204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W</a:t>
            </a:r>
          </a:p>
        </p:txBody>
      </p:sp>
      <p:sp>
        <p:nvSpPr>
          <p:cNvPr id="7" name="Rounded Rectangle 6"/>
          <p:cNvSpPr/>
          <p:nvPr/>
        </p:nvSpPr>
        <p:spPr>
          <a:xfrm>
            <a:off x="2706624" y="489204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B</a:t>
            </a:r>
          </a:p>
        </p:txBody>
      </p:sp>
      <p:sp>
        <p:nvSpPr>
          <p:cNvPr id="8" name="Rounded Rectangle 7"/>
          <p:cNvSpPr/>
          <p:nvPr/>
        </p:nvSpPr>
        <p:spPr>
          <a:xfrm>
            <a:off x="3602736" y="4892040"/>
            <a:ext cx="82296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AR</a:t>
            </a:r>
          </a:p>
        </p:txBody>
      </p:sp>
      <p:sp>
        <p:nvSpPr>
          <p:cNvPr id="9" name="Rounded Rectangle 8"/>
          <p:cNvSpPr/>
          <p:nvPr/>
        </p:nvSpPr>
        <p:spPr>
          <a:xfrm>
            <a:off x="4590288" y="489204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R</a:t>
            </a:r>
          </a:p>
        </p:txBody>
      </p:sp>
      <p:sp>
        <p:nvSpPr>
          <p:cNvPr id="10" name="Presenter"/>
          <p:cNvSpPr txBox="1"/>
          <p:nvPr/>
        </p:nvSpPr>
        <p:spPr>
          <a:xfrm>
            <a:off x="822960" y="6126480"/>
            <a:ext cx="10058400" cy="365760"/>
          </a:xfrm>
          <a:prstGeom prst="rect">
            <a:avLst/>
          </a:prstGeom>
          <a:noFill/>
        </p:spPr>
        <p:txBody>
          <a:bodyPr wrap="square" lIns="0" rIns="0" tIns="0" bIns="0" anchor="t">
            <a:spAutoFit/>
          </a:bodyPr>
          <a:lstStyle/>
          <a:p>
            <a:pPr algn="l"/>
            <a:r>
              <a:rPr sz="1600" b="0" i="0">
                <a:solidFill>
                  <a:srgbClr val="B7C3D6"/>
                </a:solidFill>
                <a:latin typeface="Calibri"/>
              </a:rPr>
              <a:t>[Your name]   ·   [Course and institution]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What we built</a:t>
            </a:r>
          </a:p>
        </p:txBody>
      </p:sp>
      <p:sp>
        <p:nvSpPr>
          <p:cNvPr id="3" name="TextBox 2"/>
          <p:cNvSpPr txBox="1"/>
          <p:nvPr/>
        </p:nvSpPr>
        <p:spPr>
          <a:xfrm>
            <a:off x="640080" y="1280160"/>
            <a:ext cx="10881360" cy="457200"/>
          </a:xfrm>
          <a:prstGeom prst="rect">
            <a:avLst/>
          </a:prstGeom>
          <a:noFill/>
        </p:spPr>
        <p:txBody>
          <a:bodyPr wrap="square" lIns="0" rIns="0" tIns="0" bIns="0" anchor="t">
            <a:spAutoFit/>
          </a:bodyPr>
          <a:lstStyle/>
          <a:p>
            <a:pPr algn="l"/>
            <a:r>
              <a:rPr sz="2000" b="0" i="0">
                <a:solidFill>
                  <a:srgbClr val="4F5F74"/>
                </a:solidFill>
                <a:latin typeface="Calibri"/>
              </a:rPr>
              <a:t>Both ends of an AXI4 connection, wired together.</a:t>
            </a:r>
          </a:p>
        </p:txBody>
      </p:sp>
      <p:sp>
        <p:nvSpPr>
          <p:cNvPr id="4" name="Rounded Rectangle 3"/>
          <p:cNvSpPr/>
          <p:nvPr/>
        </p:nvSpPr>
        <p:spPr>
          <a:xfrm>
            <a:off x="640080" y="2057400"/>
            <a:ext cx="3493008" cy="35661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0119" y="2331720"/>
            <a:ext cx="2834640" cy="457200"/>
          </a:xfrm>
          <a:prstGeom prst="rect">
            <a:avLst/>
          </a:prstGeom>
          <a:noFill/>
        </p:spPr>
        <p:txBody>
          <a:bodyPr wrap="square" lIns="0" rIns="0" tIns="0" bIns="0" anchor="t">
            <a:spAutoFit/>
          </a:bodyPr>
          <a:lstStyle/>
          <a:p>
            <a:pPr algn="l"/>
            <a:r>
              <a:rPr sz="2600" b="1" i="0">
                <a:solidFill>
                  <a:srgbClr val="1E2A3B"/>
                </a:solidFill>
                <a:latin typeface="Cambria"/>
              </a:rPr>
              <a:t>Manager</a:t>
            </a:r>
          </a:p>
        </p:txBody>
      </p:sp>
      <p:sp>
        <p:nvSpPr>
          <p:cNvPr id="6" name="TextBox 5"/>
          <p:cNvSpPr txBox="1"/>
          <p:nvPr/>
        </p:nvSpPr>
        <p:spPr>
          <a:xfrm>
            <a:off x="960119" y="2880360"/>
            <a:ext cx="2834640" cy="320040"/>
          </a:xfrm>
          <a:prstGeom prst="rect">
            <a:avLst/>
          </a:prstGeom>
          <a:noFill/>
        </p:spPr>
        <p:txBody>
          <a:bodyPr wrap="square" lIns="0" rIns="0" tIns="0" bIns="0" anchor="t">
            <a:spAutoFit/>
          </a:bodyPr>
          <a:lstStyle/>
          <a:p>
            <a:pPr algn="l"/>
            <a:r>
              <a:rPr sz="1400" b="0" i="0">
                <a:solidFill>
                  <a:srgbClr val="4F5F74"/>
                </a:solidFill>
                <a:latin typeface="Consolas"/>
              </a:rPr>
              <a:t>axi4_master.v</a:t>
            </a:r>
          </a:p>
        </p:txBody>
      </p:sp>
      <p:sp>
        <p:nvSpPr>
          <p:cNvPr id="7" name="TextBox 6"/>
          <p:cNvSpPr txBox="1"/>
          <p:nvPr/>
        </p:nvSpPr>
        <p:spPr>
          <a:xfrm>
            <a:off x="960119" y="3429000"/>
            <a:ext cx="2834640" cy="2011680"/>
          </a:xfrm>
          <a:prstGeom prst="rect">
            <a:avLst/>
          </a:prstGeom>
          <a:noFill/>
        </p:spPr>
        <p:txBody>
          <a:bodyPr wrap="square" lIns="0" rIns="0" tIns="0" bIns="0" anchor="t">
            <a:spAutoFit/>
          </a:bodyPr>
          <a:lstStyle/>
          <a:p>
            <a:pPr algn="l"/>
            <a:r>
              <a:rPr sz="1700" b="0" i="0">
                <a:solidFill>
                  <a:srgbClr val="1E2A3B"/>
                </a:solidFill>
                <a:latin typeface="Calibri"/>
              </a:rPr>
              <a:t>Takes a simple burst request from your logic and runs the full AXI4 exchange: address, data beats, response.</a:t>
            </a:r>
          </a:p>
        </p:txBody>
      </p:sp>
      <p:sp>
        <p:nvSpPr>
          <p:cNvPr id="8" name="Rounded Rectangle 7"/>
          <p:cNvSpPr/>
          <p:nvPr/>
        </p:nvSpPr>
        <p:spPr>
          <a:xfrm>
            <a:off x="4334256" y="2057400"/>
            <a:ext cx="3493008" cy="356616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54296" y="2331720"/>
            <a:ext cx="2834640" cy="457200"/>
          </a:xfrm>
          <a:prstGeom prst="rect">
            <a:avLst/>
          </a:prstGeom>
          <a:noFill/>
        </p:spPr>
        <p:txBody>
          <a:bodyPr wrap="square" lIns="0" rIns="0" tIns="0" bIns="0" anchor="t">
            <a:spAutoFit/>
          </a:bodyPr>
          <a:lstStyle/>
          <a:p>
            <a:pPr algn="l"/>
            <a:r>
              <a:rPr sz="2600" b="1" i="0">
                <a:solidFill>
                  <a:srgbClr val="1E2A3B"/>
                </a:solidFill>
                <a:latin typeface="Cambria"/>
              </a:rPr>
              <a:t>Subordinate</a:t>
            </a:r>
          </a:p>
        </p:txBody>
      </p:sp>
      <p:sp>
        <p:nvSpPr>
          <p:cNvPr id="10" name="TextBox 9"/>
          <p:cNvSpPr txBox="1"/>
          <p:nvPr/>
        </p:nvSpPr>
        <p:spPr>
          <a:xfrm>
            <a:off x="4654296" y="2880360"/>
            <a:ext cx="2834640" cy="320040"/>
          </a:xfrm>
          <a:prstGeom prst="rect">
            <a:avLst/>
          </a:prstGeom>
          <a:noFill/>
        </p:spPr>
        <p:txBody>
          <a:bodyPr wrap="square" lIns="0" rIns="0" tIns="0" bIns="0" anchor="t">
            <a:spAutoFit/>
          </a:bodyPr>
          <a:lstStyle/>
          <a:p>
            <a:pPr algn="l"/>
            <a:r>
              <a:rPr sz="1400" b="0" i="0">
                <a:solidFill>
                  <a:srgbClr val="4F5F74"/>
                </a:solidFill>
                <a:latin typeface="Consolas"/>
              </a:rPr>
              <a:t>axi4_slave.v</a:t>
            </a:r>
          </a:p>
        </p:txBody>
      </p:sp>
      <p:sp>
        <p:nvSpPr>
          <p:cNvPr id="11" name="TextBox 10"/>
          <p:cNvSpPr txBox="1"/>
          <p:nvPr/>
        </p:nvSpPr>
        <p:spPr>
          <a:xfrm>
            <a:off x="4654296" y="3429000"/>
            <a:ext cx="2834640" cy="2011680"/>
          </a:xfrm>
          <a:prstGeom prst="rect">
            <a:avLst/>
          </a:prstGeom>
          <a:noFill/>
        </p:spPr>
        <p:txBody>
          <a:bodyPr wrap="square" lIns="0" rIns="0" tIns="0" bIns="0" anchor="t">
            <a:spAutoFit/>
          </a:bodyPr>
          <a:lstStyle/>
          <a:p>
            <a:pPr algn="l"/>
            <a:r>
              <a:rPr sz="1700" b="0" i="0">
                <a:solidFill>
                  <a:srgbClr val="1E2A3B"/>
                </a:solidFill>
                <a:latin typeface="Calibri"/>
              </a:rPr>
              <a:t>A 4 KiB memory. Accepts bursts of 1 to 256 beats in FIXED, INCR or WRAP order and answers OKAY.</a:t>
            </a:r>
          </a:p>
        </p:txBody>
      </p:sp>
      <p:sp>
        <p:nvSpPr>
          <p:cNvPr id="12" name="Rounded Rectangle 11"/>
          <p:cNvSpPr/>
          <p:nvPr/>
        </p:nvSpPr>
        <p:spPr>
          <a:xfrm>
            <a:off x="8028432" y="2057400"/>
            <a:ext cx="3493008" cy="35661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48472" y="2331720"/>
            <a:ext cx="2834640" cy="457200"/>
          </a:xfrm>
          <a:prstGeom prst="rect">
            <a:avLst/>
          </a:prstGeom>
          <a:noFill/>
        </p:spPr>
        <p:txBody>
          <a:bodyPr wrap="square" lIns="0" rIns="0" tIns="0" bIns="0" anchor="t">
            <a:spAutoFit/>
          </a:bodyPr>
          <a:lstStyle/>
          <a:p>
            <a:pPr algn="l"/>
            <a:r>
              <a:rPr sz="2600" b="1" i="0">
                <a:solidFill>
                  <a:srgbClr val="1E2A3B"/>
                </a:solidFill>
                <a:latin typeface="Cambria"/>
              </a:rPr>
              <a:t>Top level</a:t>
            </a:r>
          </a:p>
        </p:txBody>
      </p:sp>
      <p:sp>
        <p:nvSpPr>
          <p:cNvPr id="14" name="TextBox 13"/>
          <p:cNvSpPr txBox="1"/>
          <p:nvPr/>
        </p:nvSpPr>
        <p:spPr>
          <a:xfrm>
            <a:off x="8348472" y="2880360"/>
            <a:ext cx="2834640" cy="320040"/>
          </a:xfrm>
          <a:prstGeom prst="rect">
            <a:avLst/>
          </a:prstGeom>
          <a:noFill/>
        </p:spPr>
        <p:txBody>
          <a:bodyPr wrap="square" lIns="0" rIns="0" tIns="0" bIns="0" anchor="t">
            <a:spAutoFit/>
          </a:bodyPr>
          <a:lstStyle/>
          <a:p>
            <a:pPr algn="l"/>
            <a:r>
              <a:rPr sz="1400" b="0" i="0">
                <a:solidFill>
                  <a:srgbClr val="4F5F74"/>
                </a:solidFill>
                <a:latin typeface="Consolas"/>
              </a:rPr>
              <a:t>axi4_top.v</a:t>
            </a:r>
          </a:p>
        </p:txBody>
      </p:sp>
      <p:sp>
        <p:nvSpPr>
          <p:cNvPr id="15" name="TextBox 14"/>
          <p:cNvSpPr txBox="1"/>
          <p:nvPr/>
        </p:nvSpPr>
        <p:spPr>
          <a:xfrm>
            <a:off x="8348472" y="3429000"/>
            <a:ext cx="2834640" cy="2011680"/>
          </a:xfrm>
          <a:prstGeom prst="rect">
            <a:avLst/>
          </a:prstGeom>
          <a:noFill/>
        </p:spPr>
        <p:txBody>
          <a:bodyPr wrap="square" lIns="0" rIns="0" tIns="0" bIns="0" anchor="t">
            <a:spAutoFit/>
          </a:bodyPr>
          <a:lstStyle/>
          <a:p>
            <a:pPr algn="l"/>
            <a:r>
              <a:rPr sz="1700" b="0" i="0">
                <a:solidFill>
                  <a:srgbClr val="1E2A3B"/>
                </a:solidFill>
                <a:latin typeface="Calibri"/>
              </a:rPr>
              <a:t>Wires the manager directly to the subordinate over the five AXI channels. Nothing sits between them.</a:t>
            </a:r>
          </a:p>
        </p:txBody>
      </p:sp>
      <p:sp>
        <p:nvSpPr>
          <p:cNvPr id="16" name="TextBox 15"/>
          <p:cNvSpPr txBox="1"/>
          <p:nvPr/>
        </p:nvSpPr>
        <p:spPr>
          <a:xfrm>
            <a:off x="640080" y="5852160"/>
            <a:ext cx="10881360" cy="365760"/>
          </a:xfrm>
          <a:prstGeom prst="rect">
            <a:avLst/>
          </a:prstGeom>
          <a:noFill/>
        </p:spPr>
        <p:txBody>
          <a:bodyPr wrap="square" lIns="0" rIns="0" tIns="0" bIns="0" anchor="t">
            <a:spAutoFit/>
          </a:bodyPr>
          <a:lstStyle/>
          <a:p>
            <a:pPr algn="l"/>
            <a:r>
              <a:rPr sz="1600" b="0" i="1">
                <a:solidFill>
                  <a:srgbClr val="4F5F74"/>
                </a:solidFill>
                <a:latin typeface="Calibri"/>
              </a:rPr>
              <a:t>Full AXI4 rather than AXI4-Lite: bursts, transaction IDs, WLAST and RLAST.</a:t>
            </a:r>
          </a:p>
        </p:txBody>
      </p:sp>
      <p:sp>
        <p:nvSpPr>
          <p:cNvPr id="17"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18"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Five independent channels</a:t>
            </a:r>
          </a:p>
        </p:txBody>
      </p:sp>
      <p:sp>
        <p:nvSpPr>
          <p:cNvPr id="3" name="Rounded Rectangle 2"/>
          <p:cNvSpPr/>
          <p:nvPr/>
        </p:nvSpPr>
        <p:spPr>
          <a:xfrm>
            <a:off x="822960" y="1508760"/>
            <a:ext cx="2286000" cy="4526280"/>
          </a:xfrm>
          <a:prstGeom prst="roundRect">
            <a:avLst>
              <a:gd name="adj" fmla="val 6000"/>
            </a:avLst>
          </a:prstGeom>
          <a:solidFill>
            <a:srgbClr val="D6E6FF"/>
          </a:solidFill>
          <a:ln w="19050">
            <a:solidFill>
              <a:srgbClr val="3B6F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3108960"/>
            <a:ext cx="2286000" cy="731520"/>
          </a:xfrm>
          <a:prstGeom prst="rect">
            <a:avLst/>
          </a:prstGeom>
          <a:noFill/>
        </p:spPr>
        <p:txBody>
          <a:bodyPr wrap="square" lIns="0" rIns="0" tIns="0" bIns="0" anchor="t">
            <a:spAutoFit/>
          </a:bodyPr>
          <a:lstStyle/>
          <a:p>
            <a:pPr algn="ctr"/>
            <a:r>
              <a:rPr sz="2400" b="1" i="0">
                <a:solidFill>
                  <a:srgbClr val="1E2A3B"/>
                </a:solidFill>
                <a:latin typeface="Cambria"/>
              </a:rPr>
              <a:t>Manager</a:t>
            </a:r>
          </a:p>
          <a:p>
            <a:pPr algn="ctr"/>
            <a:r>
              <a:rPr sz="1400" b="0" i="0">
                <a:solidFill>
                  <a:srgbClr val="4F5F74"/>
                </a:solidFill>
                <a:latin typeface="Consolas"/>
              </a:rPr>
              <a:t>axi4_master</a:t>
            </a:r>
          </a:p>
        </p:txBody>
      </p:sp>
      <p:sp>
        <p:nvSpPr>
          <p:cNvPr id="5" name="Rounded Rectangle 4"/>
          <p:cNvSpPr/>
          <p:nvPr/>
        </p:nvSpPr>
        <p:spPr>
          <a:xfrm>
            <a:off x="9079992" y="1508760"/>
            <a:ext cx="2286000" cy="4526280"/>
          </a:xfrm>
          <a:prstGeom prst="roundRect">
            <a:avLst>
              <a:gd name="adj" fmla="val 6000"/>
            </a:avLst>
          </a:prstGeom>
          <a:solidFill>
            <a:srgbClr val="E6DEFA"/>
          </a:solidFill>
          <a:ln w="19050">
            <a:solidFill>
              <a:srgbClr val="7152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079992" y="3108960"/>
            <a:ext cx="2286000" cy="731520"/>
          </a:xfrm>
          <a:prstGeom prst="rect">
            <a:avLst/>
          </a:prstGeom>
          <a:noFill/>
        </p:spPr>
        <p:txBody>
          <a:bodyPr wrap="square" lIns="0" rIns="0" tIns="0" bIns="0" anchor="t">
            <a:spAutoFit/>
          </a:bodyPr>
          <a:lstStyle/>
          <a:p>
            <a:pPr algn="ctr"/>
            <a:r>
              <a:rPr sz="2400" b="1" i="0">
                <a:solidFill>
                  <a:srgbClr val="1E2A3B"/>
                </a:solidFill>
                <a:latin typeface="Cambria"/>
              </a:rPr>
              <a:t>Subordinate</a:t>
            </a:r>
          </a:p>
          <a:p>
            <a:pPr algn="ctr"/>
            <a:r>
              <a:rPr sz="1400" b="0" i="0">
                <a:solidFill>
                  <a:srgbClr val="4F5F74"/>
                </a:solidFill>
                <a:latin typeface="Consolas"/>
              </a:rPr>
              <a:t>axi4_slave</a:t>
            </a:r>
          </a:p>
        </p:txBody>
      </p:sp>
      <p:sp>
        <p:nvSpPr>
          <p:cNvPr id="7" name="TextBox 6"/>
          <p:cNvSpPr txBox="1"/>
          <p:nvPr/>
        </p:nvSpPr>
        <p:spPr>
          <a:xfrm>
            <a:off x="3383280" y="1554480"/>
            <a:ext cx="1828800" cy="274320"/>
          </a:xfrm>
          <a:prstGeom prst="rect">
            <a:avLst/>
          </a:prstGeom>
          <a:noFill/>
        </p:spPr>
        <p:txBody>
          <a:bodyPr wrap="square" lIns="0" rIns="0" tIns="0" bIns="0" anchor="t">
            <a:spAutoFit/>
          </a:bodyPr>
          <a:lstStyle/>
          <a:p>
            <a:pPr algn="l"/>
            <a:r>
              <a:rPr sz="1200" b="1" i="0">
                <a:solidFill>
                  <a:srgbClr val="4F5F74"/>
                </a:solidFill>
                <a:latin typeface="Calibri"/>
              </a:rPr>
              <a:t>WRITE</a:t>
            </a:r>
          </a:p>
        </p:txBody>
      </p:sp>
      <p:sp>
        <p:nvSpPr>
          <p:cNvPr id="8" name="TextBox 7"/>
          <p:cNvSpPr txBox="1"/>
          <p:nvPr/>
        </p:nvSpPr>
        <p:spPr>
          <a:xfrm>
            <a:off x="3383280" y="4160520"/>
            <a:ext cx="1828800" cy="274320"/>
          </a:xfrm>
          <a:prstGeom prst="rect">
            <a:avLst/>
          </a:prstGeom>
          <a:noFill/>
        </p:spPr>
        <p:txBody>
          <a:bodyPr wrap="square" lIns="0" rIns="0" tIns="0" bIns="0" anchor="t">
            <a:spAutoFit/>
          </a:bodyPr>
          <a:lstStyle/>
          <a:p>
            <a:pPr algn="l"/>
            <a:r>
              <a:rPr sz="1200" b="1" i="0">
                <a:solidFill>
                  <a:srgbClr val="4F5F74"/>
                </a:solidFill>
                <a:latin typeface="Calibri"/>
              </a:rPr>
              <a:t>READ</a:t>
            </a:r>
          </a:p>
        </p:txBody>
      </p:sp>
      <p:cxnSp>
        <p:nvCxnSpPr>
          <p:cNvPr id="9" name="Connector 8"/>
          <p:cNvCxnSpPr/>
          <p:nvPr/>
        </p:nvCxnSpPr>
        <p:spPr>
          <a:xfrm>
            <a:off x="3154680" y="219456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00600" y="197510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AW   write address</a:t>
            </a:r>
          </a:p>
        </p:txBody>
      </p:sp>
      <p:cxnSp>
        <p:nvCxnSpPr>
          <p:cNvPr id="11" name="Connector 10"/>
          <p:cNvCxnSpPr/>
          <p:nvPr/>
        </p:nvCxnSpPr>
        <p:spPr>
          <a:xfrm>
            <a:off x="3154680" y="297180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00600" y="275234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W   write data</a:t>
            </a:r>
          </a:p>
        </p:txBody>
      </p:sp>
      <p:cxnSp>
        <p:nvCxnSpPr>
          <p:cNvPr id="13" name="Connector 12"/>
          <p:cNvCxnSpPr/>
          <p:nvPr/>
        </p:nvCxnSpPr>
        <p:spPr>
          <a:xfrm flipH="1">
            <a:off x="3154680" y="3749039"/>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800600" y="3529583"/>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B   write response</a:t>
            </a:r>
          </a:p>
        </p:txBody>
      </p:sp>
      <p:cxnSp>
        <p:nvCxnSpPr>
          <p:cNvPr id="15" name="Connector 14"/>
          <p:cNvCxnSpPr/>
          <p:nvPr/>
        </p:nvCxnSpPr>
        <p:spPr>
          <a:xfrm>
            <a:off x="3154680" y="475488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800600" y="453542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AR   read address</a:t>
            </a:r>
          </a:p>
        </p:txBody>
      </p:sp>
      <p:cxnSp>
        <p:nvCxnSpPr>
          <p:cNvPr id="17" name="Connector 16"/>
          <p:cNvCxnSpPr/>
          <p:nvPr/>
        </p:nvCxnSpPr>
        <p:spPr>
          <a:xfrm flipH="1">
            <a:off x="3154680" y="553212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00600" y="531266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R   read data</a:t>
            </a:r>
          </a:p>
        </p:txBody>
      </p:sp>
      <p:sp>
        <p:nvSpPr>
          <p:cNvPr id="19"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20"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VALID and READY handshake</a:t>
            </a:r>
          </a:p>
        </p:txBody>
      </p:sp>
      <p:sp>
        <p:nvSpPr>
          <p:cNvPr id="3" name="Rounded Rectangle 2"/>
          <p:cNvSpPr/>
          <p:nvPr/>
        </p:nvSpPr>
        <p:spPr>
          <a:xfrm>
            <a:off x="640080" y="1508760"/>
            <a:ext cx="5120640" cy="2011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91640"/>
            <a:ext cx="4572000" cy="365760"/>
          </a:xfrm>
          <a:prstGeom prst="rect">
            <a:avLst/>
          </a:prstGeom>
          <a:noFill/>
        </p:spPr>
        <p:txBody>
          <a:bodyPr wrap="square" lIns="0" rIns="0" tIns="0" bIns="0" anchor="t">
            <a:spAutoFit/>
          </a:bodyPr>
          <a:lstStyle/>
          <a:p>
            <a:pPr algn="l"/>
            <a:r>
              <a:rPr sz="2000" b="1" i="0">
                <a:solidFill>
                  <a:srgbClr val="1E2A3B"/>
                </a:solidFill>
                <a:latin typeface="Cambria"/>
              </a:rPr>
              <a:t>Transfer</a:t>
            </a:r>
          </a:p>
        </p:txBody>
      </p:sp>
      <p:sp>
        <p:nvSpPr>
          <p:cNvPr id="5" name="TextBox 4"/>
          <p:cNvSpPr txBox="1"/>
          <p:nvPr/>
        </p:nvSpPr>
        <p:spPr>
          <a:xfrm>
            <a:off x="914400" y="2148840"/>
            <a:ext cx="4572000" cy="1280160"/>
          </a:xfrm>
          <a:prstGeom prst="rect">
            <a:avLst/>
          </a:prstGeom>
          <a:noFill/>
        </p:spPr>
        <p:txBody>
          <a:bodyPr wrap="square" lIns="0" rIns="0" tIns="0" bIns="0" anchor="t">
            <a:spAutoFit/>
          </a:bodyPr>
          <a:lstStyle/>
          <a:p>
            <a:pPr algn="l"/>
            <a:r>
              <a:rPr sz="1600" b="0" i="0">
                <a:solidFill>
                  <a:srgbClr val="1E2A3B"/>
                </a:solidFill>
                <a:latin typeface="Calibri"/>
              </a:rPr>
              <a:t>The sender raises VALID when its data is real. The receiver raises READY when it can take it. The transfer happens in the cycle where both are high.</a:t>
            </a:r>
          </a:p>
        </p:txBody>
      </p:sp>
      <p:sp>
        <p:nvSpPr>
          <p:cNvPr id="6" name="Rounded Rectangle 5"/>
          <p:cNvSpPr/>
          <p:nvPr/>
        </p:nvSpPr>
        <p:spPr>
          <a:xfrm>
            <a:off x="640080" y="3703320"/>
            <a:ext cx="5120640" cy="2377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3886200"/>
            <a:ext cx="4572000" cy="365760"/>
          </a:xfrm>
          <a:prstGeom prst="rect">
            <a:avLst/>
          </a:prstGeom>
          <a:noFill/>
        </p:spPr>
        <p:txBody>
          <a:bodyPr wrap="square" lIns="0" rIns="0" tIns="0" bIns="0" anchor="t">
            <a:spAutoFit/>
          </a:bodyPr>
          <a:lstStyle/>
          <a:p>
            <a:pPr algn="l"/>
            <a:r>
              <a:rPr sz="2000" b="1" i="0">
                <a:solidFill>
                  <a:srgbClr val="1E2A3B"/>
                </a:solidFill>
                <a:latin typeface="Cambria"/>
              </a:rPr>
              <a:t>Two rules</a:t>
            </a:r>
          </a:p>
        </p:txBody>
      </p:sp>
      <p:sp>
        <p:nvSpPr>
          <p:cNvPr id="8" name="TextBox 7"/>
          <p:cNvSpPr txBox="1"/>
          <p:nvPr/>
        </p:nvSpPr>
        <p:spPr>
          <a:xfrm>
            <a:off x="914400" y="4343400"/>
            <a:ext cx="4572000" cy="1645920"/>
          </a:xfrm>
          <a:prstGeom prst="rect">
            <a:avLst/>
          </a:prstGeom>
          <a:noFill/>
        </p:spPr>
        <p:txBody>
          <a:bodyPr wrap="square" lIns="0" rIns="0" tIns="0" bIns="0" anchor="t">
            <a:spAutoFit/>
          </a:bodyPr>
          <a:lstStyle/>
          <a:p>
            <a:pPr algn="l">
              <a:spcAft>
                <a:spcPts val="800"/>
              </a:spcAft>
            </a:pPr>
            <a:r>
              <a:rPr sz="1600" b="0" i="0">
                <a:solidFill>
                  <a:srgbClr val="1E2A3B"/>
                </a:solidFill>
                <a:latin typeface="Calibri"/>
              </a:rPr>
              <a:t>Once VALID is up, the data and VALID stay put until the handshake completes.</a:t>
            </a:r>
          </a:p>
          <a:p>
            <a:pPr algn="l">
              <a:spcAft>
                <a:spcPts val="0"/>
              </a:spcAft>
            </a:pPr>
            <a:r>
              <a:rPr sz="1600" b="0" i="0">
                <a:solidFill>
                  <a:srgbClr val="1E2A3B"/>
                </a:solidFill>
                <a:latin typeface="Calibri"/>
              </a:rPr>
              <a:t>A sender may not wait for READY before raising VALID.</a:t>
            </a:r>
          </a:p>
        </p:txBody>
      </p:sp>
      <p:sp>
        <p:nvSpPr>
          <p:cNvPr id="9" name="Rounded Rectangle 8"/>
          <p:cNvSpPr/>
          <p:nvPr/>
        </p:nvSpPr>
        <p:spPr>
          <a:xfrm>
            <a:off x="5943600" y="1508760"/>
            <a:ext cx="5605272" cy="4572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1645920"/>
            <a:ext cx="2743200" cy="320040"/>
          </a:xfrm>
          <a:prstGeom prst="rect">
            <a:avLst/>
          </a:prstGeom>
          <a:noFill/>
        </p:spPr>
        <p:txBody>
          <a:bodyPr wrap="square" lIns="0" rIns="0" tIns="0" bIns="0" anchor="t">
            <a:spAutoFit/>
          </a:bodyPr>
          <a:lstStyle/>
          <a:p>
            <a:pPr algn="l"/>
            <a:r>
              <a:rPr sz="1400" b="0" i="0">
                <a:solidFill>
                  <a:srgbClr val="4F5F74"/>
                </a:solidFill>
                <a:latin typeface="Calibri"/>
              </a:rPr>
              <a:t>One transfer, cycle by cycle</a:t>
            </a:r>
          </a:p>
        </p:txBody>
      </p:sp>
      <p:cxnSp>
        <p:nvCxnSpPr>
          <p:cNvPr id="11" name="Connector 10"/>
          <p:cNvCxnSpPr/>
          <p:nvPr/>
        </p:nvCxnSpPr>
        <p:spPr>
          <a:xfrm>
            <a:off x="708660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8660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0</a:t>
            </a:r>
          </a:p>
        </p:txBody>
      </p:sp>
      <p:cxnSp>
        <p:nvCxnSpPr>
          <p:cNvPr id="13" name="Connector 12"/>
          <p:cNvCxnSpPr/>
          <p:nvPr/>
        </p:nvCxnSpPr>
        <p:spPr>
          <a:xfrm>
            <a:off x="7726679"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26679"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1</a:t>
            </a:r>
          </a:p>
        </p:txBody>
      </p:sp>
      <p:cxnSp>
        <p:nvCxnSpPr>
          <p:cNvPr id="15" name="Connector 14"/>
          <p:cNvCxnSpPr/>
          <p:nvPr/>
        </p:nvCxnSpPr>
        <p:spPr>
          <a:xfrm>
            <a:off x="836676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36676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2</a:t>
            </a:r>
          </a:p>
        </p:txBody>
      </p:sp>
      <p:cxnSp>
        <p:nvCxnSpPr>
          <p:cNvPr id="17" name="Connector 16"/>
          <p:cNvCxnSpPr/>
          <p:nvPr/>
        </p:nvCxnSpPr>
        <p:spPr>
          <a:xfrm>
            <a:off x="900684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00684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3</a:t>
            </a:r>
          </a:p>
        </p:txBody>
      </p:sp>
      <p:cxnSp>
        <p:nvCxnSpPr>
          <p:cNvPr id="19" name="Connector 18"/>
          <p:cNvCxnSpPr/>
          <p:nvPr/>
        </p:nvCxnSpPr>
        <p:spPr>
          <a:xfrm>
            <a:off x="964692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4692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4</a:t>
            </a:r>
          </a:p>
        </p:txBody>
      </p:sp>
      <p:cxnSp>
        <p:nvCxnSpPr>
          <p:cNvPr id="21" name="Connector 20"/>
          <p:cNvCxnSpPr/>
          <p:nvPr/>
        </p:nvCxnSpPr>
        <p:spPr>
          <a:xfrm>
            <a:off x="1028700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28700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5</a:t>
            </a:r>
          </a:p>
        </p:txBody>
      </p:sp>
      <p:sp>
        <p:nvSpPr>
          <p:cNvPr id="23" name="TextBox 22"/>
          <p:cNvSpPr txBox="1"/>
          <p:nvPr/>
        </p:nvSpPr>
        <p:spPr>
          <a:xfrm>
            <a:off x="6217920" y="2560320"/>
            <a:ext cx="822960" cy="365760"/>
          </a:xfrm>
          <a:prstGeom prst="rect">
            <a:avLst/>
          </a:prstGeom>
          <a:noFill/>
        </p:spPr>
        <p:txBody>
          <a:bodyPr wrap="square" lIns="0" rIns="0" tIns="0" bIns="0" anchor="t">
            <a:spAutoFit/>
          </a:bodyPr>
          <a:lstStyle/>
          <a:p>
            <a:pPr algn="l"/>
            <a:r>
              <a:rPr sz="1400" b="1" i="0">
                <a:solidFill>
                  <a:srgbClr val="1E2A3B"/>
                </a:solidFill>
                <a:latin typeface="Consolas"/>
              </a:rPr>
              <a:t>CLK</a:t>
            </a:r>
          </a:p>
        </p:txBody>
      </p:sp>
      <p:cxnSp>
        <p:nvCxnSpPr>
          <p:cNvPr id="24" name="Connector 23"/>
          <p:cNvCxnSpPr/>
          <p:nvPr/>
        </p:nvCxnSpPr>
        <p:spPr>
          <a:xfrm>
            <a:off x="708660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406640" y="2971800"/>
            <a:ext cx="32003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772667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04671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46719"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36675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36676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8680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8680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90068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0684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2688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26880" y="2971800"/>
            <a:ext cx="32003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64691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64692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96696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96696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28700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28700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6070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60704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17920" y="3383280"/>
            <a:ext cx="822960" cy="365760"/>
          </a:xfrm>
          <a:prstGeom prst="rect">
            <a:avLst/>
          </a:prstGeom>
          <a:noFill/>
        </p:spPr>
        <p:txBody>
          <a:bodyPr wrap="square" lIns="0" rIns="0" tIns="0" bIns="0" anchor="t">
            <a:spAutoFit/>
          </a:bodyPr>
          <a:lstStyle/>
          <a:p>
            <a:pPr algn="l"/>
            <a:r>
              <a:rPr sz="1400" b="1" i="0">
                <a:solidFill>
                  <a:srgbClr val="1E2A3B"/>
                </a:solidFill>
                <a:latin typeface="Consolas"/>
              </a:rPr>
              <a:t>VALID</a:t>
            </a:r>
          </a:p>
        </p:txBody>
      </p:sp>
      <p:cxnSp>
        <p:nvCxnSpPr>
          <p:cNvPr id="48" name="Connector 47"/>
          <p:cNvCxnSpPr/>
          <p:nvPr/>
        </p:nvCxnSpPr>
        <p:spPr>
          <a:xfrm>
            <a:off x="7086600" y="379476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726679" y="333756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7726679" y="33375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6760" y="33375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006840" y="333756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646920" y="333756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646920" y="37947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87000" y="37947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217920" y="4206240"/>
            <a:ext cx="822960" cy="365760"/>
          </a:xfrm>
          <a:prstGeom prst="rect">
            <a:avLst/>
          </a:prstGeom>
          <a:noFill/>
        </p:spPr>
        <p:txBody>
          <a:bodyPr wrap="square" lIns="0" rIns="0" tIns="0" bIns="0" anchor="t">
            <a:spAutoFit/>
          </a:bodyPr>
          <a:lstStyle/>
          <a:p>
            <a:pPr algn="l"/>
            <a:r>
              <a:rPr sz="1400" b="1" i="0">
                <a:solidFill>
                  <a:srgbClr val="1E2A3B"/>
                </a:solidFill>
                <a:latin typeface="Consolas"/>
              </a:rPr>
              <a:t>READY</a:t>
            </a:r>
          </a:p>
        </p:txBody>
      </p:sp>
      <p:cxnSp>
        <p:nvCxnSpPr>
          <p:cNvPr id="57" name="Connector 56"/>
          <p:cNvCxnSpPr/>
          <p:nvPr/>
        </p:nvCxnSpPr>
        <p:spPr>
          <a:xfrm>
            <a:off x="7086600" y="461772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726679"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366760"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9006840" y="416052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9006840" y="416052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646920" y="41605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287000" y="416052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287000"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9208007" y="3218688"/>
            <a:ext cx="237744" cy="237744"/>
          </a:xfrm>
          <a:prstGeom prst="ellipse">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217920" y="5212080"/>
            <a:ext cx="5120640" cy="640080"/>
          </a:xfrm>
          <a:prstGeom prst="rect">
            <a:avLst/>
          </a:prstGeom>
          <a:noFill/>
        </p:spPr>
        <p:txBody>
          <a:bodyPr wrap="square" lIns="0" rIns="0" tIns="0" bIns="0" anchor="t">
            <a:spAutoFit/>
          </a:bodyPr>
          <a:lstStyle/>
          <a:p>
            <a:pPr algn="l"/>
            <a:r>
              <a:rPr sz="1400" b="0" i="0">
                <a:solidFill>
                  <a:srgbClr val="4F5F74"/>
                </a:solidFill>
                <a:latin typeface="Calibri"/>
              </a:rPr>
              <a:t>Amber dot: cycle 3 is the only cycle where VALID and READY are both high, so that is where the transfer happens.</a:t>
            </a:r>
          </a:p>
        </p:txBody>
      </p:sp>
      <p:sp>
        <p:nvSpPr>
          <p:cNvPr id="67"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68"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What a burst is made of</a:t>
            </a:r>
          </a:p>
        </p:txBody>
      </p:sp>
      <p:sp>
        <p:nvSpPr>
          <p:cNvPr id="3" name="Rounded Rectangle 2"/>
          <p:cNvSpPr/>
          <p:nvPr/>
        </p:nvSpPr>
        <p:spPr>
          <a:xfrm>
            <a:off x="640080"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LEN</a:t>
            </a:r>
          </a:p>
        </p:txBody>
      </p:sp>
      <p:sp>
        <p:nvSpPr>
          <p:cNvPr id="5" name="TextBox 4"/>
          <p:cNvSpPr txBox="1"/>
          <p:nvPr/>
        </p:nvSpPr>
        <p:spPr>
          <a:xfrm>
            <a:off x="822959"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beats minus 1</a:t>
            </a:r>
          </a:p>
        </p:txBody>
      </p:sp>
      <p:sp>
        <p:nvSpPr>
          <p:cNvPr id="6" name="Rounded Rectangle 5"/>
          <p:cNvSpPr/>
          <p:nvPr/>
        </p:nvSpPr>
        <p:spPr>
          <a:xfrm>
            <a:off x="3401568"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84448"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SIZE</a:t>
            </a:r>
          </a:p>
        </p:txBody>
      </p:sp>
      <p:sp>
        <p:nvSpPr>
          <p:cNvPr id="8" name="TextBox 7"/>
          <p:cNvSpPr txBox="1"/>
          <p:nvPr/>
        </p:nvSpPr>
        <p:spPr>
          <a:xfrm>
            <a:off x="3584448"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bytes per beat = 2^n</a:t>
            </a:r>
          </a:p>
        </p:txBody>
      </p:sp>
      <p:sp>
        <p:nvSpPr>
          <p:cNvPr id="9" name="Rounded Rectangle 8"/>
          <p:cNvSpPr/>
          <p:nvPr/>
        </p:nvSpPr>
        <p:spPr>
          <a:xfrm>
            <a:off x="6163056"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45936"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BURST</a:t>
            </a:r>
          </a:p>
        </p:txBody>
      </p:sp>
      <p:sp>
        <p:nvSpPr>
          <p:cNvPr id="11" name="TextBox 10"/>
          <p:cNvSpPr txBox="1"/>
          <p:nvPr/>
        </p:nvSpPr>
        <p:spPr>
          <a:xfrm>
            <a:off x="6345936"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how the address moves</a:t>
            </a:r>
          </a:p>
        </p:txBody>
      </p:sp>
      <p:sp>
        <p:nvSpPr>
          <p:cNvPr id="12" name="Rounded Rectangle 11"/>
          <p:cNvSpPr/>
          <p:nvPr/>
        </p:nvSpPr>
        <p:spPr>
          <a:xfrm>
            <a:off x="8924544"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07424"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LAST</a:t>
            </a:r>
          </a:p>
        </p:txBody>
      </p:sp>
      <p:sp>
        <p:nvSpPr>
          <p:cNvPr id="14" name="TextBox 13"/>
          <p:cNvSpPr txBox="1"/>
          <p:nvPr/>
        </p:nvSpPr>
        <p:spPr>
          <a:xfrm>
            <a:off x="9107424"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marks the final beat</a:t>
            </a:r>
          </a:p>
        </p:txBody>
      </p:sp>
      <p:sp>
        <p:nvSpPr>
          <p:cNvPr id="15" name="TextBox 14"/>
          <p:cNvSpPr txBox="1"/>
          <p:nvPr/>
        </p:nvSpPr>
        <p:spPr>
          <a:xfrm>
            <a:off x="640080" y="2514600"/>
            <a:ext cx="10881360" cy="365760"/>
          </a:xfrm>
          <a:prstGeom prst="rect">
            <a:avLst/>
          </a:prstGeom>
          <a:noFill/>
        </p:spPr>
        <p:txBody>
          <a:bodyPr wrap="square" lIns="0" rIns="0" tIns="0" bIns="0" anchor="t">
            <a:spAutoFit/>
          </a:bodyPr>
          <a:lstStyle/>
          <a:p>
            <a:pPr algn="l"/>
            <a:r>
              <a:rPr sz="1600" b="0" i="0">
                <a:solidFill>
                  <a:srgbClr val="4F5F74"/>
                </a:solidFill>
                <a:latin typeface="Calibri"/>
              </a:rPr>
              <a:t>Four beats of 4 bytes, starting at address 0x208:</a:t>
            </a:r>
          </a:p>
        </p:txBody>
      </p:sp>
      <p:sp>
        <p:nvSpPr>
          <p:cNvPr id="16" name="Rounded Rectangle 15"/>
          <p:cNvSpPr/>
          <p:nvPr/>
        </p:nvSpPr>
        <p:spPr>
          <a:xfrm>
            <a:off x="640080" y="2971800"/>
            <a:ext cx="3493008" cy="3108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154680"/>
            <a:ext cx="2926080" cy="411480"/>
          </a:xfrm>
          <a:prstGeom prst="rect">
            <a:avLst/>
          </a:prstGeom>
          <a:noFill/>
        </p:spPr>
        <p:txBody>
          <a:bodyPr wrap="square" lIns="0" rIns="0" tIns="0" bIns="0" anchor="t">
            <a:spAutoFit/>
          </a:bodyPr>
          <a:lstStyle/>
          <a:p>
            <a:pPr algn="l"/>
            <a:r>
              <a:rPr sz="2400" b="1" i="0">
                <a:solidFill>
                  <a:srgbClr val="1E2A3B"/>
                </a:solidFill>
                <a:latin typeface="Cambria"/>
              </a:rPr>
              <a:t>INCR</a:t>
            </a:r>
          </a:p>
        </p:txBody>
      </p:sp>
      <p:sp>
        <p:nvSpPr>
          <p:cNvPr id="18" name="TextBox 17"/>
          <p:cNvSpPr txBox="1"/>
          <p:nvPr/>
        </p:nvSpPr>
        <p:spPr>
          <a:xfrm>
            <a:off x="914400" y="3703320"/>
            <a:ext cx="3017520" cy="1097280"/>
          </a:xfrm>
          <a:prstGeom prst="rect">
            <a:avLst/>
          </a:prstGeom>
          <a:noFill/>
        </p:spPr>
        <p:txBody>
          <a:bodyPr wrap="square" lIns="0" rIns="0" tIns="0" bIns="0" anchor="t">
            <a:spAutoFit/>
          </a:bodyPr>
          <a:lstStyle/>
          <a:p>
            <a:pPr algn="l">
              <a:spcAft>
                <a:spcPts val="600"/>
              </a:spcAft>
            </a:pPr>
            <a:r>
              <a:rPr sz="1900" b="0" i="0">
                <a:solidFill>
                  <a:srgbClr val="1E2A3B"/>
                </a:solidFill>
                <a:latin typeface="Consolas"/>
              </a:rPr>
              <a:t>0x208   0x20C</a:t>
            </a:r>
          </a:p>
          <a:p>
            <a:pPr algn="l"/>
            <a:r>
              <a:rPr sz="1900" b="1" i="0">
                <a:solidFill>
                  <a:srgbClr val="8F5C00"/>
                </a:solidFill>
                <a:latin typeface="Consolas"/>
              </a:rPr>
              <a:t>0x210   0x214</a:t>
            </a:r>
          </a:p>
        </p:txBody>
      </p:sp>
      <p:sp>
        <p:nvSpPr>
          <p:cNvPr id="19" name="TextBox 18"/>
          <p:cNvSpPr txBox="1"/>
          <p:nvPr/>
        </p:nvSpPr>
        <p:spPr>
          <a:xfrm>
            <a:off x="914400" y="4617720"/>
            <a:ext cx="2971800" cy="1371600"/>
          </a:xfrm>
          <a:prstGeom prst="rect">
            <a:avLst/>
          </a:prstGeom>
          <a:noFill/>
        </p:spPr>
        <p:txBody>
          <a:bodyPr wrap="square" lIns="0" rIns="0" tIns="0" bIns="0" anchor="t">
            <a:spAutoFit/>
          </a:bodyPr>
          <a:lstStyle/>
          <a:p>
            <a:pPr algn="l"/>
            <a:r>
              <a:rPr sz="1600" b="0" i="0">
                <a:solidFill>
                  <a:srgbClr val="4F5F74"/>
                </a:solidFill>
                <a:latin typeface="Calibri"/>
              </a:rPr>
              <a:t>Counts up. Normal streaming.</a:t>
            </a:r>
          </a:p>
        </p:txBody>
      </p:sp>
      <p:sp>
        <p:nvSpPr>
          <p:cNvPr id="20" name="Rounded Rectangle 19"/>
          <p:cNvSpPr/>
          <p:nvPr/>
        </p:nvSpPr>
        <p:spPr>
          <a:xfrm>
            <a:off x="4334256" y="2971800"/>
            <a:ext cx="3493008" cy="3108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608576" y="3154680"/>
            <a:ext cx="2926080" cy="411480"/>
          </a:xfrm>
          <a:prstGeom prst="rect">
            <a:avLst/>
          </a:prstGeom>
          <a:noFill/>
        </p:spPr>
        <p:txBody>
          <a:bodyPr wrap="square" lIns="0" rIns="0" tIns="0" bIns="0" anchor="t">
            <a:spAutoFit/>
          </a:bodyPr>
          <a:lstStyle/>
          <a:p>
            <a:pPr algn="l"/>
            <a:r>
              <a:rPr sz="2400" b="1" i="0">
                <a:solidFill>
                  <a:srgbClr val="1E2A3B"/>
                </a:solidFill>
                <a:latin typeface="Cambria"/>
              </a:rPr>
              <a:t>FIXED</a:t>
            </a:r>
          </a:p>
        </p:txBody>
      </p:sp>
      <p:sp>
        <p:nvSpPr>
          <p:cNvPr id="22" name="TextBox 21"/>
          <p:cNvSpPr txBox="1"/>
          <p:nvPr/>
        </p:nvSpPr>
        <p:spPr>
          <a:xfrm>
            <a:off x="4608576" y="3703320"/>
            <a:ext cx="3017520" cy="1097280"/>
          </a:xfrm>
          <a:prstGeom prst="rect">
            <a:avLst/>
          </a:prstGeom>
          <a:noFill/>
        </p:spPr>
        <p:txBody>
          <a:bodyPr wrap="square" lIns="0" rIns="0" tIns="0" bIns="0" anchor="t">
            <a:spAutoFit/>
          </a:bodyPr>
          <a:lstStyle/>
          <a:p>
            <a:pPr algn="l">
              <a:spcAft>
                <a:spcPts val="600"/>
              </a:spcAft>
            </a:pPr>
            <a:r>
              <a:rPr sz="1900" b="0" i="0">
                <a:solidFill>
                  <a:srgbClr val="1E2A3B"/>
                </a:solidFill>
                <a:latin typeface="Consolas"/>
              </a:rPr>
              <a:t>0x208   0x208</a:t>
            </a:r>
          </a:p>
          <a:p>
            <a:pPr algn="l"/>
            <a:r>
              <a:rPr sz="1900" b="1" i="0">
                <a:solidFill>
                  <a:srgbClr val="8F5C00"/>
                </a:solidFill>
                <a:latin typeface="Consolas"/>
              </a:rPr>
              <a:t>0x208   0x208</a:t>
            </a:r>
          </a:p>
        </p:txBody>
      </p:sp>
      <p:sp>
        <p:nvSpPr>
          <p:cNvPr id="23" name="TextBox 22"/>
          <p:cNvSpPr txBox="1"/>
          <p:nvPr/>
        </p:nvSpPr>
        <p:spPr>
          <a:xfrm>
            <a:off x="4608576" y="4617720"/>
            <a:ext cx="2971800" cy="1371600"/>
          </a:xfrm>
          <a:prstGeom prst="rect">
            <a:avLst/>
          </a:prstGeom>
          <a:noFill/>
        </p:spPr>
        <p:txBody>
          <a:bodyPr wrap="square" lIns="0" rIns="0" tIns="0" bIns="0" anchor="t">
            <a:spAutoFit/>
          </a:bodyPr>
          <a:lstStyle/>
          <a:p>
            <a:pPr algn="l"/>
            <a:r>
              <a:rPr sz="1600" b="0" i="0">
                <a:solidFill>
                  <a:srgbClr val="4F5F74"/>
                </a:solidFill>
                <a:latin typeface="Calibri"/>
              </a:rPr>
              <a:t>Same location every beat. Last beat wins. Like pushing into a FIFO register.</a:t>
            </a:r>
          </a:p>
        </p:txBody>
      </p:sp>
      <p:sp>
        <p:nvSpPr>
          <p:cNvPr id="24" name="Rounded Rectangle 23"/>
          <p:cNvSpPr/>
          <p:nvPr/>
        </p:nvSpPr>
        <p:spPr>
          <a:xfrm>
            <a:off x="8028432" y="2971800"/>
            <a:ext cx="3493008" cy="3108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302752" y="3154680"/>
            <a:ext cx="2926080" cy="411480"/>
          </a:xfrm>
          <a:prstGeom prst="rect">
            <a:avLst/>
          </a:prstGeom>
          <a:noFill/>
        </p:spPr>
        <p:txBody>
          <a:bodyPr wrap="square" lIns="0" rIns="0" tIns="0" bIns="0" anchor="t">
            <a:spAutoFit/>
          </a:bodyPr>
          <a:lstStyle/>
          <a:p>
            <a:pPr algn="l"/>
            <a:r>
              <a:rPr sz="2400" b="1" i="0">
                <a:solidFill>
                  <a:srgbClr val="1E2A3B"/>
                </a:solidFill>
                <a:latin typeface="Cambria"/>
              </a:rPr>
              <a:t>WRAP</a:t>
            </a:r>
          </a:p>
        </p:txBody>
      </p:sp>
      <p:sp>
        <p:nvSpPr>
          <p:cNvPr id="26" name="TextBox 25"/>
          <p:cNvSpPr txBox="1"/>
          <p:nvPr/>
        </p:nvSpPr>
        <p:spPr>
          <a:xfrm>
            <a:off x="8302752" y="3703320"/>
            <a:ext cx="3017520" cy="1097280"/>
          </a:xfrm>
          <a:prstGeom prst="rect">
            <a:avLst/>
          </a:prstGeom>
          <a:noFill/>
        </p:spPr>
        <p:txBody>
          <a:bodyPr wrap="square" lIns="0" rIns="0" tIns="0" bIns="0" anchor="t">
            <a:spAutoFit/>
          </a:bodyPr>
          <a:lstStyle/>
          <a:p>
            <a:pPr algn="l">
              <a:spcAft>
                <a:spcPts val="600"/>
              </a:spcAft>
            </a:pPr>
            <a:r>
              <a:rPr sz="1900" b="0" i="0">
                <a:solidFill>
                  <a:srgbClr val="1E2A3B"/>
                </a:solidFill>
                <a:latin typeface="Consolas"/>
              </a:rPr>
              <a:t>0x208   0x20C</a:t>
            </a:r>
          </a:p>
          <a:p>
            <a:pPr algn="l"/>
            <a:r>
              <a:rPr sz="1900" b="1" i="0">
                <a:solidFill>
                  <a:srgbClr val="8F5C00"/>
                </a:solidFill>
                <a:latin typeface="Consolas"/>
              </a:rPr>
              <a:t>0x200   0x204</a:t>
            </a:r>
          </a:p>
        </p:txBody>
      </p:sp>
      <p:sp>
        <p:nvSpPr>
          <p:cNvPr id="27" name="TextBox 26"/>
          <p:cNvSpPr txBox="1"/>
          <p:nvPr/>
        </p:nvSpPr>
        <p:spPr>
          <a:xfrm>
            <a:off x="8302752" y="4617720"/>
            <a:ext cx="2971800" cy="1371600"/>
          </a:xfrm>
          <a:prstGeom prst="rect">
            <a:avLst/>
          </a:prstGeom>
          <a:noFill/>
        </p:spPr>
        <p:txBody>
          <a:bodyPr wrap="square" lIns="0" rIns="0" tIns="0" bIns="0" anchor="t">
            <a:spAutoFit/>
          </a:bodyPr>
          <a:lstStyle/>
          <a:p>
            <a:pPr algn="l"/>
            <a:r>
              <a:rPr sz="1600" b="0" i="0">
                <a:solidFill>
                  <a:srgbClr val="4F5F74"/>
                </a:solidFill>
                <a:latin typeface="Calibri"/>
              </a:rPr>
              <a:t>Loops inside a 16-byte window. A cache line fetched with the needed word first.</a:t>
            </a:r>
          </a:p>
        </p:txBody>
      </p:sp>
      <p:sp>
        <p:nvSpPr>
          <p:cNvPr id="28"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29"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System architecture</a:t>
            </a:r>
          </a:p>
        </p:txBody>
      </p:sp>
      <p:pic>
        <p:nvPicPr>
          <p:cNvPr id="3" name="Picture 2" descr="Block diagram: your logic, axi4_master, five AXI4 channels with signal names, axi4_slave with write engine, read engine and 4 KiB memory."/>
          <p:cNvPicPr>
            <a:picLocks noChangeAspect="1"/>
          </p:cNvPicPr>
          <p:nvPr/>
        </p:nvPicPr>
        <p:blipFill>
          <a:blip r:embed="rId3"/>
          <a:stretch>
            <a:fillRect/>
          </a:stretch>
        </p:blipFill>
        <p:spPr>
          <a:xfrm>
            <a:off x="822960" y="1325880"/>
            <a:ext cx="10515600" cy="4673600"/>
          </a:xfrm>
          <a:prstGeom prst="rect">
            <a:avLst/>
          </a:prstGeom>
        </p:spPr>
      </p:pic>
      <p:sp>
        <p:nvSpPr>
          <p:cNvPr id="4" name="TextBox 3"/>
          <p:cNvSpPr txBox="1"/>
          <p:nvPr/>
        </p:nvSpPr>
        <p:spPr>
          <a:xfrm>
            <a:off x="640080" y="6080760"/>
            <a:ext cx="10881360" cy="274320"/>
          </a:xfrm>
          <a:prstGeom prst="rect">
            <a:avLst/>
          </a:prstGeom>
          <a:noFill/>
        </p:spPr>
        <p:txBody>
          <a:bodyPr wrap="square" lIns="0" rIns="0" tIns="0" bIns="0" anchor="t">
            <a:spAutoFit/>
          </a:bodyPr>
          <a:lstStyle/>
          <a:p>
            <a:pPr algn="l"/>
            <a:r>
              <a:rPr sz="1400" b="0" i="1">
                <a:solidFill>
                  <a:srgbClr val="4F5F74"/>
                </a:solidFill>
                <a:latin typeface="Calibri"/>
              </a:rPr>
              <a:t>The master and slave are wired directly. The burst description is copied into registers once, at the start.</a:t>
            </a:r>
          </a:p>
        </p:txBody>
      </p:sp>
      <p:sp>
        <p:nvSpPr>
          <p:cNvPr id="5"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6"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Host interface of the manager</a:t>
            </a:r>
          </a:p>
        </p:txBody>
      </p:sp>
      <p:sp>
        <p:nvSpPr>
          <p:cNvPr id="3" name="Rounded Rectangle 2"/>
          <p:cNvSpPr/>
          <p:nvPr/>
        </p:nvSpPr>
        <p:spPr>
          <a:xfrm>
            <a:off x="640080" y="1417320"/>
            <a:ext cx="5349240" cy="210312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00200"/>
            <a:ext cx="2743200" cy="365760"/>
          </a:xfrm>
          <a:prstGeom prst="rect">
            <a:avLst/>
          </a:prstGeom>
          <a:noFill/>
        </p:spPr>
        <p:txBody>
          <a:bodyPr wrap="square" lIns="0" rIns="0" tIns="0" bIns="0" anchor="t">
            <a:spAutoFit/>
          </a:bodyPr>
          <a:lstStyle/>
          <a:p>
            <a:pPr algn="l"/>
            <a:r>
              <a:rPr sz="2000" b="1" i="0">
                <a:solidFill>
                  <a:srgbClr val="1E2A3B"/>
                </a:solidFill>
                <a:latin typeface="Cambria"/>
              </a:rPr>
              <a:t>Command port</a:t>
            </a:r>
          </a:p>
        </p:txBody>
      </p:sp>
      <p:sp>
        <p:nvSpPr>
          <p:cNvPr id="5" name="TextBox 4"/>
          <p:cNvSpPr txBox="1"/>
          <p:nvPr/>
        </p:nvSpPr>
        <p:spPr>
          <a:xfrm>
            <a:off x="3566160" y="1655064"/>
            <a:ext cx="2194560" cy="320040"/>
          </a:xfrm>
          <a:prstGeom prst="rect">
            <a:avLst/>
          </a:prstGeom>
          <a:noFill/>
        </p:spPr>
        <p:txBody>
          <a:bodyPr wrap="square" lIns="0" rIns="0" tIns="0" bIns="0" anchor="t">
            <a:spAutoFit/>
          </a:bodyPr>
          <a:lstStyle/>
          <a:p>
            <a:pPr algn="r"/>
            <a:r>
              <a:rPr sz="1300" b="0" i="0">
                <a:solidFill>
                  <a:srgbClr val="4F5F74"/>
                </a:solidFill>
                <a:latin typeface="Calibri"/>
              </a:rPr>
              <a:t>you drive</a:t>
            </a:r>
          </a:p>
        </p:txBody>
      </p:sp>
      <p:sp>
        <p:nvSpPr>
          <p:cNvPr id="6" name="TextBox 5"/>
          <p:cNvSpPr txBox="1"/>
          <p:nvPr/>
        </p:nvSpPr>
        <p:spPr>
          <a:xfrm>
            <a:off x="914400" y="2103120"/>
            <a:ext cx="265176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cmd_start_write</a:t>
            </a:r>
          </a:p>
          <a:p>
            <a:pPr algn="l">
              <a:spcAft>
                <a:spcPts val="300"/>
              </a:spcAft>
            </a:pPr>
            <a:r>
              <a:rPr sz="1300" b="0" i="0">
                <a:solidFill>
                  <a:srgbClr val="1E2A3B"/>
                </a:solidFill>
                <a:latin typeface="Consolas"/>
              </a:rPr>
              <a:t>cmd_start_read</a:t>
            </a:r>
          </a:p>
          <a:p>
            <a:pPr algn="l">
              <a:spcAft>
                <a:spcPts val="300"/>
              </a:spcAft>
            </a:pPr>
            <a:r>
              <a:rPr sz="1300" b="0" i="0">
                <a:solidFill>
                  <a:srgbClr val="1E2A3B"/>
                </a:solidFill>
                <a:latin typeface="Consolas"/>
              </a:rPr>
              <a:t>cmd_id[3:0]</a:t>
            </a:r>
          </a:p>
          <a:p>
            <a:pPr algn="l">
              <a:spcAft>
                <a:spcPts val="300"/>
              </a:spcAft>
            </a:pPr>
            <a:r>
              <a:rPr sz="1300" b="0" i="0">
                <a:solidFill>
                  <a:srgbClr val="1E2A3B"/>
                </a:solidFill>
                <a:latin typeface="Consolas"/>
              </a:rPr>
              <a:t>cmd_addr[31:0]</a:t>
            </a:r>
          </a:p>
        </p:txBody>
      </p:sp>
      <p:sp>
        <p:nvSpPr>
          <p:cNvPr id="7" name="TextBox 6"/>
          <p:cNvSpPr txBox="1"/>
          <p:nvPr/>
        </p:nvSpPr>
        <p:spPr>
          <a:xfrm>
            <a:off x="3566160" y="2103120"/>
            <a:ext cx="228600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cmd_len[7:0]</a:t>
            </a:r>
          </a:p>
          <a:p>
            <a:pPr algn="l">
              <a:spcAft>
                <a:spcPts val="300"/>
              </a:spcAft>
            </a:pPr>
            <a:r>
              <a:rPr sz="1300" b="0" i="0">
                <a:solidFill>
                  <a:srgbClr val="1E2A3B"/>
                </a:solidFill>
                <a:latin typeface="Consolas"/>
              </a:rPr>
              <a:t>cmd_size[2:0]</a:t>
            </a:r>
          </a:p>
          <a:p>
            <a:pPr algn="l">
              <a:spcAft>
                <a:spcPts val="300"/>
              </a:spcAft>
            </a:pPr>
            <a:r>
              <a:rPr sz="1300" b="0" i="0">
                <a:solidFill>
                  <a:srgbClr val="1E2A3B"/>
                </a:solidFill>
                <a:latin typeface="Consolas"/>
              </a:rPr>
              <a:t>cmd_burst[1:0]</a:t>
            </a:r>
          </a:p>
        </p:txBody>
      </p:sp>
      <p:sp>
        <p:nvSpPr>
          <p:cNvPr id="8" name="Rounded Rectangle 7"/>
          <p:cNvSpPr/>
          <p:nvPr/>
        </p:nvSpPr>
        <p:spPr>
          <a:xfrm>
            <a:off x="6172200" y="1417320"/>
            <a:ext cx="5349240" cy="210312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46520" y="1600200"/>
            <a:ext cx="2743200" cy="365760"/>
          </a:xfrm>
          <a:prstGeom prst="rect">
            <a:avLst/>
          </a:prstGeom>
          <a:noFill/>
        </p:spPr>
        <p:txBody>
          <a:bodyPr wrap="square" lIns="0" rIns="0" tIns="0" bIns="0" anchor="t">
            <a:spAutoFit/>
          </a:bodyPr>
          <a:lstStyle/>
          <a:p>
            <a:pPr algn="l"/>
            <a:r>
              <a:rPr sz="2000" b="1" i="0">
                <a:solidFill>
                  <a:srgbClr val="1E2A3B"/>
                </a:solidFill>
                <a:latin typeface="Cambria"/>
              </a:rPr>
              <a:t>Status</a:t>
            </a:r>
          </a:p>
        </p:txBody>
      </p:sp>
      <p:sp>
        <p:nvSpPr>
          <p:cNvPr id="10" name="TextBox 9"/>
          <p:cNvSpPr txBox="1"/>
          <p:nvPr/>
        </p:nvSpPr>
        <p:spPr>
          <a:xfrm>
            <a:off x="9098280" y="1655064"/>
            <a:ext cx="2194560" cy="320040"/>
          </a:xfrm>
          <a:prstGeom prst="rect">
            <a:avLst/>
          </a:prstGeom>
          <a:noFill/>
        </p:spPr>
        <p:txBody>
          <a:bodyPr wrap="square" lIns="0" rIns="0" tIns="0" bIns="0" anchor="t">
            <a:spAutoFit/>
          </a:bodyPr>
          <a:lstStyle/>
          <a:p>
            <a:pPr algn="r"/>
            <a:r>
              <a:rPr sz="1300" b="0" i="0">
                <a:solidFill>
                  <a:srgbClr val="4F5F74"/>
                </a:solidFill>
                <a:latin typeface="Calibri"/>
              </a:rPr>
              <a:t>you read</a:t>
            </a:r>
          </a:p>
        </p:txBody>
      </p:sp>
      <p:sp>
        <p:nvSpPr>
          <p:cNvPr id="11" name="TextBox 10"/>
          <p:cNvSpPr txBox="1"/>
          <p:nvPr/>
        </p:nvSpPr>
        <p:spPr>
          <a:xfrm>
            <a:off x="6446520" y="2103120"/>
            <a:ext cx="265176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cmd_done  (1-cycle pulse)</a:t>
            </a:r>
          </a:p>
          <a:p>
            <a:pPr algn="l">
              <a:spcAft>
                <a:spcPts val="300"/>
              </a:spcAft>
            </a:pPr>
            <a:r>
              <a:rPr sz="1300" b="0" i="0">
                <a:solidFill>
                  <a:srgbClr val="1E2A3B"/>
                </a:solidFill>
                <a:latin typeface="Consolas"/>
              </a:rPr>
              <a:t>cmd_resp[1:0]</a:t>
            </a:r>
          </a:p>
        </p:txBody>
      </p:sp>
      <p:sp>
        <p:nvSpPr>
          <p:cNvPr id="12" name="TextBox 11"/>
          <p:cNvSpPr txBox="1"/>
          <p:nvPr/>
        </p:nvSpPr>
        <p:spPr>
          <a:xfrm>
            <a:off x="9098280" y="2103120"/>
            <a:ext cx="2286000" cy="1371600"/>
          </a:xfrm>
          <a:prstGeom prst="rect">
            <a:avLst/>
          </a:prstGeom>
          <a:noFill/>
        </p:spPr>
        <p:txBody>
          <a:bodyPr wrap="square" lIns="0" rIns="0" tIns="0" bIns="0" anchor="t">
            <a:spAutoFit/>
          </a:bodyPr>
          <a:lstStyle/>
          <a:p/>
        </p:txBody>
      </p:sp>
      <p:sp>
        <p:nvSpPr>
          <p:cNvPr id="13" name="Rounded Rectangle 12"/>
          <p:cNvSpPr/>
          <p:nvPr/>
        </p:nvSpPr>
        <p:spPr>
          <a:xfrm>
            <a:off x="640080" y="3657600"/>
            <a:ext cx="5349240" cy="210312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3840480"/>
            <a:ext cx="2743200" cy="365760"/>
          </a:xfrm>
          <a:prstGeom prst="rect">
            <a:avLst/>
          </a:prstGeom>
          <a:noFill/>
        </p:spPr>
        <p:txBody>
          <a:bodyPr wrap="square" lIns="0" rIns="0" tIns="0" bIns="0" anchor="t">
            <a:spAutoFit/>
          </a:bodyPr>
          <a:lstStyle/>
          <a:p>
            <a:pPr algn="l"/>
            <a:r>
              <a:rPr sz="2000" b="1" i="0">
                <a:solidFill>
                  <a:srgbClr val="1E2A3B"/>
                </a:solidFill>
                <a:latin typeface="Cambria"/>
              </a:rPr>
              <a:t>Write stream</a:t>
            </a:r>
          </a:p>
        </p:txBody>
      </p:sp>
      <p:sp>
        <p:nvSpPr>
          <p:cNvPr id="15" name="TextBox 14"/>
          <p:cNvSpPr txBox="1"/>
          <p:nvPr/>
        </p:nvSpPr>
        <p:spPr>
          <a:xfrm>
            <a:off x="3566160" y="3895344"/>
            <a:ext cx="2194560" cy="320040"/>
          </a:xfrm>
          <a:prstGeom prst="rect">
            <a:avLst/>
          </a:prstGeom>
          <a:noFill/>
        </p:spPr>
        <p:txBody>
          <a:bodyPr wrap="square" lIns="0" rIns="0" tIns="0" bIns="0" anchor="t">
            <a:spAutoFit/>
          </a:bodyPr>
          <a:lstStyle/>
          <a:p>
            <a:pPr algn="r"/>
            <a:r>
              <a:rPr sz="1300" b="0" i="0">
                <a:solidFill>
                  <a:srgbClr val="4F5F74"/>
                </a:solidFill>
                <a:latin typeface="Calibri"/>
              </a:rPr>
              <a:t>you push beats</a:t>
            </a:r>
          </a:p>
        </p:txBody>
      </p:sp>
      <p:sp>
        <p:nvSpPr>
          <p:cNvPr id="16" name="TextBox 15"/>
          <p:cNvSpPr txBox="1"/>
          <p:nvPr/>
        </p:nvSpPr>
        <p:spPr>
          <a:xfrm>
            <a:off x="914400" y="4343400"/>
            <a:ext cx="265176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hw_data[31:0]</a:t>
            </a:r>
          </a:p>
          <a:p>
            <a:pPr algn="l">
              <a:spcAft>
                <a:spcPts val="300"/>
              </a:spcAft>
            </a:pPr>
            <a:r>
              <a:rPr sz="1300" b="0" i="0">
                <a:solidFill>
                  <a:srgbClr val="1E2A3B"/>
                </a:solidFill>
                <a:latin typeface="Consolas"/>
              </a:rPr>
              <a:t>hw_strb[3:0]</a:t>
            </a:r>
          </a:p>
        </p:txBody>
      </p:sp>
      <p:sp>
        <p:nvSpPr>
          <p:cNvPr id="17" name="TextBox 16"/>
          <p:cNvSpPr txBox="1"/>
          <p:nvPr/>
        </p:nvSpPr>
        <p:spPr>
          <a:xfrm>
            <a:off x="3566160" y="4343400"/>
            <a:ext cx="228600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hw_valid</a:t>
            </a:r>
          </a:p>
          <a:p>
            <a:pPr algn="l">
              <a:spcAft>
                <a:spcPts val="300"/>
              </a:spcAft>
            </a:pPr>
            <a:r>
              <a:rPr sz="1300" b="0" i="0">
                <a:solidFill>
                  <a:srgbClr val="1E2A3B"/>
                </a:solidFill>
                <a:latin typeface="Consolas"/>
              </a:rPr>
              <a:t>hw_ready</a:t>
            </a:r>
          </a:p>
        </p:txBody>
      </p:sp>
      <p:sp>
        <p:nvSpPr>
          <p:cNvPr id="18" name="Rounded Rectangle 17"/>
          <p:cNvSpPr/>
          <p:nvPr/>
        </p:nvSpPr>
        <p:spPr>
          <a:xfrm>
            <a:off x="6172200" y="3657600"/>
            <a:ext cx="5349240" cy="210312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3840480"/>
            <a:ext cx="2743200" cy="365760"/>
          </a:xfrm>
          <a:prstGeom prst="rect">
            <a:avLst/>
          </a:prstGeom>
          <a:noFill/>
        </p:spPr>
        <p:txBody>
          <a:bodyPr wrap="square" lIns="0" rIns="0" tIns="0" bIns="0" anchor="t">
            <a:spAutoFit/>
          </a:bodyPr>
          <a:lstStyle/>
          <a:p>
            <a:pPr algn="l"/>
            <a:r>
              <a:rPr sz="2000" b="1" i="0">
                <a:solidFill>
                  <a:srgbClr val="1E2A3B"/>
                </a:solidFill>
                <a:latin typeface="Cambria"/>
              </a:rPr>
              <a:t>Read stream</a:t>
            </a:r>
          </a:p>
        </p:txBody>
      </p:sp>
      <p:sp>
        <p:nvSpPr>
          <p:cNvPr id="20" name="TextBox 19"/>
          <p:cNvSpPr txBox="1"/>
          <p:nvPr/>
        </p:nvSpPr>
        <p:spPr>
          <a:xfrm>
            <a:off x="9098280" y="3895344"/>
            <a:ext cx="2194560" cy="320040"/>
          </a:xfrm>
          <a:prstGeom prst="rect">
            <a:avLst/>
          </a:prstGeom>
          <a:noFill/>
        </p:spPr>
        <p:txBody>
          <a:bodyPr wrap="square" lIns="0" rIns="0" tIns="0" bIns="0" anchor="t">
            <a:spAutoFit/>
          </a:bodyPr>
          <a:lstStyle/>
          <a:p>
            <a:pPr algn="r"/>
            <a:r>
              <a:rPr sz="1300" b="0" i="0">
                <a:solidFill>
                  <a:srgbClr val="4F5F74"/>
                </a:solidFill>
                <a:latin typeface="Calibri"/>
              </a:rPr>
              <a:t>you take beats</a:t>
            </a:r>
          </a:p>
        </p:txBody>
      </p:sp>
      <p:sp>
        <p:nvSpPr>
          <p:cNvPr id="21" name="TextBox 20"/>
          <p:cNvSpPr txBox="1"/>
          <p:nvPr/>
        </p:nvSpPr>
        <p:spPr>
          <a:xfrm>
            <a:off x="6446520" y="4343400"/>
            <a:ext cx="265176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hr_data[31:0]</a:t>
            </a:r>
          </a:p>
          <a:p>
            <a:pPr algn="l">
              <a:spcAft>
                <a:spcPts val="300"/>
              </a:spcAft>
            </a:pPr>
            <a:r>
              <a:rPr sz="1300" b="0" i="0">
                <a:solidFill>
                  <a:srgbClr val="1E2A3B"/>
                </a:solidFill>
                <a:latin typeface="Consolas"/>
              </a:rPr>
              <a:t>hr_valid</a:t>
            </a:r>
          </a:p>
          <a:p>
            <a:pPr algn="l">
              <a:spcAft>
                <a:spcPts val="300"/>
              </a:spcAft>
            </a:pPr>
            <a:r>
              <a:rPr sz="1300" b="0" i="0">
                <a:solidFill>
                  <a:srgbClr val="1E2A3B"/>
                </a:solidFill>
                <a:latin typeface="Consolas"/>
              </a:rPr>
              <a:t>hr_ready</a:t>
            </a:r>
          </a:p>
        </p:txBody>
      </p:sp>
      <p:sp>
        <p:nvSpPr>
          <p:cNvPr id="22" name="TextBox 21"/>
          <p:cNvSpPr txBox="1"/>
          <p:nvPr/>
        </p:nvSpPr>
        <p:spPr>
          <a:xfrm>
            <a:off x="9098280" y="4343400"/>
            <a:ext cx="2286000" cy="1371600"/>
          </a:xfrm>
          <a:prstGeom prst="rect">
            <a:avLst/>
          </a:prstGeom>
          <a:noFill/>
        </p:spPr>
        <p:txBody>
          <a:bodyPr wrap="square" lIns="0" rIns="0" tIns="0" bIns="0" anchor="t">
            <a:spAutoFit/>
          </a:bodyPr>
          <a:lstStyle/>
          <a:p/>
        </p:txBody>
      </p:sp>
      <p:sp>
        <p:nvSpPr>
          <p:cNvPr id="23" name="TextBox 22"/>
          <p:cNvSpPr txBox="1"/>
          <p:nvPr/>
        </p:nvSpPr>
        <p:spPr>
          <a:xfrm>
            <a:off x="640080" y="5897880"/>
            <a:ext cx="10881360" cy="365760"/>
          </a:xfrm>
          <a:prstGeom prst="rect">
            <a:avLst/>
          </a:prstGeom>
          <a:noFill/>
        </p:spPr>
        <p:txBody>
          <a:bodyPr wrap="square" lIns="0" rIns="0" tIns="0" bIns="0" anchor="t">
            <a:spAutoFit/>
          </a:bodyPr>
          <a:lstStyle/>
          <a:p>
            <a:pPr algn="l"/>
            <a:r>
              <a:rPr sz="1500" b="0" i="1">
                <a:solidFill>
                  <a:srgbClr val="4F5F74"/>
                </a:solidFill>
                <a:latin typeface="Calibri"/>
              </a:rPr>
              <a:t>A start is taken only when the manager is idle. If both starts arrive together, the write wins.</a:t>
            </a:r>
          </a:p>
        </p:txBody>
      </p:sp>
      <p:sp>
        <p:nvSpPr>
          <p:cNvPr id="24"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25"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manager, state by state</a:t>
            </a:r>
          </a:p>
        </p:txBody>
      </p:sp>
      <p:sp>
        <p:nvSpPr>
          <p:cNvPr id="3" name="Rounded Rectangle 2"/>
          <p:cNvSpPr/>
          <p:nvPr/>
        </p:nvSpPr>
        <p:spPr>
          <a:xfrm>
            <a:off x="640080" y="1508760"/>
            <a:ext cx="1993392"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IDLE</a:t>
            </a:r>
          </a:p>
        </p:txBody>
      </p:sp>
      <p:sp>
        <p:nvSpPr>
          <p:cNvPr id="5" name="TextBox 4"/>
          <p:cNvSpPr txBox="1"/>
          <p:nvPr/>
        </p:nvSpPr>
        <p:spPr>
          <a:xfrm>
            <a:off x="822959"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Waits for a start. Copies address, length, size, burst type and ID into registers.</a:t>
            </a:r>
          </a:p>
        </p:txBody>
      </p:sp>
      <p:cxnSp>
        <p:nvCxnSpPr>
          <p:cNvPr id="6" name="Connector 5"/>
          <p:cNvCxnSpPr/>
          <p:nvPr/>
        </p:nvCxnSpPr>
        <p:spPr>
          <a:xfrm>
            <a:off x="2651760" y="2834640"/>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62072" y="1508760"/>
            <a:ext cx="1993392"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044952"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WRITE</a:t>
            </a:r>
          </a:p>
        </p:txBody>
      </p:sp>
      <p:sp>
        <p:nvSpPr>
          <p:cNvPr id="9" name="TextBox 8"/>
          <p:cNvSpPr txBox="1"/>
          <p:nvPr/>
        </p:nvSpPr>
        <p:spPr>
          <a:xfrm>
            <a:off x="3044952"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Sends the address and streams the beats together. Counts beats, raises WLAST on the last.</a:t>
            </a:r>
          </a:p>
        </p:txBody>
      </p:sp>
      <p:cxnSp>
        <p:nvCxnSpPr>
          <p:cNvPr id="10" name="Connector 9"/>
          <p:cNvCxnSpPr/>
          <p:nvPr/>
        </p:nvCxnSpPr>
        <p:spPr>
          <a:xfrm>
            <a:off x="4873752" y="2834640"/>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508760"/>
            <a:ext cx="1993392"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66944"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B</a:t>
            </a:r>
          </a:p>
        </p:txBody>
      </p:sp>
      <p:sp>
        <p:nvSpPr>
          <p:cNvPr id="13" name="TextBox 12"/>
          <p:cNvSpPr txBox="1"/>
          <p:nvPr/>
        </p:nvSpPr>
        <p:spPr>
          <a:xfrm>
            <a:off x="5266944"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Waits for the one response for the whole burst. Pulses cmd_done.</a:t>
            </a:r>
          </a:p>
        </p:txBody>
      </p:sp>
      <p:cxnSp>
        <p:nvCxnSpPr>
          <p:cNvPr id="14" name="Connector 13"/>
          <p:cNvCxnSpPr/>
          <p:nvPr/>
        </p:nvCxnSpPr>
        <p:spPr>
          <a:xfrm>
            <a:off x="7095744" y="2834640"/>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06056" y="1508760"/>
            <a:ext cx="1993392" cy="26517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88936"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RADDR</a:t>
            </a:r>
          </a:p>
        </p:txBody>
      </p:sp>
      <p:sp>
        <p:nvSpPr>
          <p:cNvPr id="17" name="TextBox 16"/>
          <p:cNvSpPr txBox="1"/>
          <p:nvPr/>
        </p:nvSpPr>
        <p:spPr>
          <a:xfrm>
            <a:off x="7488936"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Sends the read address and waits for the subordinate to take it.</a:t>
            </a:r>
          </a:p>
        </p:txBody>
      </p:sp>
      <p:cxnSp>
        <p:nvCxnSpPr>
          <p:cNvPr id="18" name="Connector 17"/>
          <p:cNvCxnSpPr/>
          <p:nvPr/>
        </p:nvCxnSpPr>
        <p:spPr>
          <a:xfrm>
            <a:off x="9317736" y="2834640"/>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528048" y="1508760"/>
            <a:ext cx="1993392" cy="26517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10928"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RDATA</a:t>
            </a:r>
          </a:p>
        </p:txBody>
      </p:sp>
      <p:sp>
        <p:nvSpPr>
          <p:cNvPr id="21" name="TextBox 20"/>
          <p:cNvSpPr txBox="1"/>
          <p:nvPr/>
        </p:nvSpPr>
        <p:spPr>
          <a:xfrm>
            <a:off x="9710928"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Passes each beat to the host and finishes when RLAST arrives.</a:t>
            </a:r>
          </a:p>
        </p:txBody>
      </p:sp>
      <p:sp>
        <p:nvSpPr>
          <p:cNvPr id="22" name="Rounded Rectangle 21"/>
          <p:cNvSpPr/>
          <p:nvPr/>
        </p:nvSpPr>
        <p:spPr>
          <a:xfrm>
            <a:off x="640080" y="4434840"/>
            <a:ext cx="5349240"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4400" y="4572000"/>
            <a:ext cx="4846320" cy="365760"/>
          </a:xfrm>
          <a:prstGeom prst="rect">
            <a:avLst/>
          </a:prstGeom>
          <a:noFill/>
        </p:spPr>
        <p:txBody>
          <a:bodyPr wrap="square" lIns="0" rIns="0" tIns="0" bIns="0" anchor="t">
            <a:spAutoFit/>
          </a:bodyPr>
          <a:lstStyle/>
          <a:p>
            <a:pPr algn="l"/>
            <a:r>
              <a:rPr sz="1800" b="1" i="0">
                <a:solidFill>
                  <a:srgbClr val="1E2A3B"/>
                </a:solidFill>
                <a:latin typeface="Cambria"/>
              </a:rPr>
              <a:t>Registered description</a:t>
            </a:r>
          </a:p>
        </p:txBody>
      </p:sp>
      <p:sp>
        <p:nvSpPr>
          <p:cNvPr id="24" name="TextBox 23"/>
          <p:cNvSpPr txBox="1"/>
          <p:nvPr/>
        </p:nvSpPr>
        <p:spPr>
          <a:xfrm>
            <a:off x="914400" y="5029200"/>
            <a:ext cx="4846320" cy="1005840"/>
          </a:xfrm>
          <a:prstGeom prst="rect">
            <a:avLst/>
          </a:prstGeom>
          <a:noFill/>
        </p:spPr>
        <p:txBody>
          <a:bodyPr wrap="square" lIns="0" rIns="0" tIns="0" bIns="0" anchor="t">
            <a:spAutoFit/>
          </a:bodyPr>
          <a:lstStyle/>
          <a:p>
            <a:pPr algn="l"/>
            <a:r>
              <a:rPr sz="1500" b="0" i="0">
                <a:solidFill>
                  <a:srgbClr val="1E2A3B"/>
                </a:solidFill>
                <a:latin typeface="Calibri"/>
              </a:rPr>
              <a:t>The bus wires come from flip-flops loaded once. Your logic may change cmd_addr a cycle later without touching the burst in flight.</a:t>
            </a:r>
          </a:p>
        </p:txBody>
      </p:sp>
      <p:sp>
        <p:nvSpPr>
          <p:cNvPr id="25" name="Rounded Rectangle 24"/>
          <p:cNvSpPr/>
          <p:nvPr/>
        </p:nvSpPr>
        <p:spPr>
          <a:xfrm>
            <a:off x="6172200" y="4434840"/>
            <a:ext cx="5349240"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572000"/>
            <a:ext cx="4846320" cy="365760"/>
          </a:xfrm>
          <a:prstGeom prst="rect">
            <a:avLst/>
          </a:prstGeom>
          <a:noFill/>
        </p:spPr>
        <p:txBody>
          <a:bodyPr wrap="square" lIns="0" rIns="0" tIns="0" bIns="0" anchor="t">
            <a:spAutoFit/>
          </a:bodyPr>
          <a:lstStyle/>
          <a:p>
            <a:pPr algn="l"/>
            <a:r>
              <a:rPr sz="1800" b="1" i="0">
                <a:solidFill>
                  <a:srgbClr val="1E2A3B"/>
                </a:solidFill>
                <a:latin typeface="Cambria"/>
              </a:rPr>
              <a:t>WLAST made here</a:t>
            </a:r>
          </a:p>
        </p:txBody>
      </p:sp>
      <p:sp>
        <p:nvSpPr>
          <p:cNvPr id="27" name="TextBox 26"/>
          <p:cNvSpPr txBox="1"/>
          <p:nvPr/>
        </p:nvSpPr>
        <p:spPr>
          <a:xfrm>
            <a:off x="6446520" y="5029200"/>
            <a:ext cx="4846320" cy="1005840"/>
          </a:xfrm>
          <a:prstGeom prst="rect">
            <a:avLst/>
          </a:prstGeom>
          <a:noFill/>
        </p:spPr>
        <p:txBody>
          <a:bodyPr wrap="square" lIns="0" rIns="0" tIns="0" bIns="0" anchor="t">
            <a:spAutoFit/>
          </a:bodyPr>
          <a:lstStyle/>
          <a:p>
            <a:pPr algn="l"/>
            <a:r>
              <a:rPr sz="1500" b="0" i="0">
                <a:solidFill>
                  <a:srgbClr val="1E2A3B"/>
                </a:solidFill>
                <a:latin typeface="Calibri"/>
              </a:rPr>
              <a:t>The manager counts beats and raises WLAST itself, so your logic only streams data.</a:t>
            </a:r>
          </a:p>
        </p:txBody>
      </p:sp>
      <p:sp>
        <p:nvSpPr>
          <p:cNvPr id="28"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29"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subordinate</a:t>
            </a:r>
          </a:p>
        </p:txBody>
      </p:sp>
      <p:sp>
        <p:nvSpPr>
          <p:cNvPr id="3" name="Rounded Rectangle 2"/>
          <p:cNvSpPr/>
          <p:nvPr/>
        </p:nvSpPr>
        <p:spPr>
          <a:xfrm>
            <a:off x="640080" y="1417320"/>
            <a:ext cx="3493008" cy="466344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45920"/>
            <a:ext cx="2944368" cy="411480"/>
          </a:xfrm>
          <a:prstGeom prst="rect">
            <a:avLst/>
          </a:prstGeom>
          <a:noFill/>
        </p:spPr>
        <p:txBody>
          <a:bodyPr wrap="square" lIns="0" rIns="0" tIns="0" bIns="0" anchor="t">
            <a:spAutoFit/>
          </a:bodyPr>
          <a:lstStyle/>
          <a:p>
            <a:pPr algn="l"/>
            <a:r>
              <a:rPr sz="1900" b="1" i="0">
                <a:solidFill>
                  <a:srgbClr val="1E2A3B"/>
                </a:solidFill>
                <a:latin typeface="Cambria"/>
              </a:rPr>
              <a:t>Write engine</a:t>
            </a:r>
          </a:p>
        </p:txBody>
      </p:sp>
      <p:sp>
        <p:nvSpPr>
          <p:cNvPr id="5" name="TextBox 4"/>
          <p:cNvSpPr txBox="1"/>
          <p:nvPr/>
        </p:nvSpPr>
        <p:spPr>
          <a:xfrm>
            <a:off x="914400" y="2148840"/>
            <a:ext cx="2944368" cy="3749039"/>
          </a:xfrm>
          <a:prstGeom prst="rect">
            <a:avLst/>
          </a:prstGeom>
          <a:noFill/>
        </p:spPr>
        <p:txBody>
          <a:bodyPr wrap="square" lIns="0" rIns="0" tIns="0" bIns="0" anchor="t">
            <a:spAutoFit/>
          </a:bodyPr>
          <a:lstStyle/>
          <a:p>
            <a:pPr algn="l">
              <a:spcAft>
                <a:spcPts val="600"/>
              </a:spcAft>
            </a:pPr>
            <a:r>
              <a:rPr sz="1800" b="0" i="0">
                <a:solidFill>
                  <a:srgbClr val="1E2A3B"/>
                </a:solidFill>
                <a:latin typeface="Calibri"/>
              </a:rPr>
              <a:t>IDLE, DATA, RESP</a:t>
            </a:r>
          </a:p>
          <a:p>
            <a:pPr algn="l">
              <a:spcAft>
                <a:spcPts val="600"/>
              </a:spcAft>
            </a:pPr>
            <a:r>
              <a:rPr sz="1800" b="0" i="0">
                <a:solidFill>
                  <a:srgbClr val="1E2A3B"/>
                </a:solidFill>
                <a:latin typeface="Calibri"/>
              </a:rPr>
              <a:t>Takes the address, then raises WREADY</a:t>
            </a:r>
          </a:p>
          <a:p>
            <a:pPr algn="l">
              <a:spcAft>
                <a:spcPts val="600"/>
              </a:spcAft>
            </a:pPr>
            <a:r>
              <a:rPr sz="1800" b="0" i="0">
                <a:solidFill>
                  <a:srgbClr val="1E2A3B"/>
                </a:solidFill>
                <a:latin typeface="Calibri"/>
              </a:rPr>
              <a:t>Applies WSTRB byte by byte</a:t>
            </a:r>
          </a:p>
          <a:p>
            <a:pPr algn="l">
              <a:spcAft>
                <a:spcPts val="600"/>
              </a:spcAft>
            </a:pPr>
            <a:r>
              <a:rPr sz="1800" b="0" i="0">
                <a:solidFill>
                  <a:srgbClr val="1E2A3B"/>
                </a:solidFill>
                <a:latin typeface="Calibri"/>
              </a:rPr>
              <a:t>Steps the address per beat</a:t>
            </a:r>
          </a:p>
          <a:p>
            <a:pPr algn="l">
              <a:spcAft>
                <a:spcPts val="600"/>
              </a:spcAft>
            </a:pPr>
            <a:r>
              <a:rPr sz="1800" b="0" i="0">
                <a:solidFill>
                  <a:srgbClr val="1E2A3B"/>
                </a:solidFill>
                <a:latin typeface="Calibri"/>
              </a:rPr>
              <a:t>One B response per burst, BID copied from AWID</a:t>
            </a:r>
          </a:p>
        </p:txBody>
      </p:sp>
      <p:sp>
        <p:nvSpPr>
          <p:cNvPr id="6" name="Rounded Rectangle 5"/>
          <p:cNvSpPr/>
          <p:nvPr/>
        </p:nvSpPr>
        <p:spPr>
          <a:xfrm>
            <a:off x="4334256" y="1417320"/>
            <a:ext cx="3493008" cy="466344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608576" y="1645920"/>
            <a:ext cx="2944368" cy="411480"/>
          </a:xfrm>
          <a:prstGeom prst="rect">
            <a:avLst/>
          </a:prstGeom>
          <a:noFill/>
        </p:spPr>
        <p:txBody>
          <a:bodyPr wrap="square" lIns="0" rIns="0" tIns="0" bIns="0" anchor="t">
            <a:spAutoFit/>
          </a:bodyPr>
          <a:lstStyle/>
          <a:p>
            <a:pPr algn="l"/>
            <a:r>
              <a:rPr sz="1900" b="1" i="0">
                <a:solidFill>
                  <a:srgbClr val="1E2A3B"/>
                </a:solidFill>
                <a:latin typeface="Cambria"/>
              </a:rPr>
              <a:t>Read engine</a:t>
            </a:r>
          </a:p>
        </p:txBody>
      </p:sp>
      <p:sp>
        <p:nvSpPr>
          <p:cNvPr id="8" name="TextBox 7"/>
          <p:cNvSpPr txBox="1"/>
          <p:nvPr/>
        </p:nvSpPr>
        <p:spPr>
          <a:xfrm>
            <a:off x="4608576" y="2148840"/>
            <a:ext cx="2944368" cy="3749039"/>
          </a:xfrm>
          <a:prstGeom prst="rect">
            <a:avLst/>
          </a:prstGeom>
          <a:noFill/>
        </p:spPr>
        <p:txBody>
          <a:bodyPr wrap="square" lIns="0" rIns="0" tIns="0" bIns="0" anchor="t">
            <a:spAutoFit/>
          </a:bodyPr>
          <a:lstStyle/>
          <a:p>
            <a:pPr algn="l">
              <a:spcAft>
                <a:spcPts val="600"/>
              </a:spcAft>
            </a:pPr>
            <a:r>
              <a:rPr sz="1800" b="0" i="0">
                <a:solidFill>
                  <a:srgbClr val="1E2A3B"/>
                </a:solidFill>
                <a:latin typeface="Calibri"/>
              </a:rPr>
              <a:t>IDLE, DATA</a:t>
            </a:r>
          </a:p>
          <a:p>
            <a:pPr algn="l">
              <a:spcAft>
                <a:spcPts val="600"/>
              </a:spcAft>
            </a:pPr>
            <a:r>
              <a:rPr sz="1800" b="0" i="0">
                <a:solidFill>
                  <a:srgbClr val="1E2A3B"/>
                </a:solidFill>
                <a:latin typeface="Calibri"/>
              </a:rPr>
              <a:t>First word fetched on the AR handshake</a:t>
            </a:r>
          </a:p>
          <a:p>
            <a:pPr algn="l">
              <a:spcAft>
                <a:spcPts val="600"/>
              </a:spcAft>
            </a:pPr>
            <a:r>
              <a:rPr sz="1800" b="0" i="0">
                <a:solidFill>
                  <a:srgbClr val="1E2A3B"/>
                </a:solidFill>
                <a:latin typeface="Calibri"/>
              </a:rPr>
              <a:t>Next word fetched on each R handshake</a:t>
            </a:r>
          </a:p>
          <a:p>
            <a:pPr algn="l">
              <a:spcAft>
                <a:spcPts val="600"/>
              </a:spcAft>
            </a:pPr>
            <a:r>
              <a:rPr sz="1800" b="0" i="0">
                <a:solidFill>
                  <a:srgbClr val="1E2A3B"/>
                </a:solidFill>
                <a:latin typeface="Calibri"/>
              </a:rPr>
              <a:t>One beat per clock, no gaps</a:t>
            </a:r>
          </a:p>
          <a:p>
            <a:pPr algn="l">
              <a:spcAft>
                <a:spcPts val="600"/>
              </a:spcAft>
            </a:pPr>
            <a:r>
              <a:rPr sz="1800" b="0" i="0">
                <a:solidFill>
                  <a:srgbClr val="1E2A3B"/>
                </a:solidFill>
                <a:latin typeface="Calibri"/>
              </a:rPr>
              <a:t>RLAST on the final beat</a:t>
            </a:r>
          </a:p>
        </p:txBody>
      </p:sp>
      <p:sp>
        <p:nvSpPr>
          <p:cNvPr id="9" name="Rounded Rectangle 8"/>
          <p:cNvSpPr/>
          <p:nvPr/>
        </p:nvSpPr>
        <p:spPr>
          <a:xfrm>
            <a:off x="8028431" y="1417320"/>
            <a:ext cx="3493008" cy="4663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02752" y="1645920"/>
            <a:ext cx="2926080" cy="411480"/>
          </a:xfrm>
          <a:prstGeom prst="rect">
            <a:avLst/>
          </a:prstGeom>
          <a:noFill/>
        </p:spPr>
        <p:txBody>
          <a:bodyPr wrap="square" lIns="0" rIns="0" tIns="0" bIns="0" anchor="t">
            <a:spAutoFit/>
          </a:bodyPr>
          <a:lstStyle/>
          <a:p>
            <a:pPr algn="l"/>
            <a:r>
              <a:rPr sz="1900" b="1" i="0">
                <a:solidFill>
                  <a:srgbClr val="1E2A3B"/>
                </a:solidFill>
                <a:latin typeface="Cambria"/>
              </a:rPr>
              <a:t>Responses</a:t>
            </a:r>
          </a:p>
        </p:txBody>
      </p:sp>
      <p:sp>
        <p:nvSpPr>
          <p:cNvPr id="11" name="TextBox 10"/>
          <p:cNvSpPr txBox="1"/>
          <p:nvPr/>
        </p:nvSpPr>
        <p:spPr>
          <a:xfrm>
            <a:off x="8302752" y="2194560"/>
            <a:ext cx="2971800" cy="3749039"/>
          </a:xfrm>
          <a:prstGeom prst="rect">
            <a:avLst/>
          </a:prstGeom>
          <a:noFill/>
        </p:spPr>
        <p:txBody>
          <a:bodyPr wrap="square" lIns="0" rIns="0" tIns="0" bIns="0" anchor="t">
            <a:spAutoFit/>
          </a:bodyPr>
          <a:lstStyle/>
          <a:p>
            <a:pPr algn="l">
              <a:spcAft>
                <a:spcPts val="400"/>
              </a:spcAft>
            </a:pPr>
            <a:r>
              <a:rPr sz="1500" b="1" i="0">
                <a:solidFill>
                  <a:srgbClr val="8F5C00"/>
                </a:solidFill>
                <a:latin typeface="Consolas"/>
              </a:rPr>
              <a:t>OKAY on every transfer</a:t>
            </a:r>
          </a:p>
          <a:p>
            <a:pPr algn="l">
              <a:spcAft>
                <a:spcPts val="1200"/>
              </a:spcAft>
            </a:pPr>
            <a:r>
              <a:rPr sz="1600" b="0" i="0">
                <a:solidFill>
                  <a:srgbClr val="1E2A3B"/>
                </a:solidFill>
                <a:latin typeface="Calibri"/>
              </a:rPr>
              <a:t>BRESP and RRESP are tied to 00.</a:t>
            </a:r>
          </a:p>
          <a:p>
            <a:pPr algn="l">
              <a:spcAft>
                <a:spcPts val="400"/>
              </a:spcAft>
            </a:pPr>
            <a:r>
              <a:rPr sz="1500" b="1" i="0">
                <a:solidFill>
                  <a:srgbClr val="8F5C00"/>
                </a:solidFill>
                <a:latin typeface="Consolas"/>
              </a:rPr>
              <a:t>No request checking</a:t>
            </a:r>
          </a:p>
          <a:p>
            <a:pPr algn="l">
              <a:spcAft>
                <a:spcPts val="0"/>
              </a:spcAft>
            </a:pPr>
            <a:r>
              <a:rPr sz="1600" b="0" i="0">
                <a:solidFill>
                  <a:srgbClr val="1E2A3B"/>
                </a:solidFill>
                <a:latin typeface="Calibri"/>
              </a:rPr>
              <a:t>A write ends on WLAST. A read ends after ARLEN + 1 beats. An address beyond the memory wraps inside it.</a:t>
            </a:r>
          </a:p>
        </p:txBody>
      </p:sp>
      <p:sp>
        <p:nvSpPr>
          <p:cNvPr id="12"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13"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One write, end to end</a:t>
            </a:r>
          </a:p>
        </p:txBody>
      </p:sp>
      <p:sp>
        <p:nvSpPr>
          <p:cNvPr id="3" name="TextBox 2"/>
          <p:cNvSpPr txBox="1"/>
          <p:nvPr/>
        </p:nvSpPr>
        <p:spPr>
          <a:xfrm>
            <a:off x="640080" y="1280160"/>
            <a:ext cx="10881360" cy="457200"/>
          </a:xfrm>
          <a:prstGeom prst="rect">
            <a:avLst/>
          </a:prstGeom>
          <a:noFill/>
        </p:spPr>
        <p:txBody>
          <a:bodyPr wrap="square" lIns="0" rIns="0" tIns="0" bIns="0" anchor="t">
            <a:spAutoFit/>
          </a:bodyPr>
          <a:lstStyle/>
          <a:p>
            <a:pPr algn="l"/>
            <a:r>
              <a:rPr sz="2000" b="0" i="0">
                <a:solidFill>
                  <a:srgbClr val="4F5F74"/>
                </a:solidFill>
                <a:latin typeface="Calibri"/>
              </a:rPr>
              <a:t>Writing four words to address 0x10.</a:t>
            </a:r>
          </a:p>
        </p:txBody>
      </p:sp>
      <p:sp>
        <p:nvSpPr>
          <p:cNvPr id="4" name="Rounded Rectangle 3"/>
          <p:cNvSpPr/>
          <p:nvPr/>
        </p:nvSpPr>
        <p:spPr>
          <a:xfrm>
            <a:off x="640080" y="2057400"/>
            <a:ext cx="1993392" cy="33832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59"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1  Host</a:t>
            </a:r>
          </a:p>
        </p:txBody>
      </p:sp>
      <p:sp>
        <p:nvSpPr>
          <p:cNvPr id="6" name="TextBox 5"/>
          <p:cNvSpPr txBox="1"/>
          <p:nvPr/>
        </p:nvSpPr>
        <p:spPr>
          <a:xfrm>
            <a:off x="822959"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Pulses cmd_start_write with cmd_addr = 0x10 and cmd_len = 3, then streams four words.</a:t>
            </a:r>
          </a:p>
        </p:txBody>
      </p:sp>
      <p:cxnSp>
        <p:nvCxnSpPr>
          <p:cNvPr id="7" name="Connector 6"/>
          <p:cNvCxnSpPr/>
          <p:nvPr/>
        </p:nvCxnSpPr>
        <p:spPr>
          <a:xfrm>
            <a:off x="2651760" y="3749039"/>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62072" y="2057400"/>
            <a:ext cx="1993392" cy="33832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44952"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2  Master</a:t>
            </a:r>
          </a:p>
        </p:txBody>
      </p:sp>
      <p:sp>
        <p:nvSpPr>
          <p:cNvPr id="10" name="TextBox 9"/>
          <p:cNvSpPr txBox="1"/>
          <p:nvPr/>
        </p:nvSpPr>
        <p:spPr>
          <a:xfrm>
            <a:off x="3044952"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Copies the description, sends AW, and sends the four beats on W with WLAST on the fourth.</a:t>
            </a:r>
          </a:p>
        </p:txBody>
      </p:sp>
      <p:cxnSp>
        <p:nvCxnSpPr>
          <p:cNvPr id="11" name="Connector 10"/>
          <p:cNvCxnSpPr/>
          <p:nvPr/>
        </p:nvCxnSpPr>
        <p:spPr>
          <a:xfrm>
            <a:off x="4873752" y="3749039"/>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84064" y="2057400"/>
            <a:ext cx="1993392" cy="338328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266944"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3  Subordinate</a:t>
            </a:r>
          </a:p>
        </p:txBody>
      </p:sp>
      <p:sp>
        <p:nvSpPr>
          <p:cNvPr id="14" name="TextBox 13"/>
          <p:cNvSpPr txBox="1"/>
          <p:nvPr/>
        </p:nvSpPr>
        <p:spPr>
          <a:xfrm>
            <a:off x="5266944"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Takes the address first, then raises WREADY and writes each word into memory.</a:t>
            </a:r>
          </a:p>
        </p:txBody>
      </p:sp>
      <p:cxnSp>
        <p:nvCxnSpPr>
          <p:cNvPr id="15" name="Connector 14"/>
          <p:cNvCxnSpPr/>
          <p:nvPr/>
        </p:nvCxnSpPr>
        <p:spPr>
          <a:xfrm>
            <a:off x="7095744" y="3749039"/>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06056" y="2057400"/>
            <a:ext cx="1993392" cy="338328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88936"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4  Response</a:t>
            </a:r>
          </a:p>
        </p:txBody>
      </p:sp>
      <p:sp>
        <p:nvSpPr>
          <p:cNvPr id="18" name="TextBox 17"/>
          <p:cNvSpPr txBox="1"/>
          <p:nvPr/>
        </p:nvSpPr>
        <p:spPr>
          <a:xfrm>
            <a:off x="7488936"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After WLAST it sends one B response: OKAY, with BID copied from AWID.</a:t>
            </a:r>
          </a:p>
        </p:txBody>
      </p:sp>
      <p:cxnSp>
        <p:nvCxnSpPr>
          <p:cNvPr id="19" name="Connector 18"/>
          <p:cNvCxnSpPr/>
          <p:nvPr/>
        </p:nvCxnSpPr>
        <p:spPr>
          <a:xfrm>
            <a:off x="9317736" y="3749039"/>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528048" y="2057400"/>
            <a:ext cx="1993392" cy="338328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10928"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5  Done</a:t>
            </a:r>
          </a:p>
        </p:txBody>
      </p:sp>
      <p:sp>
        <p:nvSpPr>
          <p:cNvPr id="22" name="TextBox 21"/>
          <p:cNvSpPr txBox="1"/>
          <p:nvPr/>
        </p:nvSpPr>
        <p:spPr>
          <a:xfrm>
            <a:off x="9710928"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The master takes the response and pulses cmd_done. The burst kept it busy for 6 cycles.</a:t>
            </a:r>
          </a:p>
        </p:txBody>
      </p:sp>
      <p:sp>
        <p:nvSpPr>
          <p:cNvPr id="23" name="TextBox 22"/>
          <p:cNvSpPr txBox="1"/>
          <p:nvPr/>
        </p:nvSpPr>
        <p:spPr>
          <a:xfrm>
            <a:off x="640080" y="5760720"/>
            <a:ext cx="10881360" cy="457200"/>
          </a:xfrm>
          <a:prstGeom prst="rect">
            <a:avLst/>
          </a:prstGeom>
          <a:noFill/>
        </p:spPr>
        <p:txBody>
          <a:bodyPr wrap="square" lIns="0" rIns="0" tIns="0" bIns="0" anchor="t">
            <a:spAutoFit/>
          </a:bodyPr>
          <a:lstStyle/>
          <a:p>
            <a:pPr algn="l"/>
            <a:r>
              <a:rPr sz="1600" b="0" i="1">
                <a:solidFill>
                  <a:srgbClr val="4F5F74"/>
                </a:solidFill>
                <a:latin typeface="Calibri"/>
              </a:rPr>
              <a:t>The waveforms on the next two slides show the same write and the matching read.</a:t>
            </a:r>
          </a:p>
        </p:txBody>
      </p:sp>
      <p:sp>
        <p:nvSpPr>
          <p:cNvPr id="24"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25"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A 4-beat write, recorded from the simulation</a:t>
            </a:r>
          </a:p>
        </p:txBody>
      </p:sp>
      <p:pic>
        <p:nvPicPr>
          <p:cNvPr id="3" name="Picture 2" descr="Waveform of a 4-beat write on the bare design."/>
          <p:cNvPicPr>
            <a:picLocks noChangeAspect="1"/>
          </p:cNvPicPr>
          <p:nvPr/>
        </p:nvPicPr>
        <p:blipFill>
          <a:blip r:embed="rId3"/>
          <a:stretch>
            <a:fillRect/>
          </a:stretch>
        </p:blipFill>
        <p:spPr>
          <a:xfrm>
            <a:off x="640080" y="1371600"/>
            <a:ext cx="7680960" cy="4593992"/>
          </a:xfrm>
          <a:prstGeom prst="rect">
            <a:avLst/>
          </a:prstGeom>
        </p:spPr>
      </p:pic>
      <p:sp>
        <p:nvSpPr>
          <p:cNvPr id="4" name="TextBox 3"/>
          <p:cNvSpPr txBox="1"/>
          <p:nvPr/>
        </p:nvSpPr>
        <p:spPr>
          <a:xfrm>
            <a:off x="8503920" y="1417320"/>
            <a:ext cx="3063240" cy="4754880"/>
          </a:xfrm>
          <a:prstGeom prst="rect">
            <a:avLst/>
          </a:prstGeom>
          <a:noFill/>
        </p:spPr>
        <p:txBody>
          <a:bodyPr wrap="square" lIns="0" rIns="0" tIns="0" bIns="0" anchor="t">
            <a:spAutoFit/>
          </a:bodyPr>
          <a:lstStyle/>
          <a:p>
            <a:pPr algn="l">
              <a:spcAft>
                <a:spcPts val="800"/>
              </a:spcAft>
            </a:pPr>
            <a:r>
              <a:rPr sz="1900" b="1" i="0">
                <a:solidFill>
                  <a:srgbClr val="1E2A3B"/>
                </a:solidFill>
                <a:latin typeface="Cambria"/>
              </a:rPr>
              <a:t>How to read it</a:t>
            </a:r>
          </a:p>
          <a:p>
            <a:pPr algn="l">
              <a:spcAft>
                <a:spcPts val="800"/>
              </a:spcAft>
            </a:pPr>
            <a:r>
              <a:rPr sz="1500" b="0" i="0">
                <a:solidFill>
                  <a:srgbClr val="1E2A3B"/>
                </a:solidFill>
                <a:latin typeface="Calibri"/>
              </a:rPr>
              <a:t>Amber dots are handshakes.</a:t>
            </a:r>
          </a:p>
          <a:p>
            <a:pPr algn="l">
              <a:spcAft>
                <a:spcPts val="800"/>
              </a:spcAft>
            </a:pPr>
            <a:r>
              <a:rPr sz="1500" b="0" i="0">
                <a:solidFill>
                  <a:srgbClr val="1E2A3B"/>
                </a:solidFill>
                <a:latin typeface="Calibri"/>
              </a:rPr>
              <a:t>WREADY stays low in cycle 1: the subordinate takes the address first.</a:t>
            </a:r>
          </a:p>
          <a:p>
            <a:pPr algn="l">
              <a:spcAft>
                <a:spcPts val="800"/>
              </a:spcAft>
            </a:pPr>
            <a:r>
              <a:rPr sz="1500" b="0" i="0">
                <a:solidFill>
                  <a:srgbClr val="1E2A3B"/>
                </a:solidFill>
                <a:latin typeface="Calibri"/>
              </a:rPr>
              <a:t>Four beats at cycles 2 to 5, WLAST on the fourth.</a:t>
            </a:r>
          </a:p>
          <a:p>
            <a:pPr algn="l">
              <a:spcAft>
                <a:spcPts val="0"/>
              </a:spcAft>
            </a:pPr>
            <a:r>
              <a:rPr sz="1500" b="0" i="0">
                <a:solidFill>
                  <a:srgbClr val="1E2A3B"/>
                </a:solidFill>
                <a:latin typeface="Calibri"/>
              </a:rPr>
              <a:t>One response at cycle 6, cmd_done at 7. Busy for 6 cycles.</a:t>
            </a:r>
          </a:p>
        </p:txBody>
      </p:sp>
      <p:sp>
        <p:nvSpPr>
          <p:cNvPr id="5"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6"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A 4-beat read, recorded from the simulation</a:t>
            </a:r>
          </a:p>
        </p:txBody>
      </p:sp>
      <p:pic>
        <p:nvPicPr>
          <p:cNvPr id="3" name="Picture 2" descr="Waveform of a 4-beat read on the bare design."/>
          <p:cNvPicPr>
            <a:picLocks noChangeAspect="1"/>
          </p:cNvPicPr>
          <p:nvPr/>
        </p:nvPicPr>
        <p:blipFill>
          <a:blip r:embed="rId3"/>
          <a:stretch>
            <a:fillRect/>
          </a:stretch>
        </p:blipFill>
        <p:spPr>
          <a:xfrm>
            <a:off x="640080" y="1828800"/>
            <a:ext cx="7589520" cy="4108809"/>
          </a:xfrm>
          <a:prstGeom prst="rect">
            <a:avLst/>
          </a:prstGeom>
        </p:spPr>
      </p:pic>
      <p:sp>
        <p:nvSpPr>
          <p:cNvPr id="4" name="TextBox 3"/>
          <p:cNvSpPr txBox="1"/>
          <p:nvPr/>
        </p:nvSpPr>
        <p:spPr>
          <a:xfrm>
            <a:off x="8503920" y="1828800"/>
            <a:ext cx="3063240" cy="3657600"/>
          </a:xfrm>
          <a:prstGeom prst="rect">
            <a:avLst/>
          </a:prstGeom>
          <a:noFill/>
        </p:spPr>
        <p:txBody>
          <a:bodyPr wrap="square" lIns="0" rIns="0" tIns="0" bIns="0" anchor="t">
            <a:spAutoFit/>
          </a:bodyPr>
          <a:lstStyle/>
          <a:p>
            <a:pPr algn="l">
              <a:spcAft>
                <a:spcPts val="800"/>
              </a:spcAft>
            </a:pPr>
            <a:r>
              <a:rPr sz="1900" b="1" i="0">
                <a:solidFill>
                  <a:srgbClr val="1E2A3B"/>
                </a:solidFill>
                <a:latin typeface="Cambria"/>
              </a:rPr>
              <a:t>How to read it</a:t>
            </a:r>
          </a:p>
          <a:p>
            <a:pPr algn="l">
              <a:spcAft>
                <a:spcPts val="800"/>
              </a:spcAft>
            </a:pPr>
            <a:r>
              <a:rPr sz="1500" b="0" i="0">
                <a:solidFill>
                  <a:srgbClr val="1E2A3B"/>
                </a:solidFill>
                <a:latin typeface="Calibri"/>
              </a:rPr>
              <a:t>One address at cycle 1.</a:t>
            </a:r>
          </a:p>
          <a:p>
            <a:pPr algn="l">
              <a:spcAft>
                <a:spcPts val="800"/>
              </a:spcAft>
            </a:pPr>
            <a:r>
              <a:rPr sz="1500" b="0" i="0">
                <a:solidFill>
                  <a:srgbClr val="1E2A3B"/>
                </a:solidFill>
                <a:latin typeface="Calibri"/>
              </a:rPr>
              <a:t>Four beats at cycles 2 to 5, one per clock, no gaps.</a:t>
            </a:r>
          </a:p>
          <a:p>
            <a:pPr algn="l">
              <a:spcAft>
                <a:spcPts val="0"/>
              </a:spcAft>
            </a:pPr>
            <a:r>
              <a:rPr sz="1500" b="0" i="0">
                <a:solidFill>
                  <a:srgbClr val="1E2A3B"/>
                </a:solidFill>
                <a:latin typeface="Calibri"/>
              </a:rPr>
              <a:t>RLAST rides on the fourth beat. cmd_done at 6. Busy for 5 cycles.</a:t>
            </a:r>
          </a:p>
        </p:txBody>
      </p:sp>
      <p:sp>
        <p:nvSpPr>
          <p:cNvPr id="5"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6"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How it was verified</a:t>
            </a:r>
          </a:p>
        </p:txBody>
      </p:sp>
      <p:sp>
        <p:nvSpPr>
          <p:cNvPr id="3" name="Rounded Rectangle 2"/>
          <p:cNvSpPr/>
          <p:nvPr/>
        </p:nvSpPr>
        <p:spPr>
          <a:xfrm>
            <a:off x="640080" y="1417320"/>
            <a:ext cx="3493008" cy="40233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00200"/>
            <a:ext cx="2926080" cy="320040"/>
          </a:xfrm>
          <a:prstGeom prst="rect">
            <a:avLst/>
          </a:prstGeom>
          <a:noFill/>
        </p:spPr>
        <p:txBody>
          <a:bodyPr wrap="square" lIns="0" rIns="0" tIns="0" bIns="0" anchor="t">
            <a:spAutoFit/>
          </a:bodyPr>
          <a:lstStyle/>
          <a:p>
            <a:pPr algn="l"/>
            <a:r>
              <a:rPr sz="1300" b="1" i="0">
                <a:solidFill>
                  <a:srgbClr val="4F5F74"/>
                </a:solidFill>
                <a:latin typeface="Calibri"/>
              </a:rPr>
              <a:t>LEVEL 1</a:t>
            </a:r>
          </a:p>
        </p:txBody>
      </p:sp>
      <p:sp>
        <p:nvSpPr>
          <p:cNvPr id="5" name="TextBox 4"/>
          <p:cNvSpPr txBox="1"/>
          <p:nvPr/>
        </p:nvSpPr>
        <p:spPr>
          <a:xfrm>
            <a:off x="914400" y="1920240"/>
            <a:ext cx="2926080" cy="457200"/>
          </a:xfrm>
          <a:prstGeom prst="rect">
            <a:avLst/>
          </a:prstGeom>
          <a:noFill/>
        </p:spPr>
        <p:txBody>
          <a:bodyPr wrap="square" lIns="0" rIns="0" tIns="0" bIns="0" anchor="t">
            <a:spAutoFit/>
          </a:bodyPr>
          <a:lstStyle/>
          <a:p>
            <a:pPr algn="l"/>
            <a:r>
              <a:rPr sz="1900" b="1" i="0">
                <a:solidFill>
                  <a:srgbClr val="1E2A3B"/>
                </a:solidFill>
                <a:latin typeface="Cambria"/>
              </a:rPr>
              <a:t>Subordinate alone</a:t>
            </a:r>
          </a:p>
        </p:txBody>
      </p:sp>
      <p:sp>
        <p:nvSpPr>
          <p:cNvPr id="6" name="TextBox 5"/>
          <p:cNvSpPr txBox="1"/>
          <p:nvPr/>
        </p:nvSpPr>
        <p:spPr>
          <a:xfrm>
            <a:off x="914400" y="2514600"/>
            <a:ext cx="2926080" cy="822960"/>
          </a:xfrm>
          <a:prstGeom prst="rect">
            <a:avLst/>
          </a:prstGeom>
          <a:noFill/>
        </p:spPr>
        <p:txBody>
          <a:bodyPr wrap="square" lIns="0" rIns="0" tIns="0" bIns="0" anchor="t">
            <a:spAutoFit/>
          </a:bodyPr>
          <a:lstStyle/>
          <a:p>
            <a:pPr algn="l"/>
            <a:r>
              <a:rPr sz="4400" b="1" i="0">
                <a:solidFill>
                  <a:srgbClr val="1E2A3B"/>
                </a:solidFill>
                <a:latin typeface="Cambria"/>
              </a:rPr>
              <a:t>38</a:t>
            </a:r>
          </a:p>
        </p:txBody>
      </p:sp>
      <p:sp>
        <p:nvSpPr>
          <p:cNvPr id="7" name="TextBox 6"/>
          <p:cNvSpPr txBox="1"/>
          <p:nvPr/>
        </p:nvSpPr>
        <p:spPr>
          <a:xfrm>
            <a:off x="914400" y="3383280"/>
            <a:ext cx="2926080" cy="274320"/>
          </a:xfrm>
          <a:prstGeom prst="rect">
            <a:avLst/>
          </a:prstGeom>
          <a:noFill/>
        </p:spPr>
        <p:txBody>
          <a:bodyPr wrap="square" lIns="0" rIns="0" tIns="0" bIns="0" anchor="t">
            <a:spAutoFit/>
          </a:bodyPr>
          <a:lstStyle/>
          <a:p>
            <a:pPr algn="l"/>
            <a:r>
              <a:rPr sz="1300" b="0" i="0">
                <a:solidFill>
                  <a:srgbClr val="4F5F74"/>
                </a:solidFill>
                <a:latin typeface="Calibri"/>
              </a:rPr>
              <a:t>checks</a:t>
            </a:r>
          </a:p>
        </p:txBody>
      </p:sp>
      <p:sp>
        <p:nvSpPr>
          <p:cNvPr id="8" name="TextBox 7"/>
          <p:cNvSpPr txBox="1"/>
          <p:nvPr/>
        </p:nvSpPr>
        <p:spPr>
          <a:xfrm>
            <a:off x="914400" y="3794760"/>
            <a:ext cx="2971800" cy="1554480"/>
          </a:xfrm>
          <a:prstGeom prst="rect">
            <a:avLst/>
          </a:prstGeom>
          <a:noFill/>
        </p:spPr>
        <p:txBody>
          <a:bodyPr wrap="square" lIns="0" rIns="0" tIns="0" bIns="0" anchor="t">
            <a:spAutoFit/>
          </a:bodyPr>
          <a:lstStyle/>
          <a:p>
            <a:pPr algn="l"/>
            <a:r>
              <a:rPr sz="1400" b="0" i="0">
                <a:solidFill>
                  <a:srgbClr val="1E2A3B"/>
                </a:solidFill>
                <a:latin typeface="Calibri"/>
              </a:rPr>
              <a:t>Testbench plays the manager: AW before W, stalled responses, WRAP, FIXED, INCR, byte strobes, ID echo, narrow 1-byte beats.</a:t>
            </a:r>
          </a:p>
        </p:txBody>
      </p:sp>
      <p:sp>
        <p:nvSpPr>
          <p:cNvPr id="9" name="Rounded Rectangle 8"/>
          <p:cNvSpPr/>
          <p:nvPr/>
        </p:nvSpPr>
        <p:spPr>
          <a:xfrm>
            <a:off x="4334256" y="1417320"/>
            <a:ext cx="3493008" cy="40233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08576" y="1600200"/>
            <a:ext cx="2926080" cy="320040"/>
          </a:xfrm>
          <a:prstGeom prst="rect">
            <a:avLst/>
          </a:prstGeom>
          <a:noFill/>
        </p:spPr>
        <p:txBody>
          <a:bodyPr wrap="square" lIns="0" rIns="0" tIns="0" bIns="0" anchor="t">
            <a:spAutoFit/>
          </a:bodyPr>
          <a:lstStyle/>
          <a:p>
            <a:pPr algn="l"/>
            <a:r>
              <a:rPr sz="1300" b="1" i="0">
                <a:solidFill>
                  <a:srgbClr val="4F5F74"/>
                </a:solidFill>
                <a:latin typeface="Calibri"/>
              </a:rPr>
              <a:t>LEVEL 2</a:t>
            </a:r>
          </a:p>
        </p:txBody>
      </p:sp>
      <p:sp>
        <p:nvSpPr>
          <p:cNvPr id="11" name="TextBox 10"/>
          <p:cNvSpPr txBox="1"/>
          <p:nvPr/>
        </p:nvSpPr>
        <p:spPr>
          <a:xfrm>
            <a:off x="4608576" y="1920240"/>
            <a:ext cx="2926080" cy="457200"/>
          </a:xfrm>
          <a:prstGeom prst="rect">
            <a:avLst/>
          </a:prstGeom>
          <a:noFill/>
        </p:spPr>
        <p:txBody>
          <a:bodyPr wrap="square" lIns="0" rIns="0" tIns="0" bIns="0" anchor="t">
            <a:spAutoFit/>
          </a:bodyPr>
          <a:lstStyle/>
          <a:p>
            <a:pPr algn="l"/>
            <a:r>
              <a:rPr sz="1900" b="1" i="0">
                <a:solidFill>
                  <a:srgbClr val="1E2A3B"/>
                </a:solidFill>
                <a:latin typeface="Cambria"/>
              </a:rPr>
              <a:t>Manager and mock subordinate</a:t>
            </a:r>
          </a:p>
        </p:txBody>
      </p:sp>
      <p:sp>
        <p:nvSpPr>
          <p:cNvPr id="12" name="TextBox 11"/>
          <p:cNvSpPr txBox="1"/>
          <p:nvPr/>
        </p:nvSpPr>
        <p:spPr>
          <a:xfrm>
            <a:off x="4608576" y="2514600"/>
            <a:ext cx="2926080" cy="822960"/>
          </a:xfrm>
          <a:prstGeom prst="rect">
            <a:avLst/>
          </a:prstGeom>
          <a:noFill/>
        </p:spPr>
        <p:txBody>
          <a:bodyPr wrap="square" lIns="0" rIns="0" tIns="0" bIns="0" anchor="t">
            <a:spAutoFit/>
          </a:bodyPr>
          <a:lstStyle/>
          <a:p>
            <a:pPr algn="l"/>
            <a:r>
              <a:rPr sz="4400" b="1" i="0">
                <a:solidFill>
                  <a:srgbClr val="1E2A3B"/>
                </a:solidFill>
                <a:latin typeface="Cambria"/>
              </a:rPr>
              <a:t>46</a:t>
            </a:r>
          </a:p>
        </p:txBody>
      </p:sp>
      <p:sp>
        <p:nvSpPr>
          <p:cNvPr id="13" name="TextBox 12"/>
          <p:cNvSpPr txBox="1"/>
          <p:nvPr/>
        </p:nvSpPr>
        <p:spPr>
          <a:xfrm>
            <a:off x="4608576" y="3383280"/>
            <a:ext cx="2926080" cy="274320"/>
          </a:xfrm>
          <a:prstGeom prst="rect">
            <a:avLst/>
          </a:prstGeom>
          <a:noFill/>
        </p:spPr>
        <p:txBody>
          <a:bodyPr wrap="square" lIns="0" rIns="0" tIns="0" bIns="0" anchor="t">
            <a:spAutoFit/>
          </a:bodyPr>
          <a:lstStyle/>
          <a:p>
            <a:pPr algn="l"/>
            <a:r>
              <a:rPr sz="1300" b="0" i="0">
                <a:solidFill>
                  <a:srgbClr val="4F5F74"/>
                </a:solidFill>
                <a:latin typeface="Calibri"/>
              </a:rPr>
              <a:t>checks</a:t>
            </a:r>
          </a:p>
        </p:txBody>
      </p:sp>
      <p:sp>
        <p:nvSpPr>
          <p:cNvPr id="14" name="TextBox 13"/>
          <p:cNvSpPr txBox="1"/>
          <p:nvPr/>
        </p:nvSpPr>
        <p:spPr>
          <a:xfrm>
            <a:off x="4608576" y="3794760"/>
            <a:ext cx="2971800" cy="1554480"/>
          </a:xfrm>
          <a:prstGeom prst="rect">
            <a:avLst/>
          </a:prstGeom>
          <a:noFill/>
        </p:spPr>
        <p:txBody>
          <a:bodyPr wrap="square" lIns="0" rIns="0" tIns="0" bIns="0" anchor="t">
            <a:spAutoFit/>
          </a:bodyPr>
          <a:lstStyle/>
          <a:p>
            <a:pPr algn="l"/>
            <a:r>
              <a:rPr sz="1400" b="0" i="0">
                <a:solidFill>
                  <a:srgbClr val="1E2A3B"/>
                </a:solidFill>
                <a:latin typeface="Calibri"/>
              </a:rPr>
              <a:t>Programmable delays. Monitors fail the test if VALID drops early or a payload bit changes while stalled.</a:t>
            </a:r>
          </a:p>
        </p:txBody>
      </p:sp>
      <p:sp>
        <p:nvSpPr>
          <p:cNvPr id="15" name="Rounded Rectangle 14"/>
          <p:cNvSpPr/>
          <p:nvPr/>
        </p:nvSpPr>
        <p:spPr>
          <a:xfrm>
            <a:off x="8028432" y="1417320"/>
            <a:ext cx="3493008" cy="402336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02752" y="1600200"/>
            <a:ext cx="2926080" cy="320040"/>
          </a:xfrm>
          <a:prstGeom prst="rect">
            <a:avLst/>
          </a:prstGeom>
          <a:noFill/>
        </p:spPr>
        <p:txBody>
          <a:bodyPr wrap="square" lIns="0" rIns="0" tIns="0" bIns="0" anchor="t">
            <a:spAutoFit/>
          </a:bodyPr>
          <a:lstStyle/>
          <a:p>
            <a:pPr algn="l"/>
            <a:r>
              <a:rPr sz="1300" b="1" i="0">
                <a:solidFill>
                  <a:srgbClr val="4F5F74"/>
                </a:solidFill>
                <a:latin typeface="Calibri"/>
              </a:rPr>
              <a:t>LEVEL 3</a:t>
            </a:r>
          </a:p>
        </p:txBody>
      </p:sp>
      <p:sp>
        <p:nvSpPr>
          <p:cNvPr id="17" name="TextBox 16"/>
          <p:cNvSpPr txBox="1"/>
          <p:nvPr/>
        </p:nvSpPr>
        <p:spPr>
          <a:xfrm>
            <a:off x="8302752" y="1920240"/>
            <a:ext cx="2926080" cy="457200"/>
          </a:xfrm>
          <a:prstGeom prst="rect">
            <a:avLst/>
          </a:prstGeom>
          <a:noFill/>
        </p:spPr>
        <p:txBody>
          <a:bodyPr wrap="square" lIns="0" rIns="0" tIns="0" bIns="0" anchor="t">
            <a:spAutoFit/>
          </a:bodyPr>
          <a:lstStyle/>
          <a:p>
            <a:pPr algn="l"/>
            <a:r>
              <a:rPr sz="1900" b="1" i="0">
                <a:solidFill>
                  <a:srgbClr val="1E2A3B"/>
                </a:solidFill>
                <a:latin typeface="Cambria"/>
              </a:rPr>
              <a:t>Whole system</a:t>
            </a:r>
          </a:p>
        </p:txBody>
      </p:sp>
      <p:sp>
        <p:nvSpPr>
          <p:cNvPr id="18" name="TextBox 17"/>
          <p:cNvSpPr txBox="1"/>
          <p:nvPr/>
        </p:nvSpPr>
        <p:spPr>
          <a:xfrm>
            <a:off x="8302752" y="2514600"/>
            <a:ext cx="2926080" cy="822960"/>
          </a:xfrm>
          <a:prstGeom prst="rect">
            <a:avLst/>
          </a:prstGeom>
          <a:noFill/>
        </p:spPr>
        <p:txBody>
          <a:bodyPr wrap="square" lIns="0" rIns="0" tIns="0" bIns="0" anchor="t">
            <a:spAutoFit/>
          </a:bodyPr>
          <a:lstStyle/>
          <a:p>
            <a:pPr algn="l"/>
            <a:r>
              <a:rPr sz="4400" b="1" i="0">
                <a:solidFill>
                  <a:srgbClr val="1E2A3B"/>
                </a:solidFill>
                <a:latin typeface="Cambria"/>
              </a:rPr>
              <a:t>72</a:t>
            </a:r>
          </a:p>
        </p:txBody>
      </p:sp>
      <p:sp>
        <p:nvSpPr>
          <p:cNvPr id="19" name="TextBox 18"/>
          <p:cNvSpPr txBox="1"/>
          <p:nvPr/>
        </p:nvSpPr>
        <p:spPr>
          <a:xfrm>
            <a:off x="8302752" y="3383280"/>
            <a:ext cx="2926080" cy="274320"/>
          </a:xfrm>
          <a:prstGeom prst="rect">
            <a:avLst/>
          </a:prstGeom>
          <a:noFill/>
        </p:spPr>
        <p:txBody>
          <a:bodyPr wrap="square" lIns="0" rIns="0" tIns="0" bIns="0" anchor="t">
            <a:spAutoFit/>
          </a:bodyPr>
          <a:lstStyle/>
          <a:p>
            <a:pPr algn="l"/>
            <a:r>
              <a:rPr sz="1300" b="0" i="0">
                <a:solidFill>
                  <a:srgbClr val="4F5F74"/>
                </a:solidFill>
                <a:latin typeface="Calibri"/>
              </a:rPr>
              <a:t>checks</a:t>
            </a:r>
          </a:p>
        </p:txBody>
      </p:sp>
      <p:sp>
        <p:nvSpPr>
          <p:cNvPr id="20" name="TextBox 19"/>
          <p:cNvSpPr txBox="1"/>
          <p:nvPr/>
        </p:nvSpPr>
        <p:spPr>
          <a:xfrm>
            <a:off x="8302752" y="3794760"/>
            <a:ext cx="2971800" cy="1554480"/>
          </a:xfrm>
          <a:prstGeom prst="rect">
            <a:avLst/>
          </a:prstGeom>
          <a:noFill/>
        </p:spPr>
        <p:txBody>
          <a:bodyPr wrap="square" lIns="0" rIns="0" tIns="0" bIns="0" anchor="t">
            <a:spAutoFit/>
          </a:bodyPr>
          <a:lstStyle/>
          <a:p>
            <a:pPr algn="l"/>
            <a:r>
              <a:rPr sz="1400" b="0" i="0">
                <a:solidFill>
                  <a:srgbClr val="1E2A3B"/>
                </a:solidFill>
                <a:latin typeface="Calibri"/>
              </a:rPr>
              <a:t>All burst types, byte strobes, host back-pressure, throughput and a reset in the middle of a burst.</a:t>
            </a:r>
          </a:p>
        </p:txBody>
      </p:sp>
      <p:sp>
        <p:nvSpPr>
          <p:cNvPr id="21" name="Rounded Rectangle 20"/>
          <p:cNvSpPr/>
          <p:nvPr/>
        </p:nvSpPr>
        <p:spPr>
          <a:xfrm>
            <a:off x="640080" y="5623560"/>
            <a:ext cx="10881360" cy="566928"/>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4400" y="5623560"/>
            <a:ext cx="10332720" cy="566928"/>
          </a:xfrm>
          <a:prstGeom prst="rect">
            <a:avLst/>
          </a:prstGeom>
          <a:noFill/>
        </p:spPr>
        <p:txBody>
          <a:bodyPr wrap="square" lIns="0" rIns="0" tIns="0" bIns="0" anchor="ctr">
            <a:spAutoFit/>
          </a:bodyPr>
          <a:lstStyle/>
          <a:p>
            <a:pPr algn="l"/>
            <a:r>
              <a:rPr sz="1700" b="1" i="0">
                <a:solidFill>
                  <a:srgbClr val="1E2A3B"/>
                </a:solidFill>
                <a:latin typeface="Calibri"/>
              </a:rPr>
              <a:t>Total: 38 + 46 + 72 = 156 checks, 0 failing.   Run it:  .\run_tests.ps1</a:t>
            </a:r>
          </a:p>
        </p:txBody>
      </p:sp>
      <p:sp>
        <p:nvSpPr>
          <p:cNvPr id="23"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24"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Measured results</a:t>
            </a:r>
          </a:p>
        </p:txBody>
      </p:sp>
      <p:sp>
        <p:nvSpPr>
          <p:cNvPr id="3" name="Rounded Rectangle 2"/>
          <p:cNvSpPr/>
          <p:nvPr/>
        </p:nvSpPr>
        <p:spPr>
          <a:xfrm>
            <a:off x="640080" y="1417320"/>
            <a:ext cx="3493008" cy="192024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91640"/>
            <a:ext cx="3017520" cy="731520"/>
          </a:xfrm>
          <a:prstGeom prst="rect">
            <a:avLst/>
          </a:prstGeom>
          <a:noFill/>
        </p:spPr>
        <p:txBody>
          <a:bodyPr wrap="square" lIns="0" rIns="0" tIns="0" bIns="0" anchor="t">
            <a:spAutoFit/>
          </a:bodyPr>
          <a:lstStyle/>
          <a:p>
            <a:pPr algn="l"/>
            <a:r>
              <a:rPr sz="3800" b="1" i="0">
                <a:solidFill>
                  <a:srgbClr val="1E2A3B"/>
                </a:solidFill>
                <a:latin typeface="Cambria"/>
              </a:rPr>
              <a:t>156 / 156</a:t>
            </a:r>
          </a:p>
        </p:txBody>
      </p:sp>
      <p:sp>
        <p:nvSpPr>
          <p:cNvPr id="5" name="TextBox 4"/>
          <p:cNvSpPr txBox="1"/>
          <p:nvPr/>
        </p:nvSpPr>
        <p:spPr>
          <a:xfrm>
            <a:off x="914400" y="2606040"/>
            <a:ext cx="3017520" cy="457200"/>
          </a:xfrm>
          <a:prstGeom prst="rect">
            <a:avLst/>
          </a:prstGeom>
          <a:noFill/>
        </p:spPr>
        <p:txBody>
          <a:bodyPr wrap="square" lIns="0" rIns="0" tIns="0" bIns="0" anchor="t">
            <a:spAutoFit/>
          </a:bodyPr>
          <a:lstStyle/>
          <a:p>
            <a:pPr algn="l"/>
            <a:r>
              <a:rPr sz="1600" b="0" i="0">
                <a:solidFill>
                  <a:srgbClr val="4F5F74"/>
                </a:solidFill>
                <a:latin typeface="Calibri"/>
              </a:rPr>
              <a:t>checks passing</a:t>
            </a:r>
          </a:p>
        </p:txBody>
      </p:sp>
      <p:sp>
        <p:nvSpPr>
          <p:cNvPr id="6" name="Rounded Rectangle 5"/>
          <p:cNvSpPr/>
          <p:nvPr/>
        </p:nvSpPr>
        <p:spPr>
          <a:xfrm>
            <a:off x="4334256" y="1417320"/>
            <a:ext cx="3493008" cy="192024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608576" y="1691640"/>
            <a:ext cx="3017520" cy="731520"/>
          </a:xfrm>
          <a:prstGeom prst="rect">
            <a:avLst/>
          </a:prstGeom>
          <a:noFill/>
        </p:spPr>
        <p:txBody>
          <a:bodyPr wrap="square" lIns="0" rIns="0" tIns="0" bIns="0" anchor="t">
            <a:spAutoFit/>
          </a:bodyPr>
          <a:lstStyle/>
          <a:p>
            <a:pPr algn="l"/>
            <a:r>
              <a:rPr sz="3800" b="1" i="0">
                <a:solidFill>
                  <a:srgbClr val="1E2A3B"/>
                </a:solidFill>
                <a:latin typeface="Cambria"/>
              </a:rPr>
              <a:t>1 beat / clock</a:t>
            </a:r>
          </a:p>
        </p:txBody>
      </p:sp>
      <p:sp>
        <p:nvSpPr>
          <p:cNvPr id="8" name="TextBox 7"/>
          <p:cNvSpPr txBox="1"/>
          <p:nvPr/>
        </p:nvSpPr>
        <p:spPr>
          <a:xfrm>
            <a:off x="4608576" y="2606040"/>
            <a:ext cx="3017520" cy="457200"/>
          </a:xfrm>
          <a:prstGeom prst="rect">
            <a:avLst/>
          </a:prstGeom>
          <a:noFill/>
        </p:spPr>
        <p:txBody>
          <a:bodyPr wrap="square" lIns="0" rIns="0" tIns="0" bIns="0" anchor="t">
            <a:spAutoFit/>
          </a:bodyPr>
          <a:lstStyle/>
          <a:p>
            <a:pPr algn="l"/>
            <a:r>
              <a:rPr sz="1600" b="0" i="0">
                <a:solidFill>
                  <a:srgbClr val="4F5F74"/>
                </a:solidFill>
                <a:latin typeface="Calibri"/>
              </a:rPr>
              <a:t>sustained throughput</a:t>
            </a:r>
          </a:p>
        </p:txBody>
      </p:sp>
      <p:sp>
        <p:nvSpPr>
          <p:cNvPr id="9" name="Rounded Rectangle 8"/>
          <p:cNvSpPr/>
          <p:nvPr/>
        </p:nvSpPr>
        <p:spPr>
          <a:xfrm>
            <a:off x="8028432" y="1417320"/>
            <a:ext cx="3493008" cy="192024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02752" y="1691640"/>
            <a:ext cx="3017520" cy="731520"/>
          </a:xfrm>
          <a:prstGeom prst="rect">
            <a:avLst/>
          </a:prstGeom>
          <a:noFill/>
        </p:spPr>
        <p:txBody>
          <a:bodyPr wrap="square" lIns="0" rIns="0" tIns="0" bIns="0" anchor="t">
            <a:spAutoFit/>
          </a:bodyPr>
          <a:lstStyle/>
          <a:p>
            <a:pPr algn="l"/>
            <a:r>
              <a:rPr sz="3800" b="1" i="0">
                <a:solidFill>
                  <a:srgbClr val="1E2A3B"/>
                </a:solidFill>
                <a:latin typeface="Cambria"/>
              </a:rPr>
              <a:t>35 cycles</a:t>
            </a:r>
          </a:p>
        </p:txBody>
      </p:sp>
      <p:sp>
        <p:nvSpPr>
          <p:cNvPr id="11" name="TextBox 10"/>
          <p:cNvSpPr txBox="1"/>
          <p:nvPr/>
        </p:nvSpPr>
        <p:spPr>
          <a:xfrm>
            <a:off x="8302752" y="2606040"/>
            <a:ext cx="3017520" cy="457200"/>
          </a:xfrm>
          <a:prstGeom prst="rect">
            <a:avLst/>
          </a:prstGeom>
          <a:noFill/>
        </p:spPr>
        <p:txBody>
          <a:bodyPr wrap="square" lIns="0" rIns="0" tIns="0" bIns="0" anchor="t">
            <a:spAutoFit/>
          </a:bodyPr>
          <a:lstStyle/>
          <a:p>
            <a:pPr algn="l"/>
            <a:r>
              <a:rPr sz="1600" b="0" i="0">
                <a:solidFill>
                  <a:srgbClr val="4F5F74"/>
                </a:solidFill>
                <a:latin typeface="Calibri"/>
              </a:rPr>
              <a:t>a 32-beat write</a:t>
            </a:r>
          </a:p>
        </p:txBody>
      </p:sp>
      <p:graphicFrame>
        <p:nvGraphicFramePr>
          <p:cNvPr id="12" name="Table 11"/>
          <p:cNvGraphicFramePr>
            <a:graphicFrameLocks noGrp="1"/>
          </p:cNvGraphicFramePr>
          <p:nvPr/>
        </p:nvGraphicFramePr>
        <p:xfrm>
          <a:off x="640080" y="3749039"/>
          <a:ext cx="10881360" cy="155448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r>
                        <a:rPr sz="1700" b="1">
                          <a:solidFill>
                            <a:srgbClr val="EEF2F8"/>
                          </a:solidFill>
                          <a:latin typeface="Calibri"/>
                        </a:rPr>
                        <a:t>32-beat burst</a:t>
                      </a:r>
                    </a:p>
                  </a:txBody>
                  <a:tcPr anchor="ctr">
                    <a:solidFill>
                      <a:srgbClr val="172033"/>
                    </a:solidFill>
                  </a:tcPr>
                </a:tc>
                <a:tc>
                  <a:txBody>
                    <a:bodyPr/>
                    <a:lstStyle/>
                    <a:p>
                      <a:r>
                        <a:rPr sz="1700" b="1">
                          <a:solidFill>
                            <a:srgbClr val="EEF2F8"/>
                          </a:solidFill>
                          <a:latin typeface="Calibri"/>
                        </a:rPr>
                        <a:t>Cycles, start to done</a:t>
                      </a:r>
                    </a:p>
                  </a:txBody>
                  <a:tcPr anchor="ctr">
                    <a:solidFill>
                      <a:srgbClr val="172033"/>
                    </a:solidFill>
                  </a:tcPr>
                </a:tc>
                <a:tc>
                  <a:txBody>
                    <a:bodyPr/>
                    <a:lstStyle/>
                    <a:p>
                      <a:r>
                        <a:rPr sz="1700" b="1">
                          <a:solidFill>
                            <a:srgbClr val="EEF2F8"/>
                          </a:solidFill>
                          <a:latin typeface="Calibri"/>
                        </a:rPr>
                        <a:t>Beats</a:t>
                      </a:r>
                    </a:p>
                  </a:txBody>
                  <a:tcPr anchor="ctr">
                    <a:solidFill>
                      <a:srgbClr val="172033"/>
                    </a:solidFill>
                  </a:tcPr>
                </a:tc>
                <a:tc>
                  <a:txBody>
                    <a:bodyPr/>
                    <a:lstStyle/>
                    <a:p>
                      <a:r>
                        <a:rPr sz="1700" b="1">
                          <a:solidFill>
                            <a:srgbClr val="EEF2F8"/>
                          </a:solidFill>
                          <a:latin typeface="Calibri"/>
                        </a:rPr>
                        <a:t>Fixed overhead</a:t>
                      </a:r>
                    </a:p>
                  </a:txBody>
                  <a:tcPr anchor="ctr">
                    <a:solidFill>
                      <a:srgbClr val="172033"/>
                    </a:solidFill>
                  </a:tcPr>
                </a:tc>
              </a:tr>
              <a:tr h="518160">
                <a:tc>
                  <a:txBody>
                    <a:bodyPr/>
                    <a:lstStyle/>
                    <a:p>
                      <a:r>
                        <a:rPr sz="1700" b="1">
                          <a:solidFill>
                            <a:srgbClr val="1E2A3B"/>
                          </a:solidFill>
                          <a:latin typeface="Calibri"/>
                        </a:rPr>
                        <a:t>Write</a:t>
                      </a:r>
                    </a:p>
                  </a:txBody>
                  <a:tcPr anchor="ctr">
                    <a:solidFill>
                      <a:srgbClr val="FFFFFF"/>
                    </a:solidFill>
                  </a:tcPr>
                </a:tc>
                <a:tc>
                  <a:txBody>
                    <a:bodyPr/>
                    <a:lstStyle/>
                    <a:p>
                      <a:r>
                        <a:rPr sz="1700" b="0">
                          <a:solidFill>
                            <a:srgbClr val="1E2A3B"/>
                          </a:solidFill>
                          <a:latin typeface="Calibri"/>
                        </a:rPr>
                        <a:t>35</a:t>
                      </a:r>
                    </a:p>
                  </a:txBody>
                  <a:tcPr anchor="ctr">
                    <a:solidFill>
                      <a:srgbClr val="FFFFFF"/>
                    </a:solidFill>
                  </a:tcPr>
                </a:tc>
                <a:tc>
                  <a:txBody>
                    <a:bodyPr/>
                    <a:lstStyle/>
                    <a:p>
                      <a:r>
                        <a:rPr sz="1700" b="0">
                          <a:solidFill>
                            <a:srgbClr val="1E2A3B"/>
                          </a:solidFill>
                          <a:latin typeface="Calibri"/>
                        </a:rPr>
                        <a:t>32</a:t>
                      </a:r>
                    </a:p>
                  </a:txBody>
                  <a:tcPr anchor="ctr">
                    <a:solidFill>
                      <a:srgbClr val="FFFFFF"/>
                    </a:solidFill>
                  </a:tcPr>
                </a:tc>
                <a:tc>
                  <a:txBody>
                    <a:bodyPr/>
                    <a:lstStyle/>
                    <a:p>
                      <a:r>
                        <a:rPr sz="1700" b="0">
                          <a:solidFill>
                            <a:srgbClr val="1E2A3B"/>
                          </a:solidFill>
                          <a:latin typeface="Calibri"/>
                        </a:rPr>
                        <a:t>3 cycles</a:t>
                      </a:r>
                    </a:p>
                  </a:txBody>
                  <a:tcPr anchor="ctr">
                    <a:solidFill>
                      <a:srgbClr val="FFFFFF"/>
                    </a:solidFill>
                  </a:tcPr>
                </a:tc>
              </a:tr>
              <a:tr h="518160">
                <a:tc>
                  <a:txBody>
                    <a:bodyPr/>
                    <a:lstStyle/>
                    <a:p>
                      <a:r>
                        <a:rPr sz="1700" b="1">
                          <a:solidFill>
                            <a:srgbClr val="1E2A3B"/>
                          </a:solidFill>
                          <a:latin typeface="Calibri"/>
                        </a:rPr>
                        <a:t>Read</a:t>
                      </a:r>
                    </a:p>
                  </a:txBody>
                  <a:tcPr anchor="ctr">
                    <a:solidFill>
                      <a:srgbClr val="FFFFFF"/>
                    </a:solidFill>
                  </a:tcPr>
                </a:tc>
                <a:tc>
                  <a:txBody>
                    <a:bodyPr/>
                    <a:lstStyle/>
                    <a:p>
                      <a:r>
                        <a:rPr sz="1700" b="0">
                          <a:solidFill>
                            <a:srgbClr val="1E2A3B"/>
                          </a:solidFill>
                          <a:latin typeface="Calibri"/>
                        </a:rPr>
                        <a:t>34</a:t>
                      </a:r>
                    </a:p>
                  </a:txBody>
                  <a:tcPr anchor="ctr">
                    <a:solidFill>
                      <a:srgbClr val="FFFFFF"/>
                    </a:solidFill>
                  </a:tcPr>
                </a:tc>
                <a:tc>
                  <a:txBody>
                    <a:bodyPr/>
                    <a:lstStyle/>
                    <a:p>
                      <a:r>
                        <a:rPr sz="1700" b="0">
                          <a:solidFill>
                            <a:srgbClr val="1E2A3B"/>
                          </a:solidFill>
                          <a:latin typeface="Calibri"/>
                        </a:rPr>
                        <a:t>32</a:t>
                      </a:r>
                    </a:p>
                  </a:txBody>
                  <a:tcPr anchor="ctr">
                    <a:solidFill>
                      <a:srgbClr val="FFFFFF"/>
                    </a:solidFill>
                  </a:tcPr>
                </a:tc>
                <a:tc>
                  <a:txBody>
                    <a:bodyPr/>
                    <a:lstStyle/>
                    <a:p>
                      <a:r>
                        <a:rPr sz="1700" b="0">
                          <a:solidFill>
                            <a:srgbClr val="1E2A3B"/>
                          </a:solidFill>
                          <a:latin typeface="Calibri"/>
                        </a:rPr>
                        <a:t>2 cycles</a:t>
                      </a:r>
                    </a:p>
                  </a:txBody>
                  <a:tcPr anchor="ctr">
                    <a:solidFill>
                      <a:srgbClr val="FFFFFF"/>
                    </a:solidFill>
                  </a:tcPr>
                </a:tc>
              </a:tr>
            </a:tbl>
          </a:graphicData>
        </a:graphic>
      </p:graphicFrame>
      <p:sp>
        <p:nvSpPr>
          <p:cNvPr id="13" name="TextBox 12"/>
          <p:cNvSpPr txBox="1"/>
          <p:nvPr/>
        </p:nvSpPr>
        <p:spPr>
          <a:xfrm>
            <a:off x="640080" y="5532120"/>
            <a:ext cx="10881360" cy="548640"/>
          </a:xfrm>
          <a:prstGeom prst="rect">
            <a:avLst/>
          </a:prstGeom>
          <a:noFill/>
        </p:spPr>
        <p:txBody>
          <a:bodyPr wrap="square" lIns="0" rIns="0" tIns="0" bIns="0" anchor="t">
            <a:spAutoFit/>
          </a:bodyPr>
          <a:lstStyle/>
          <a:p>
            <a:pPr algn="l"/>
            <a:r>
              <a:rPr sz="1500" b="0" i="0">
                <a:solidFill>
                  <a:srgbClr val="4F5F74"/>
                </a:solidFill>
                <a:latin typeface="Calibri"/>
              </a:rPr>
              <a:t>The overhead is the address and response handshakes. It does not grow with burst length.</a:t>
            </a:r>
          </a:p>
        </p:txBody>
      </p:sp>
      <p:sp>
        <p:nvSpPr>
          <p:cNvPr id="14"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15"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Limits, stated plainly</a:t>
            </a:r>
          </a:p>
        </p:txBody>
      </p:sp>
      <p:sp>
        <p:nvSpPr>
          <p:cNvPr id="3" name="Rounded Rectangle 2"/>
          <p:cNvSpPr/>
          <p:nvPr/>
        </p:nvSpPr>
        <p:spPr>
          <a:xfrm>
            <a:off x="640080" y="141732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581912"/>
            <a:ext cx="4846320" cy="365760"/>
          </a:xfrm>
          <a:prstGeom prst="rect">
            <a:avLst/>
          </a:prstGeom>
          <a:noFill/>
        </p:spPr>
        <p:txBody>
          <a:bodyPr wrap="square" lIns="0" rIns="0" tIns="0" bIns="0" anchor="t">
            <a:spAutoFit/>
          </a:bodyPr>
          <a:lstStyle/>
          <a:p>
            <a:pPr algn="l"/>
            <a:r>
              <a:rPr sz="1800" b="1" i="0">
                <a:solidFill>
                  <a:srgbClr val="1E2A3B"/>
                </a:solidFill>
                <a:latin typeface="Cambria"/>
              </a:rPr>
              <a:t>One burst at a time</a:t>
            </a:r>
          </a:p>
        </p:txBody>
      </p:sp>
      <p:sp>
        <p:nvSpPr>
          <p:cNvPr id="5" name="TextBox 4"/>
          <p:cNvSpPr txBox="1"/>
          <p:nvPr/>
        </p:nvSpPr>
        <p:spPr>
          <a:xfrm>
            <a:off x="914400" y="2039112"/>
            <a:ext cx="4846320" cy="685800"/>
          </a:xfrm>
          <a:prstGeom prst="rect">
            <a:avLst/>
          </a:prstGeom>
          <a:noFill/>
        </p:spPr>
        <p:txBody>
          <a:bodyPr wrap="square" lIns="0" rIns="0" tIns="0" bIns="0" anchor="t">
            <a:spAutoFit/>
          </a:bodyPr>
          <a:lstStyle/>
          <a:p>
            <a:pPr algn="l"/>
            <a:r>
              <a:rPr sz="1400" b="0" i="0">
                <a:solidFill>
                  <a:srgbClr val="4F5F74"/>
                </a:solidFill>
                <a:latin typeface="Calibri"/>
              </a:rPr>
              <a:t>Per direction. IDs are echoed but never used to reorder.</a:t>
            </a:r>
          </a:p>
        </p:txBody>
      </p:sp>
      <p:sp>
        <p:nvSpPr>
          <p:cNvPr id="6" name="Rounded Rectangle 5"/>
          <p:cNvSpPr/>
          <p:nvPr/>
        </p:nvSpPr>
        <p:spPr>
          <a:xfrm>
            <a:off x="6172200" y="141732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46520" y="1581912"/>
            <a:ext cx="4846320" cy="365760"/>
          </a:xfrm>
          <a:prstGeom prst="rect">
            <a:avLst/>
          </a:prstGeom>
          <a:noFill/>
        </p:spPr>
        <p:txBody>
          <a:bodyPr wrap="square" lIns="0" rIns="0" tIns="0" bIns="0" anchor="t">
            <a:spAutoFit/>
          </a:bodyPr>
          <a:lstStyle/>
          <a:p>
            <a:pPr algn="l"/>
            <a:r>
              <a:rPr sz="1800" b="1" i="0">
                <a:solidFill>
                  <a:srgbClr val="1E2A3B"/>
                </a:solidFill>
                <a:latin typeface="Cambria"/>
              </a:rPr>
              <a:t>No error responses</a:t>
            </a:r>
          </a:p>
        </p:txBody>
      </p:sp>
      <p:sp>
        <p:nvSpPr>
          <p:cNvPr id="8" name="TextBox 7"/>
          <p:cNvSpPr txBox="1"/>
          <p:nvPr/>
        </p:nvSpPr>
        <p:spPr>
          <a:xfrm>
            <a:off x="6446520" y="2039112"/>
            <a:ext cx="4846320" cy="685800"/>
          </a:xfrm>
          <a:prstGeom prst="rect">
            <a:avLst/>
          </a:prstGeom>
          <a:noFill/>
        </p:spPr>
        <p:txBody>
          <a:bodyPr wrap="square" lIns="0" rIns="0" tIns="0" bIns="0" anchor="t">
            <a:spAutoFit/>
          </a:bodyPr>
          <a:lstStyle/>
          <a:p>
            <a:pPr algn="l"/>
            <a:r>
              <a:rPr sz="1400" b="0" i="0">
                <a:solidFill>
                  <a:srgbClr val="4F5F74"/>
                </a:solidFill>
                <a:latin typeface="Calibri"/>
              </a:rPr>
              <a:t>Every response is OKAY. A bad address wraps inside the 4 KiB.</a:t>
            </a:r>
          </a:p>
        </p:txBody>
      </p:sp>
      <p:sp>
        <p:nvSpPr>
          <p:cNvPr id="9" name="Rounded Rectangle 8"/>
          <p:cNvSpPr/>
          <p:nvPr/>
        </p:nvSpPr>
        <p:spPr>
          <a:xfrm>
            <a:off x="640080" y="297180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3136392"/>
            <a:ext cx="4846320" cy="365760"/>
          </a:xfrm>
          <a:prstGeom prst="rect">
            <a:avLst/>
          </a:prstGeom>
          <a:noFill/>
        </p:spPr>
        <p:txBody>
          <a:bodyPr wrap="square" lIns="0" rIns="0" tIns="0" bIns="0" anchor="t">
            <a:spAutoFit/>
          </a:bodyPr>
          <a:lstStyle/>
          <a:p>
            <a:pPr algn="l"/>
            <a:r>
              <a:rPr sz="1800" b="1" i="0">
                <a:solidFill>
                  <a:srgbClr val="1E2A3B"/>
                </a:solidFill>
                <a:latin typeface="Cambria"/>
              </a:rPr>
              <a:t>No exclusive access</a:t>
            </a:r>
          </a:p>
        </p:txBody>
      </p:sp>
      <p:sp>
        <p:nvSpPr>
          <p:cNvPr id="11" name="TextBox 10"/>
          <p:cNvSpPr txBox="1"/>
          <p:nvPr/>
        </p:nvSpPr>
        <p:spPr>
          <a:xfrm>
            <a:off x="914400" y="3593592"/>
            <a:ext cx="4846320" cy="685800"/>
          </a:xfrm>
          <a:prstGeom prst="rect">
            <a:avLst/>
          </a:prstGeom>
          <a:noFill/>
        </p:spPr>
        <p:txBody>
          <a:bodyPr wrap="square" lIns="0" rIns="0" tIns="0" bIns="0" anchor="t">
            <a:spAutoFit/>
          </a:bodyPr>
          <a:lstStyle/>
          <a:p>
            <a:pPr algn="l"/>
            <a:r>
              <a:rPr sz="1400" b="0" i="0">
                <a:solidFill>
                  <a:srgbClr val="4F5F74"/>
                </a:solidFill>
                <a:latin typeface="Calibri"/>
              </a:rPr>
              <a:t>AxLOCK is 0, EXOKAY never returned. CACHE, PROT and QOS are carried, not used.</a:t>
            </a:r>
          </a:p>
        </p:txBody>
      </p:sp>
      <p:sp>
        <p:nvSpPr>
          <p:cNvPr id="12" name="Rounded Rectangle 11"/>
          <p:cNvSpPr/>
          <p:nvPr/>
        </p:nvSpPr>
        <p:spPr>
          <a:xfrm>
            <a:off x="6172200" y="297180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3136392"/>
            <a:ext cx="4846320" cy="365760"/>
          </a:xfrm>
          <a:prstGeom prst="rect">
            <a:avLst/>
          </a:prstGeom>
          <a:noFill/>
        </p:spPr>
        <p:txBody>
          <a:bodyPr wrap="square" lIns="0" rIns="0" tIns="0" bIns="0" anchor="t">
            <a:spAutoFit/>
          </a:bodyPr>
          <a:lstStyle/>
          <a:p>
            <a:pPr algn="l"/>
            <a:r>
              <a:rPr sz="1800" b="1" i="0">
                <a:solidFill>
                  <a:srgbClr val="1E2A3B"/>
                </a:solidFill>
                <a:latin typeface="Cambria"/>
              </a:rPr>
              <a:t>Narrow reads return the word</a:t>
            </a:r>
          </a:p>
        </p:txBody>
      </p:sp>
      <p:sp>
        <p:nvSpPr>
          <p:cNvPr id="14" name="TextBox 13"/>
          <p:cNvSpPr txBox="1"/>
          <p:nvPr/>
        </p:nvSpPr>
        <p:spPr>
          <a:xfrm>
            <a:off x="6446520" y="3593592"/>
            <a:ext cx="4846320" cy="685800"/>
          </a:xfrm>
          <a:prstGeom prst="rect">
            <a:avLst/>
          </a:prstGeom>
          <a:noFill/>
        </p:spPr>
        <p:txBody>
          <a:bodyPr wrap="square" lIns="0" rIns="0" tIns="0" bIns="0" anchor="t">
            <a:spAutoFit/>
          </a:bodyPr>
          <a:lstStyle/>
          <a:p>
            <a:pPr algn="l"/>
            <a:r>
              <a:rPr sz="1400" b="0" i="0">
                <a:solidFill>
                  <a:srgbClr val="4F5F74"/>
                </a:solidFill>
                <a:latin typeface="Calibri"/>
              </a:rPr>
              <a:t>The subordinate does not mask other byte lanes. Legal: the manager picks its lanes.</a:t>
            </a:r>
          </a:p>
        </p:txBody>
      </p:sp>
      <p:sp>
        <p:nvSpPr>
          <p:cNvPr id="15" name="Rounded Rectangle 14"/>
          <p:cNvSpPr/>
          <p:nvPr/>
        </p:nvSpPr>
        <p:spPr>
          <a:xfrm>
            <a:off x="640080" y="452628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4690872"/>
            <a:ext cx="4846320" cy="365760"/>
          </a:xfrm>
          <a:prstGeom prst="rect">
            <a:avLst/>
          </a:prstGeom>
          <a:noFill/>
        </p:spPr>
        <p:txBody>
          <a:bodyPr wrap="square" lIns="0" rIns="0" tIns="0" bIns="0" anchor="t">
            <a:spAutoFit/>
          </a:bodyPr>
          <a:lstStyle/>
          <a:p>
            <a:pPr algn="l"/>
            <a:r>
              <a:rPr sz="1800" b="1" i="0">
                <a:solidFill>
                  <a:srgbClr val="1E2A3B"/>
                </a:solidFill>
                <a:latin typeface="Cambria"/>
              </a:rPr>
              <a:t>Host streams pass straight through</a:t>
            </a:r>
          </a:p>
        </p:txBody>
      </p:sp>
      <p:sp>
        <p:nvSpPr>
          <p:cNvPr id="17" name="TextBox 16"/>
          <p:cNvSpPr txBox="1"/>
          <p:nvPr/>
        </p:nvSpPr>
        <p:spPr>
          <a:xfrm>
            <a:off x="914400" y="5148072"/>
            <a:ext cx="4846320" cy="685800"/>
          </a:xfrm>
          <a:prstGeom prst="rect">
            <a:avLst/>
          </a:prstGeom>
          <a:noFill/>
        </p:spPr>
        <p:txBody>
          <a:bodyPr wrap="square" lIns="0" rIns="0" tIns="0" bIns="0" anchor="t">
            <a:spAutoFit/>
          </a:bodyPr>
          <a:lstStyle/>
          <a:p>
            <a:pPr algn="l"/>
            <a:r>
              <a:rPr sz="1400" b="0" i="0">
                <a:solidFill>
                  <a:srgbClr val="4F5F74"/>
                </a:solidFill>
                <a:latin typeface="Calibri"/>
              </a:rPr>
              <a:t>A state-gated pass-through inside the manager, not registered.</a:t>
            </a:r>
          </a:p>
        </p:txBody>
      </p:sp>
      <p:sp>
        <p:nvSpPr>
          <p:cNvPr id="18" name="Rounded Rectangle 17"/>
          <p:cNvSpPr/>
          <p:nvPr/>
        </p:nvSpPr>
        <p:spPr>
          <a:xfrm>
            <a:off x="6172200" y="452628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4690872"/>
            <a:ext cx="4846320" cy="365760"/>
          </a:xfrm>
          <a:prstGeom prst="rect">
            <a:avLst/>
          </a:prstGeom>
          <a:noFill/>
        </p:spPr>
        <p:txBody>
          <a:bodyPr wrap="square" lIns="0" rIns="0" tIns="0" bIns="0" anchor="t">
            <a:spAutoFit/>
          </a:bodyPr>
          <a:lstStyle/>
          <a:p>
            <a:pPr algn="l"/>
            <a:r>
              <a:rPr sz="1800" b="1" i="0">
                <a:solidFill>
                  <a:srgbClr val="1E2A3B"/>
                </a:solidFill>
                <a:latin typeface="Cambria"/>
              </a:rPr>
              <a:t>Reset mid-burst</a:t>
            </a:r>
          </a:p>
        </p:txBody>
      </p:sp>
      <p:sp>
        <p:nvSpPr>
          <p:cNvPr id="20" name="TextBox 19"/>
          <p:cNvSpPr txBox="1"/>
          <p:nvPr/>
        </p:nvSpPr>
        <p:spPr>
          <a:xfrm>
            <a:off x="6446520" y="5148072"/>
            <a:ext cx="4846320" cy="685800"/>
          </a:xfrm>
          <a:prstGeom prst="rect">
            <a:avLst/>
          </a:prstGeom>
          <a:noFill/>
        </p:spPr>
        <p:txBody>
          <a:bodyPr wrap="square" lIns="0" rIns="0" tIns="0" bIns="0" anchor="t">
            <a:spAutoFit/>
          </a:bodyPr>
          <a:lstStyle/>
          <a:p>
            <a:pPr algn="l"/>
            <a:r>
              <a:rPr sz="1400" b="0" i="0">
                <a:solidFill>
                  <a:srgbClr val="4F5F74"/>
                </a:solidFill>
                <a:latin typeface="Calibri"/>
              </a:rPr>
              <a:t>The memory is not cleared by reset. Which beats landed is undefined, so it is not asserted.</a:t>
            </a:r>
          </a:p>
        </p:txBody>
      </p:sp>
      <p:sp>
        <p:nvSpPr>
          <p:cNvPr id="21"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22"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33"/>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EEF2F8"/>
                </a:solidFill>
                <a:latin typeface="Cambria"/>
              </a:rPr>
              <a:t>Live demo</a:t>
            </a:r>
          </a:p>
        </p:txBody>
      </p:sp>
      <p:sp>
        <p:nvSpPr>
          <p:cNvPr id="3" name="Rounded Rectangle 2"/>
          <p:cNvSpPr/>
          <p:nvPr/>
        </p:nvSpPr>
        <p:spPr>
          <a:xfrm>
            <a:off x="640080" y="1463040"/>
            <a:ext cx="6766560" cy="2743200"/>
          </a:xfrm>
          <a:prstGeom prst="roundRect">
            <a:avLst>
              <a:gd name="adj" fmla="val 6000"/>
            </a:avLst>
          </a:prstGeom>
          <a:solidFill>
            <a:srgbClr val="0F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1691640"/>
            <a:ext cx="6217920" cy="2377440"/>
          </a:xfrm>
          <a:prstGeom prst="rect">
            <a:avLst/>
          </a:prstGeom>
          <a:noFill/>
        </p:spPr>
        <p:txBody>
          <a:bodyPr wrap="square" lIns="0" rIns="0" tIns="0" bIns="0" anchor="t">
            <a:spAutoFit/>
          </a:bodyPr>
          <a:lstStyle/>
          <a:p>
            <a:pPr algn="l">
              <a:spcAft>
                <a:spcPts val="1400"/>
              </a:spcAft>
            </a:pPr>
            <a:r>
              <a:rPr sz="1800" b="0" i="0">
                <a:solidFill>
                  <a:srgbClr val="EEF2F8"/>
                </a:solidFill>
                <a:latin typeface="Consolas"/>
              </a:rPr>
              <a:t>cd E:\FPGA_Project</a:t>
            </a:r>
          </a:p>
          <a:p>
            <a:pPr algn="l">
              <a:spcAft>
                <a:spcPts val="1400"/>
              </a:spcAft>
            </a:pPr>
            <a:r>
              <a:rPr sz="1800" b="0" i="0">
                <a:solidFill>
                  <a:srgbClr val="FFC845"/>
                </a:solidFill>
                <a:latin typeface="Consolas"/>
              </a:rPr>
              <a:t>.\run_tests.ps1</a:t>
            </a:r>
          </a:p>
          <a:p>
            <a:pPr algn="l">
              <a:spcAft>
                <a:spcPts val="0"/>
              </a:spcAft>
            </a:pPr>
            <a:r>
              <a:rPr sz="1800" b="0" i="0">
                <a:solidFill>
                  <a:srgbClr val="FFC845"/>
                </a:solidFill>
                <a:latin typeface="Consolas"/>
              </a:rPr>
              <a:t>.\run_tests.ps1 -Suite top -Wave</a:t>
            </a:r>
          </a:p>
        </p:txBody>
      </p:sp>
      <p:sp>
        <p:nvSpPr>
          <p:cNvPr id="5" name="TextBox 4"/>
          <p:cNvSpPr txBox="1"/>
          <p:nvPr/>
        </p:nvSpPr>
        <p:spPr>
          <a:xfrm>
            <a:off x="7955279" y="1463040"/>
            <a:ext cx="3566160" cy="365760"/>
          </a:xfrm>
          <a:prstGeom prst="rect">
            <a:avLst/>
          </a:prstGeom>
          <a:noFill/>
        </p:spPr>
        <p:txBody>
          <a:bodyPr wrap="square" lIns="0" rIns="0" tIns="0" bIns="0" anchor="t">
            <a:spAutoFit/>
          </a:bodyPr>
          <a:lstStyle/>
          <a:p>
            <a:pPr algn="l"/>
            <a:r>
              <a:rPr sz="2000" b="1" i="0">
                <a:solidFill>
                  <a:srgbClr val="FFC845"/>
                </a:solidFill>
                <a:latin typeface="Cambria"/>
              </a:rPr>
              <a:t>What to point at</a:t>
            </a:r>
          </a:p>
        </p:txBody>
      </p:sp>
      <p:sp>
        <p:nvSpPr>
          <p:cNvPr id="6" name="TextBox 5"/>
          <p:cNvSpPr txBox="1"/>
          <p:nvPr/>
        </p:nvSpPr>
        <p:spPr>
          <a:xfrm>
            <a:off x="7955279" y="1965960"/>
            <a:ext cx="3566160" cy="2743200"/>
          </a:xfrm>
          <a:prstGeom prst="rect">
            <a:avLst/>
          </a:prstGeom>
          <a:noFill/>
        </p:spPr>
        <p:txBody>
          <a:bodyPr wrap="square" lIns="0" rIns="0" tIns="0" bIns="0" anchor="t">
            <a:spAutoFit/>
          </a:bodyPr>
          <a:lstStyle/>
          <a:p>
            <a:pPr algn="l">
              <a:spcAft>
                <a:spcPts val="1000"/>
              </a:spcAft>
            </a:pPr>
            <a:r>
              <a:rPr sz="1600" b="0" i="0">
                <a:solidFill>
                  <a:srgbClr val="EEF2F8"/>
                </a:solidFill>
                <a:latin typeface="Calibri"/>
              </a:rPr>
              <a:t>Three suites, each ending TEST PASSED</a:t>
            </a:r>
          </a:p>
          <a:p>
            <a:pPr algn="l">
              <a:spcAft>
                <a:spcPts val="1000"/>
              </a:spcAft>
            </a:pPr>
            <a:r>
              <a:rPr sz="1600" b="0" i="0">
                <a:solidFill>
                  <a:srgbClr val="EEF2F8"/>
                </a:solidFill>
                <a:latin typeface="Calibri"/>
              </a:rPr>
              <a:t>Check counts: 38, 46 and 72</a:t>
            </a:r>
          </a:p>
          <a:p>
            <a:pPr algn="l">
              <a:spcAft>
                <a:spcPts val="0"/>
              </a:spcAft>
            </a:pPr>
            <a:r>
              <a:rPr sz="1600" b="0" i="0">
                <a:solidFill>
                  <a:srgbClr val="EEF2F8"/>
                </a:solidFill>
                <a:latin typeface="Calibri"/>
              </a:rPr>
              <a:t>In the waveform: WREADY waits for the address</a:t>
            </a:r>
          </a:p>
        </p:txBody>
      </p:sp>
      <p:sp>
        <p:nvSpPr>
          <p:cNvPr id="7" name="Rounded Rectangle 6"/>
          <p:cNvSpPr/>
          <p:nvPr/>
        </p:nvSpPr>
        <p:spPr>
          <a:xfrm>
            <a:off x="640080" y="4572000"/>
            <a:ext cx="10881360" cy="1371600"/>
          </a:xfrm>
          <a:prstGeom prst="roundRect">
            <a:avLst>
              <a:gd name="adj" fmla="val 6000"/>
            </a:avLst>
          </a:prstGeom>
          <a:solidFill>
            <a:srgbClr val="22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4754880"/>
            <a:ext cx="10149840" cy="1097280"/>
          </a:xfrm>
          <a:prstGeom prst="rect">
            <a:avLst/>
          </a:prstGeom>
          <a:noFill/>
        </p:spPr>
        <p:txBody>
          <a:bodyPr wrap="square" lIns="0" rIns="0" tIns="0" bIns="0" anchor="t">
            <a:spAutoFit/>
          </a:bodyPr>
          <a:lstStyle/>
          <a:p>
            <a:pPr algn="l">
              <a:spcAft>
                <a:spcPts val="600"/>
              </a:spcAft>
            </a:pPr>
            <a:r>
              <a:rPr sz="1700" b="1" i="0">
                <a:solidFill>
                  <a:srgbClr val="FFC845"/>
                </a:solidFill>
                <a:latin typeface="Calibri"/>
              </a:rPr>
              <a:t>If the live run fails</a:t>
            </a:r>
          </a:p>
          <a:p>
            <a:pPr algn="l"/>
            <a:r>
              <a:rPr sz="1600" b="0" i="0">
                <a:solidFill>
                  <a:srgbClr val="EEF2F8"/>
                </a:solidFill>
                <a:latin typeface="Calibri"/>
              </a:rPr>
              <a:t>Slides 11 and 12 are recorded from this same simulation. Logs and waveforms are written to the build folder.</a:t>
            </a:r>
          </a:p>
        </p:txBody>
      </p:sp>
      <p:sp>
        <p:nvSpPr>
          <p:cNvPr id="9"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B7C3D6"/>
                </a:solidFill>
                <a:latin typeface="Calibri"/>
              </a:rPr>
              <a:t>AXI4 manager and subordinate in Verilog</a:t>
            </a:r>
          </a:p>
        </p:txBody>
      </p:sp>
      <p:sp>
        <p:nvSpPr>
          <p:cNvPr id="10"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B7C3D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Questions we expect</a:t>
            </a:r>
          </a:p>
        </p:txBody>
      </p:sp>
      <p:sp>
        <p:nvSpPr>
          <p:cNvPr id="3" name="Rounded Rectangle 2"/>
          <p:cNvSpPr/>
          <p:nvPr/>
        </p:nvSpPr>
        <p:spPr>
          <a:xfrm>
            <a:off x="640080" y="1417320"/>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572768"/>
            <a:ext cx="4846320" cy="365760"/>
          </a:xfrm>
          <a:prstGeom prst="rect">
            <a:avLst/>
          </a:prstGeom>
          <a:noFill/>
        </p:spPr>
        <p:txBody>
          <a:bodyPr wrap="square" lIns="0" rIns="0" tIns="0" bIns="0" anchor="t">
            <a:spAutoFit/>
          </a:bodyPr>
          <a:lstStyle/>
          <a:p>
            <a:pPr algn="l"/>
            <a:r>
              <a:rPr sz="1700" b="1" i="0">
                <a:solidFill>
                  <a:srgbClr val="1E2A3B"/>
                </a:solidFill>
                <a:latin typeface="Cambria"/>
              </a:rPr>
              <a:t>Why five channels?</a:t>
            </a:r>
          </a:p>
        </p:txBody>
      </p:sp>
      <p:sp>
        <p:nvSpPr>
          <p:cNvPr id="5" name="TextBox 4"/>
          <p:cNvSpPr txBox="1"/>
          <p:nvPr/>
        </p:nvSpPr>
        <p:spPr>
          <a:xfrm>
            <a:off x="914400" y="2020824"/>
            <a:ext cx="4846320" cy="777240"/>
          </a:xfrm>
          <a:prstGeom prst="rect">
            <a:avLst/>
          </a:prstGeom>
          <a:noFill/>
        </p:spPr>
        <p:txBody>
          <a:bodyPr wrap="square" lIns="0" rIns="0" tIns="0" bIns="0" anchor="t">
            <a:spAutoFit/>
          </a:bodyPr>
          <a:lstStyle/>
          <a:p>
            <a:pPr algn="l"/>
            <a:r>
              <a:rPr sz="1500" b="0" i="0">
                <a:solidFill>
                  <a:srgbClr val="4F5F74"/>
                </a:solidFill>
                <a:latin typeface="Calibri"/>
              </a:rPr>
              <a:t>Address, data and response move independently and in both directions, so a slow response never blocks the next address.</a:t>
            </a:r>
          </a:p>
        </p:txBody>
      </p:sp>
      <p:sp>
        <p:nvSpPr>
          <p:cNvPr id="6" name="Rounded Rectangle 5"/>
          <p:cNvSpPr/>
          <p:nvPr/>
        </p:nvSpPr>
        <p:spPr>
          <a:xfrm>
            <a:off x="6172200" y="1417320"/>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46520" y="1572768"/>
            <a:ext cx="4846320" cy="365760"/>
          </a:xfrm>
          <a:prstGeom prst="rect">
            <a:avLst/>
          </a:prstGeom>
          <a:noFill/>
        </p:spPr>
        <p:txBody>
          <a:bodyPr wrap="square" lIns="0" rIns="0" tIns="0" bIns="0" anchor="t">
            <a:spAutoFit/>
          </a:bodyPr>
          <a:lstStyle/>
          <a:p>
            <a:pPr algn="l"/>
            <a:r>
              <a:rPr sz="1700" b="1" i="0">
                <a:solidFill>
                  <a:srgbClr val="1E2A3B"/>
                </a:solidFill>
                <a:latin typeface="Cambria"/>
              </a:rPr>
              <a:t>How does it know a burst ended?</a:t>
            </a:r>
          </a:p>
        </p:txBody>
      </p:sp>
      <p:sp>
        <p:nvSpPr>
          <p:cNvPr id="8" name="TextBox 7"/>
          <p:cNvSpPr txBox="1"/>
          <p:nvPr/>
        </p:nvSpPr>
        <p:spPr>
          <a:xfrm>
            <a:off x="6446520" y="2020824"/>
            <a:ext cx="4846320" cy="777240"/>
          </a:xfrm>
          <a:prstGeom prst="rect">
            <a:avLst/>
          </a:prstGeom>
          <a:noFill/>
        </p:spPr>
        <p:txBody>
          <a:bodyPr wrap="square" lIns="0" rIns="0" tIns="0" bIns="0" anchor="t">
            <a:spAutoFit/>
          </a:bodyPr>
          <a:lstStyle/>
          <a:p>
            <a:pPr algn="l"/>
            <a:r>
              <a:rPr sz="1500" b="0" i="0">
                <a:solidFill>
                  <a:srgbClr val="4F5F74"/>
                </a:solidFill>
                <a:latin typeface="Calibri"/>
              </a:rPr>
              <a:t>On writes, from WLAST. On reads, by counting ARLEN + 1 beats.</a:t>
            </a:r>
          </a:p>
        </p:txBody>
      </p:sp>
      <p:sp>
        <p:nvSpPr>
          <p:cNvPr id="9" name="Rounded Rectangle 8"/>
          <p:cNvSpPr/>
          <p:nvPr/>
        </p:nvSpPr>
        <p:spPr>
          <a:xfrm>
            <a:off x="640080" y="2990088"/>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3145536"/>
            <a:ext cx="4846320" cy="365760"/>
          </a:xfrm>
          <a:prstGeom prst="rect">
            <a:avLst/>
          </a:prstGeom>
          <a:noFill/>
        </p:spPr>
        <p:txBody>
          <a:bodyPr wrap="square" lIns="0" rIns="0" tIns="0" bIns="0" anchor="t">
            <a:spAutoFit/>
          </a:bodyPr>
          <a:lstStyle/>
          <a:p>
            <a:pPr algn="l"/>
            <a:r>
              <a:rPr sz="1700" b="1" i="0">
                <a:solidFill>
                  <a:srgbClr val="1E2A3B"/>
                </a:solidFill>
                <a:latin typeface="Cambria"/>
              </a:rPr>
              <a:t>What happens on a bad address?</a:t>
            </a:r>
          </a:p>
        </p:txBody>
      </p:sp>
      <p:sp>
        <p:nvSpPr>
          <p:cNvPr id="11" name="TextBox 10"/>
          <p:cNvSpPr txBox="1"/>
          <p:nvPr/>
        </p:nvSpPr>
        <p:spPr>
          <a:xfrm>
            <a:off x="914400" y="3593592"/>
            <a:ext cx="4846320" cy="777240"/>
          </a:xfrm>
          <a:prstGeom prst="rect">
            <a:avLst/>
          </a:prstGeom>
          <a:noFill/>
        </p:spPr>
        <p:txBody>
          <a:bodyPr wrap="square" lIns="0" rIns="0" tIns="0" bIns="0" anchor="t">
            <a:spAutoFit/>
          </a:bodyPr>
          <a:lstStyle/>
          <a:p>
            <a:pPr algn="l"/>
            <a:r>
              <a:rPr sz="1500" b="0" i="0">
                <a:solidFill>
                  <a:srgbClr val="4F5F74"/>
                </a:solidFill>
                <a:latin typeface="Calibri"/>
              </a:rPr>
              <a:t>Nothing is checked. The address wraps inside the 4 KiB and the response is OKAY.</a:t>
            </a:r>
          </a:p>
        </p:txBody>
      </p:sp>
      <p:sp>
        <p:nvSpPr>
          <p:cNvPr id="12" name="Rounded Rectangle 11"/>
          <p:cNvSpPr/>
          <p:nvPr/>
        </p:nvSpPr>
        <p:spPr>
          <a:xfrm>
            <a:off x="6172200" y="2990088"/>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3145536"/>
            <a:ext cx="4846320" cy="365760"/>
          </a:xfrm>
          <a:prstGeom prst="rect">
            <a:avLst/>
          </a:prstGeom>
          <a:noFill/>
        </p:spPr>
        <p:txBody>
          <a:bodyPr wrap="square" lIns="0" rIns="0" tIns="0" bIns="0" anchor="t">
            <a:spAutoFit/>
          </a:bodyPr>
          <a:lstStyle/>
          <a:p>
            <a:pPr algn="l"/>
            <a:r>
              <a:rPr sz="1700" b="1" i="0">
                <a:solidFill>
                  <a:srgbClr val="1E2A3B"/>
                </a:solidFill>
                <a:latin typeface="Cambria"/>
              </a:rPr>
              <a:t>Why latch the command?</a:t>
            </a:r>
          </a:p>
        </p:txBody>
      </p:sp>
      <p:sp>
        <p:nvSpPr>
          <p:cNvPr id="14" name="TextBox 13"/>
          <p:cNvSpPr txBox="1"/>
          <p:nvPr/>
        </p:nvSpPr>
        <p:spPr>
          <a:xfrm>
            <a:off x="6446520" y="3593592"/>
            <a:ext cx="4846320" cy="777240"/>
          </a:xfrm>
          <a:prstGeom prst="rect">
            <a:avLst/>
          </a:prstGeom>
          <a:noFill/>
        </p:spPr>
        <p:txBody>
          <a:bodyPr wrap="square" lIns="0" rIns="0" tIns="0" bIns="0" anchor="t">
            <a:spAutoFit/>
          </a:bodyPr>
          <a:lstStyle/>
          <a:p>
            <a:pPr algn="l"/>
            <a:r>
              <a:rPr sz="1500" b="0" i="0">
                <a:solidFill>
                  <a:srgbClr val="4F5F74"/>
                </a:solidFill>
                <a:latin typeface="Calibri"/>
              </a:rPr>
              <a:t>The bus payload must not change until its handshake completes. Registers guarantee that.</a:t>
            </a:r>
          </a:p>
        </p:txBody>
      </p:sp>
      <p:sp>
        <p:nvSpPr>
          <p:cNvPr id="15" name="Rounded Rectangle 14"/>
          <p:cNvSpPr/>
          <p:nvPr/>
        </p:nvSpPr>
        <p:spPr>
          <a:xfrm>
            <a:off x="640080" y="4562856"/>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4718304"/>
            <a:ext cx="4846320" cy="365760"/>
          </a:xfrm>
          <a:prstGeom prst="rect">
            <a:avLst/>
          </a:prstGeom>
          <a:noFill/>
        </p:spPr>
        <p:txBody>
          <a:bodyPr wrap="square" lIns="0" rIns="0" tIns="0" bIns="0" anchor="t">
            <a:spAutoFit/>
          </a:bodyPr>
          <a:lstStyle/>
          <a:p>
            <a:pPr algn="l"/>
            <a:r>
              <a:rPr sz="1700" b="1" i="0">
                <a:solidFill>
                  <a:srgbClr val="1E2A3B"/>
                </a:solidFill>
                <a:latin typeface="Cambria"/>
              </a:rPr>
              <a:t>Why does WREADY wait for the address?</a:t>
            </a:r>
          </a:p>
        </p:txBody>
      </p:sp>
      <p:sp>
        <p:nvSpPr>
          <p:cNvPr id="17" name="TextBox 16"/>
          <p:cNvSpPr txBox="1"/>
          <p:nvPr/>
        </p:nvSpPr>
        <p:spPr>
          <a:xfrm>
            <a:off x="914400" y="5166360"/>
            <a:ext cx="4846320" cy="777240"/>
          </a:xfrm>
          <a:prstGeom prst="rect">
            <a:avLst/>
          </a:prstGeom>
          <a:noFill/>
        </p:spPr>
        <p:txBody>
          <a:bodyPr wrap="square" lIns="0" rIns="0" tIns="0" bIns="0" anchor="t">
            <a:spAutoFit/>
          </a:bodyPr>
          <a:lstStyle/>
          <a:p>
            <a:pPr algn="l"/>
            <a:r>
              <a:rPr sz="1500" b="0" i="0">
                <a:solidFill>
                  <a:srgbClr val="4F5F74"/>
                </a:solidFill>
                <a:latin typeface="Calibri"/>
              </a:rPr>
              <a:t>The subordinate takes the address first, then the data. The standard allows it.</a:t>
            </a:r>
          </a:p>
        </p:txBody>
      </p:sp>
      <p:sp>
        <p:nvSpPr>
          <p:cNvPr id="18" name="Rounded Rectangle 17"/>
          <p:cNvSpPr/>
          <p:nvPr/>
        </p:nvSpPr>
        <p:spPr>
          <a:xfrm>
            <a:off x="6172200" y="4562856"/>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4718304"/>
            <a:ext cx="4846320" cy="365760"/>
          </a:xfrm>
          <a:prstGeom prst="rect">
            <a:avLst/>
          </a:prstGeom>
          <a:noFill/>
        </p:spPr>
        <p:txBody>
          <a:bodyPr wrap="square" lIns="0" rIns="0" tIns="0" bIns="0" anchor="t">
            <a:spAutoFit/>
          </a:bodyPr>
          <a:lstStyle/>
          <a:p>
            <a:pPr algn="l"/>
            <a:r>
              <a:rPr sz="1700" b="1" i="0">
                <a:solidFill>
                  <a:srgbClr val="1E2A3B"/>
                </a:solidFill>
                <a:latin typeface="Cambria"/>
              </a:rPr>
              <a:t>What limits throughput?</a:t>
            </a:r>
          </a:p>
        </p:txBody>
      </p:sp>
      <p:sp>
        <p:nvSpPr>
          <p:cNvPr id="20" name="TextBox 19"/>
          <p:cNvSpPr txBox="1"/>
          <p:nvPr/>
        </p:nvSpPr>
        <p:spPr>
          <a:xfrm>
            <a:off x="6446520" y="5166360"/>
            <a:ext cx="4846320" cy="777240"/>
          </a:xfrm>
          <a:prstGeom prst="rect">
            <a:avLst/>
          </a:prstGeom>
          <a:noFill/>
        </p:spPr>
        <p:txBody>
          <a:bodyPr wrap="square" lIns="0" rIns="0" tIns="0" bIns="0" anchor="t">
            <a:spAutoFit/>
          </a:bodyPr>
          <a:lstStyle/>
          <a:p>
            <a:pPr algn="l"/>
            <a:r>
              <a:rPr sz="1500" b="0" i="0">
                <a:solidFill>
                  <a:srgbClr val="4F5F74"/>
                </a:solidFill>
                <a:latin typeface="Calibri"/>
              </a:rPr>
              <a:t>One beat per clock, plus a few cycles of address and response overhead: 35 cycles for 32 beats.</a:t>
            </a:r>
          </a:p>
        </p:txBody>
      </p:sp>
      <p:sp>
        <p:nvSpPr>
          <p:cNvPr id="21"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and subordinate in Verilog</a:t>
            </a:r>
          </a:p>
        </p:txBody>
      </p:sp>
      <p:sp>
        <p:nvSpPr>
          <p:cNvPr id="22"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